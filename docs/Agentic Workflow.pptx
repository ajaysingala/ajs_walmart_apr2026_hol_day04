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4" r:id="rId17"/>
    <p:sldId id="273" r:id="rId18"/>
    <p:sldId id="271" r:id="rId19"/>
    <p:sldId id="275" r:id="rId20"/>
    <p:sldId id="276" r:id="rId21"/>
    <p:sldId id="277" r:id="rId22"/>
    <p:sldId id="278" r:id="rId23"/>
    <p:sldId id="279" r:id="rId24"/>
    <p:sldId id="280" r:id="rId25"/>
    <p:sldId id="281" r:id="rId26"/>
    <p:sldId id="287" r:id="rId27"/>
    <p:sldId id="285"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854"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F0E123-830F-4F13-B070-4F6CC6E94308}"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EA5A4B-5DCB-4B46-8220-911D188235E1}" type="slidenum">
              <a:rPr lang="en-IN" smtClean="0"/>
              <a:t>‹#›</a:t>
            </a:fld>
            <a:endParaRPr lang="en-IN"/>
          </a:p>
        </p:txBody>
      </p:sp>
    </p:spTree>
    <p:extLst>
      <p:ext uri="{BB962C8B-B14F-4D97-AF65-F5344CB8AC3E}">
        <p14:creationId xmlns:p14="http://schemas.microsoft.com/office/powerpoint/2010/main" val="201078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EA5A4B-5DCB-4B46-8220-911D188235E1}" type="slidenum">
              <a:rPr lang="en-IN" smtClean="0"/>
              <a:t>22</a:t>
            </a:fld>
            <a:endParaRPr lang="en-IN"/>
          </a:p>
        </p:txBody>
      </p:sp>
    </p:spTree>
    <p:extLst>
      <p:ext uri="{BB962C8B-B14F-4D97-AF65-F5344CB8AC3E}">
        <p14:creationId xmlns:p14="http://schemas.microsoft.com/office/powerpoint/2010/main" val="2916851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9FEF-130F-CB33-DEA8-9A54DE74F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717C6-1373-5191-C5FA-8D79B886B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AE1AF-6816-CB03-2ADE-32184C0D6A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B25D6B8-2B27-1C9B-0C14-9E3DCDCF0A3B}"/>
              </a:ext>
            </a:extLst>
          </p:cNvPr>
          <p:cNvSpPr>
            <a:spLocks noGrp="1"/>
          </p:cNvSpPr>
          <p:nvPr>
            <p:ph type="sldNum" sz="quarter" idx="5"/>
          </p:nvPr>
        </p:nvSpPr>
        <p:spPr/>
        <p:txBody>
          <a:bodyPr/>
          <a:lstStyle/>
          <a:p>
            <a:fld id="{87EA5A4B-5DCB-4B46-8220-911D188235E1}" type="slidenum">
              <a:rPr lang="en-IN" smtClean="0"/>
              <a:t>28</a:t>
            </a:fld>
            <a:endParaRPr lang="en-IN"/>
          </a:p>
        </p:txBody>
      </p:sp>
    </p:spTree>
    <p:extLst>
      <p:ext uri="{BB962C8B-B14F-4D97-AF65-F5344CB8AC3E}">
        <p14:creationId xmlns:p14="http://schemas.microsoft.com/office/powerpoint/2010/main" val="36753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B148-2189-78CC-2765-5871F68F3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26DA67-A380-BCF2-7246-B5FF56D8A5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7B24DE-3630-EADE-79A1-F65A25F3B398}"/>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B04EE658-F577-3144-EE22-4618D739F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B63085-D75D-6DE6-AFB6-52FFC0EB5B33}"/>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269635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12EC-CA3A-9A21-9C34-FD155CCB84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D99626-EB3E-AF25-5399-3F5F0F0A7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F07C61-6841-CF06-9546-E4BE528EA9A1}"/>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D799F344-64B8-D6C2-9CD1-DE06D0DF9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FDAF61-D0A6-40CE-1D4D-CC2FE8A37A81}"/>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252451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F4B3-C877-7DCC-8D20-5D10DE0233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1EC960-5DF7-6BDE-8979-CA63C3CC58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1BFA93-D6FF-2329-F72A-0D7DF3BF3FF2}"/>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627E1E59-F4FE-EEE0-D775-7C5B2B718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EB7060-4B3B-1F4E-B0E2-1BA91438A414}"/>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2372452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035D4-DFD7-79DD-4D25-15236E136F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10262C-6113-5B6C-9FCC-7E97E3107E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CD37A8-1246-74F4-98E3-8D732CA7D7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A8940D-73C1-FFAE-DFC5-DDDA1AE715ED}"/>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6" name="Footer Placeholder 5">
            <a:extLst>
              <a:ext uri="{FF2B5EF4-FFF2-40B4-BE49-F238E27FC236}">
                <a16:creationId xmlns:a16="http://schemas.microsoft.com/office/drawing/2014/main" id="{9B768022-EDC9-A063-4991-7935CBB35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D6BAF2-C58F-1D6D-38A3-08872AAC8888}"/>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320037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C54E6-5013-7429-A9D0-788B82F378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83A59A-193A-B22A-54FA-9BAB0089B0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F4FCCB-9AA6-5359-9B5B-315F4321E4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7E1C43-DE5D-D023-6345-DF4A11D12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8BAF19-248B-91DD-BF12-332677E42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60DABF-6280-3E17-EE74-D50374D77CE7}"/>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8" name="Footer Placeholder 7">
            <a:extLst>
              <a:ext uri="{FF2B5EF4-FFF2-40B4-BE49-F238E27FC236}">
                <a16:creationId xmlns:a16="http://schemas.microsoft.com/office/drawing/2014/main" id="{F0F669FB-F0D4-4CEF-9D0A-40DB3301DA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1D28D3-1340-9492-7EC6-9250248B43CD}"/>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83594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0508-81A0-545A-F4B9-62DF64E67F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0E1D269-075C-C626-5F82-5C6E507A6E2B}"/>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4" name="Footer Placeholder 3">
            <a:extLst>
              <a:ext uri="{FF2B5EF4-FFF2-40B4-BE49-F238E27FC236}">
                <a16:creationId xmlns:a16="http://schemas.microsoft.com/office/drawing/2014/main" id="{B72AA3F8-E555-D725-2904-CA4D796A5A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5A83FE-7CAC-91C1-D553-E9320424A43E}"/>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076205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17D827-6889-FFA8-58DD-27A120B7BC63}"/>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3" name="Footer Placeholder 2">
            <a:extLst>
              <a:ext uri="{FF2B5EF4-FFF2-40B4-BE49-F238E27FC236}">
                <a16:creationId xmlns:a16="http://schemas.microsoft.com/office/drawing/2014/main" id="{5A6BD331-590F-C7B7-4935-2B4D3A54A7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1F85B9-A5BD-FE15-266E-D5B1D0F64CBC}"/>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684156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F8FB9-559F-7A6E-4039-63C8C612F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6D26A9-98CB-C50F-6ED2-B9ED5CD0D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10AD83-43BB-9BF4-B563-A81E48DA7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F5216-6660-7614-82CD-A113555F38B8}"/>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6" name="Footer Placeholder 5">
            <a:extLst>
              <a:ext uri="{FF2B5EF4-FFF2-40B4-BE49-F238E27FC236}">
                <a16:creationId xmlns:a16="http://schemas.microsoft.com/office/drawing/2014/main" id="{73A9D376-C1CA-F624-AD9E-46F8210EAA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34388F-4634-E57B-A817-B6554FFEC61B}"/>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2494825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78ED8-78FE-CDFE-36B6-48B79A1B47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354B2C-1353-C76C-AE41-9770E9D9E6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8CCB91-A37A-019B-7F94-52D4B1BA80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82AFAD-A19D-18FF-37BD-53963E5BFE74}"/>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6" name="Footer Placeholder 5">
            <a:extLst>
              <a:ext uri="{FF2B5EF4-FFF2-40B4-BE49-F238E27FC236}">
                <a16:creationId xmlns:a16="http://schemas.microsoft.com/office/drawing/2014/main" id="{257EAD33-A2E2-8926-3E6D-280E02F4E5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7621CD-9E72-68F8-6543-3554E3ACED96}"/>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442722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E8527-656A-89D9-17EF-614EF29981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E8D020-DFD9-934C-84FA-92BCA7D592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592FF6-9AE5-7B37-08F5-568CEB384993}"/>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3A7CEDC6-CA2A-C360-36C4-FB0EF1FEC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9556D-3B6C-B093-9622-A3F15D1152B5}"/>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2151662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B5A693-2EDC-78CF-B468-8D356C1DD7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2EEFC8-33B9-A2C0-62C1-977731175D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02CD4-A13A-E51D-C9E5-329E4574A3C9}"/>
              </a:ext>
            </a:extLst>
          </p:cNvPr>
          <p:cNvSpPr>
            <a:spLocks noGrp="1"/>
          </p:cNvSpPr>
          <p:nvPr>
            <p:ph type="dt" sz="half" idx="10"/>
          </p:nvPr>
        </p:nvSpPr>
        <p:spPr/>
        <p:txBody>
          <a:body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D42A4101-4D2D-5ED4-7CEC-F7942C275F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A5CD6F-7E1A-7080-36C8-390695ABB4EB}"/>
              </a:ext>
            </a:extLst>
          </p:cNvPr>
          <p:cNvSpPr>
            <a:spLocks noGrp="1"/>
          </p:cNvSpPr>
          <p:nvPr>
            <p:ph type="sldNum" sz="quarter" idx="12"/>
          </p:nvPr>
        </p:nvSpPr>
        <p:spPr/>
        <p:txBody>
          <a:bodyPr/>
          <a:lstStyle/>
          <a:p>
            <a:fld id="{7C2C46AE-A7EF-474A-B19F-5BD5974C2779}" type="slidenum">
              <a:rPr lang="en-IN" smtClean="0"/>
              <a:t>‹#›</a:t>
            </a:fld>
            <a:endParaRPr lang="en-IN"/>
          </a:p>
        </p:txBody>
      </p:sp>
    </p:spTree>
    <p:extLst>
      <p:ext uri="{BB962C8B-B14F-4D97-AF65-F5344CB8AC3E}">
        <p14:creationId xmlns:p14="http://schemas.microsoft.com/office/powerpoint/2010/main" val="1001332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327EE9-A30D-8165-E2B7-AFC4A44B2B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FCE633-913D-279D-3814-A16C9BA38F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AA69B-0189-D477-6C84-0A1BF4A3B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150338-2C6B-43C6-BC7F-91A2B2D62A10}" type="datetimeFigureOut">
              <a:rPr lang="en-IN" smtClean="0"/>
              <a:t>18-04-2026</a:t>
            </a:fld>
            <a:endParaRPr lang="en-IN"/>
          </a:p>
        </p:txBody>
      </p:sp>
      <p:sp>
        <p:nvSpPr>
          <p:cNvPr id="5" name="Footer Placeholder 4">
            <a:extLst>
              <a:ext uri="{FF2B5EF4-FFF2-40B4-BE49-F238E27FC236}">
                <a16:creationId xmlns:a16="http://schemas.microsoft.com/office/drawing/2014/main" id="{660FEDF3-5F6E-8F19-F77C-CF97D7D7F9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32B5DDD-1834-EE37-450A-5AA59A8906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2C46AE-A7EF-474A-B19F-5BD5974C2779}" type="slidenum">
              <a:rPr lang="en-IN" smtClean="0"/>
              <a:t>‹#›</a:t>
            </a:fld>
            <a:endParaRPr lang="en-IN"/>
          </a:p>
        </p:txBody>
      </p:sp>
    </p:spTree>
    <p:extLst>
      <p:ext uri="{BB962C8B-B14F-4D97-AF65-F5344CB8AC3E}">
        <p14:creationId xmlns:p14="http://schemas.microsoft.com/office/powerpoint/2010/main" val="3336273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56489F1-8ED5-2390-3E62-EFB20EC9AEDB}"/>
              </a:ext>
            </a:extLst>
          </p:cNvPr>
          <p:cNvSpPr>
            <a:spLocks noGrp="1"/>
          </p:cNvSpPr>
          <p:nvPr>
            <p:ph type="ctrTitle"/>
          </p:nvPr>
        </p:nvSpPr>
        <p:spPr>
          <a:xfrm>
            <a:off x="1301261" y="590062"/>
            <a:ext cx="5409655" cy="2838938"/>
          </a:xfrm>
        </p:spPr>
        <p:txBody>
          <a:bodyPr>
            <a:normAutofit/>
          </a:bodyPr>
          <a:lstStyle/>
          <a:p>
            <a:pPr algn="l"/>
            <a:r>
              <a:rPr lang="en-US" sz="5600" dirty="0">
                <a:solidFill>
                  <a:srgbClr val="FFFFFF"/>
                </a:solidFill>
              </a:rPr>
              <a:t>Agentic Workflows</a:t>
            </a:r>
            <a:endParaRPr lang="en-IN" sz="5600" dirty="0">
              <a:solidFill>
                <a:srgbClr val="FFFFFF"/>
              </a:solidFill>
            </a:endParaRPr>
          </a:p>
        </p:txBody>
      </p:sp>
      <p:sp>
        <p:nvSpPr>
          <p:cNvPr id="3" name="Subtitle 2">
            <a:extLst>
              <a:ext uri="{FF2B5EF4-FFF2-40B4-BE49-F238E27FC236}">
                <a16:creationId xmlns:a16="http://schemas.microsoft.com/office/drawing/2014/main" id="{53260258-0AFF-8D60-99FB-2160B330B9A8}"/>
              </a:ext>
            </a:extLst>
          </p:cNvPr>
          <p:cNvSpPr>
            <a:spLocks noGrp="1"/>
          </p:cNvSpPr>
          <p:nvPr>
            <p:ph type="subTitle" idx="1"/>
          </p:nvPr>
        </p:nvSpPr>
        <p:spPr>
          <a:xfrm>
            <a:off x="5642044" y="4698614"/>
            <a:ext cx="5088650" cy="1198120"/>
          </a:xfrm>
        </p:spPr>
        <p:txBody>
          <a:bodyPr>
            <a:normAutofit/>
          </a:bodyPr>
          <a:lstStyle/>
          <a:p>
            <a:pPr algn="r"/>
            <a:r>
              <a:rPr lang="en-US" sz="2000">
                <a:solidFill>
                  <a:srgbClr val="FFFFFF"/>
                </a:solidFill>
              </a:rPr>
              <a:t>Ajay Singala</a:t>
            </a:r>
            <a:endParaRPr lang="en-IN" sz="2000">
              <a:solidFill>
                <a:srgbClr val="FFFFFF"/>
              </a:solidFill>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211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91CA5F5-4B44-E7C1-9118-F84522510CCB}"/>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a:solidFill>
                  <a:srgbClr val="FFFFFF"/>
                </a:solidFill>
                <a:latin typeface="+mj-lt"/>
                <a:ea typeface="+mj-ea"/>
                <a:cs typeface="+mj-cs"/>
              </a:rPr>
              <a:t>Agent Fundamentals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988255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6552C-E101-F5CD-9231-9C9BF47DEDF1}"/>
              </a:ext>
            </a:extLst>
          </p:cNvPr>
          <p:cNvSpPr>
            <a:spLocks noGrp="1"/>
          </p:cNvSpPr>
          <p:nvPr>
            <p:ph type="title"/>
          </p:nvPr>
        </p:nvSpPr>
        <p:spPr/>
        <p:txBody>
          <a:bodyPr/>
          <a:lstStyle/>
          <a:p>
            <a:r>
              <a:rPr lang="en-IN" dirty="0"/>
              <a:t>What an Agent Is?</a:t>
            </a:r>
          </a:p>
        </p:txBody>
      </p:sp>
      <p:sp>
        <p:nvSpPr>
          <p:cNvPr id="3" name="Content Placeholder 2">
            <a:extLst>
              <a:ext uri="{FF2B5EF4-FFF2-40B4-BE49-F238E27FC236}">
                <a16:creationId xmlns:a16="http://schemas.microsoft.com/office/drawing/2014/main" id="{23517013-52FB-8054-ECA0-592FFC2FB44D}"/>
              </a:ext>
            </a:extLst>
          </p:cNvPr>
          <p:cNvSpPr>
            <a:spLocks noGrp="1"/>
          </p:cNvSpPr>
          <p:nvPr>
            <p:ph idx="1"/>
          </p:nvPr>
        </p:nvSpPr>
        <p:spPr/>
        <p:txBody>
          <a:bodyPr/>
          <a:lstStyle/>
          <a:p>
            <a:r>
              <a:rPr lang="en-US" b="1" dirty="0"/>
              <a:t>Agent = LLM + Logic + Tools</a:t>
            </a:r>
            <a:endParaRPr lang="en-US" dirty="0"/>
          </a:p>
          <a:p>
            <a:pPr lvl="1"/>
            <a:r>
              <a:rPr lang="en-US" dirty="0"/>
              <a:t>A </a:t>
            </a:r>
            <a:r>
              <a:rPr lang="en-US" b="1" dirty="0"/>
              <a:t>standard LLM</a:t>
            </a:r>
            <a:r>
              <a:rPr lang="en-US" dirty="0"/>
              <a:t> only generates text.</a:t>
            </a:r>
          </a:p>
          <a:p>
            <a:pPr lvl="1"/>
            <a:r>
              <a:rPr lang="en-US" dirty="0"/>
              <a:t>An </a:t>
            </a:r>
            <a:r>
              <a:rPr lang="en-US" b="1" dirty="0"/>
              <a:t>agent</a:t>
            </a:r>
            <a:r>
              <a:rPr lang="en-US" dirty="0"/>
              <a:t> can </a:t>
            </a:r>
            <a:r>
              <a:rPr lang="en-US" b="1" dirty="0"/>
              <a:t>reason, decide, and act using tools</a:t>
            </a:r>
            <a:r>
              <a:rPr lang="en-US" dirty="0"/>
              <a:t>.</a:t>
            </a:r>
          </a:p>
          <a:p>
            <a:r>
              <a:rPr lang="en-US" b="1" dirty="0"/>
              <a:t>Simple definition</a:t>
            </a:r>
            <a:endParaRPr lang="en-US" dirty="0"/>
          </a:p>
          <a:p>
            <a:pPr marL="263525" indent="0">
              <a:buNone/>
            </a:pPr>
            <a:r>
              <a:rPr lang="en-US" dirty="0"/>
              <a:t>An </a:t>
            </a:r>
            <a:r>
              <a:rPr lang="en-US" b="1" dirty="0"/>
              <a:t>agent</a:t>
            </a:r>
            <a:r>
              <a:rPr lang="en-US" dirty="0"/>
              <a:t> is a system where an LLM decides </a:t>
            </a:r>
            <a:r>
              <a:rPr lang="en-US" b="1" dirty="0"/>
              <a:t>which tools to use and in what order</a:t>
            </a:r>
            <a:r>
              <a:rPr lang="en-US" dirty="0"/>
              <a:t> to solve a problem.</a:t>
            </a:r>
          </a:p>
          <a:p>
            <a:endParaRPr lang="en-US" dirty="0"/>
          </a:p>
        </p:txBody>
      </p:sp>
    </p:spTree>
    <p:extLst>
      <p:ext uri="{BB962C8B-B14F-4D97-AF65-F5344CB8AC3E}">
        <p14:creationId xmlns:p14="http://schemas.microsoft.com/office/powerpoint/2010/main" val="472300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74221-367C-7C44-E346-15D34FBB7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5810E-D7AC-C656-18AD-2FFC1B0A262B}"/>
              </a:ext>
            </a:extLst>
          </p:cNvPr>
          <p:cNvSpPr>
            <a:spLocks noGrp="1"/>
          </p:cNvSpPr>
          <p:nvPr>
            <p:ph type="title"/>
          </p:nvPr>
        </p:nvSpPr>
        <p:spPr/>
        <p:txBody>
          <a:bodyPr/>
          <a:lstStyle/>
          <a:p>
            <a:r>
              <a:rPr lang="en-IN" dirty="0"/>
              <a:t>Agent Components</a:t>
            </a:r>
          </a:p>
        </p:txBody>
      </p:sp>
      <p:sp>
        <p:nvSpPr>
          <p:cNvPr id="3" name="Content Placeholder 2">
            <a:extLst>
              <a:ext uri="{FF2B5EF4-FFF2-40B4-BE49-F238E27FC236}">
                <a16:creationId xmlns:a16="http://schemas.microsoft.com/office/drawing/2014/main" id="{05BC9F89-6AF9-616A-BF7F-6F77F58CA689}"/>
              </a:ext>
            </a:extLst>
          </p:cNvPr>
          <p:cNvSpPr>
            <a:spLocks noGrp="1"/>
          </p:cNvSpPr>
          <p:nvPr>
            <p:ph idx="1"/>
          </p:nvPr>
        </p:nvSpPr>
        <p:spPr/>
        <p:txBody>
          <a:bodyPr/>
          <a:lstStyle/>
          <a:p>
            <a:pPr marL="0" indent="0">
              <a:buNone/>
            </a:pPr>
            <a:r>
              <a:rPr lang="en-US" b="1" dirty="0"/>
              <a:t>1. LLM (Reasoning Engine)</a:t>
            </a:r>
            <a:br>
              <a:rPr lang="en-US" dirty="0"/>
            </a:br>
            <a:r>
              <a:rPr lang="en-US" dirty="0"/>
              <a:t>The LLM decides:</a:t>
            </a:r>
          </a:p>
          <a:p>
            <a:pPr lvl="2"/>
            <a:r>
              <a:rPr lang="en-US" dirty="0"/>
              <a:t>What the user wants</a:t>
            </a:r>
          </a:p>
          <a:p>
            <a:pPr lvl="2"/>
            <a:r>
              <a:rPr lang="en-US" dirty="0"/>
              <a:t>What step to take next</a:t>
            </a:r>
          </a:p>
          <a:p>
            <a:pPr lvl="2"/>
            <a:r>
              <a:rPr lang="en-US" dirty="0"/>
              <a:t>Which tool to use</a:t>
            </a:r>
          </a:p>
          <a:p>
            <a:endParaRPr lang="en-IN" dirty="0"/>
          </a:p>
        </p:txBody>
      </p:sp>
    </p:spTree>
    <p:extLst>
      <p:ext uri="{BB962C8B-B14F-4D97-AF65-F5344CB8AC3E}">
        <p14:creationId xmlns:p14="http://schemas.microsoft.com/office/powerpoint/2010/main" val="2822586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9976-2045-1B8D-14FA-B2A347326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44E13-28D2-D34D-2CF5-629993B0BD5C}"/>
              </a:ext>
            </a:extLst>
          </p:cNvPr>
          <p:cNvSpPr>
            <a:spLocks noGrp="1"/>
          </p:cNvSpPr>
          <p:nvPr>
            <p:ph type="title"/>
          </p:nvPr>
        </p:nvSpPr>
        <p:spPr/>
        <p:txBody>
          <a:bodyPr/>
          <a:lstStyle/>
          <a:p>
            <a:r>
              <a:rPr lang="en-IN" dirty="0"/>
              <a:t>Agent Components</a:t>
            </a:r>
          </a:p>
        </p:txBody>
      </p:sp>
      <p:sp>
        <p:nvSpPr>
          <p:cNvPr id="3" name="Content Placeholder 2">
            <a:extLst>
              <a:ext uri="{FF2B5EF4-FFF2-40B4-BE49-F238E27FC236}">
                <a16:creationId xmlns:a16="http://schemas.microsoft.com/office/drawing/2014/main" id="{CE6DA5F4-1105-96DA-BA01-78FFDE9041BE}"/>
              </a:ext>
            </a:extLst>
          </p:cNvPr>
          <p:cNvSpPr>
            <a:spLocks noGrp="1"/>
          </p:cNvSpPr>
          <p:nvPr>
            <p:ph idx="1"/>
          </p:nvPr>
        </p:nvSpPr>
        <p:spPr/>
        <p:txBody>
          <a:bodyPr>
            <a:normAutofit fontScale="92500" lnSpcReduction="10000"/>
          </a:bodyPr>
          <a:lstStyle/>
          <a:p>
            <a:pPr marL="0" indent="0">
              <a:buNone/>
            </a:pPr>
            <a:r>
              <a:rPr lang="en-IN" b="1" dirty="0"/>
              <a:t>2. Logic (Control Loop)</a:t>
            </a:r>
            <a:br>
              <a:rPr lang="en-IN" dirty="0"/>
            </a:br>
            <a:r>
              <a:rPr lang="en-IN" dirty="0"/>
              <a:t>The logic manages the </a:t>
            </a:r>
            <a:r>
              <a:rPr lang="en-IN" b="1" dirty="0"/>
              <a:t>thinking cycle</a:t>
            </a:r>
            <a:r>
              <a:rPr lang="en-IN" dirty="0"/>
              <a:t>.</a:t>
            </a:r>
          </a:p>
          <a:p>
            <a:pPr marL="0" indent="0">
              <a:buNone/>
            </a:pPr>
            <a:r>
              <a:rPr lang="en-IN" dirty="0"/>
              <a:t>Typical loop:</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This is often called the </a:t>
            </a:r>
            <a:r>
              <a:rPr lang="en-IN" b="1" dirty="0"/>
              <a:t>Agent Loop</a:t>
            </a:r>
            <a:r>
              <a:rPr lang="en-IN" dirty="0"/>
              <a:t>.</a:t>
            </a:r>
          </a:p>
          <a:p>
            <a:pPr marL="0" indent="0">
              <a:buNone/>
            </a:pPr>
            <a:r>
              <a:rPr lang="en-IN" b="1" i="1" dirty="0"/>
              <a:t>Example</a:t>
            </a:r>
            <a:r>
              <a:rPr lang="en-IN" dirty="0"/>
              <a:t>:</a:t>
            </a:r>
          </a:p>
          <a:p>
            <a:pPr marL="0" indent="0" algn="ctr">
              <a:buNone/>
            </a:pPr>
            <a:r>
              <a:rPr lang="en-IN" sz="2200" dirty="0">
                <a:latin typeface="Cascadia Code" panose="020B0609020000020004" pitchFamily="49" charset="0"/>
                <a:cs typeface="Cascadia Code" panose="020B0609020000020004" pitchFamily="49" charset="0"/>
              </a:rPr>
              <a:t>Thought → Tool → Observation → Thought → Tool → Final Answer</a:t>
            </a:r>
          </a:p>
          <a:p>
            <a:endParaRPr lang="en-IN" dirty="0"/>
          </a:p>
        </p:txBody>
      </p:sp>
      <p:pic>
        <p:nvPicPr>
          <p:cNvPr id="5" name="Picture 4">
            <a:extLst>
              <a:ext uri="{FF2B5EF4-FFF2-40B4-BE49-F238E27FC236}">
                <a16:creationId xmlns:a16="http://schemas.microsoft.com/office/drawing/2014/main" id="{A0B3502C-139B-4107-85AB-CCEE1BFF6630}"/>
              </a:ext>
            </a:extLst>
          </p:cNvPr>
          <p:cNvPicPr>
            <a:picLocks noChangeAspect="1"/>
          </p:cNvPicPr>
          <p:nvPr/>
        </p:nvPicPr>
        <p:blipFill>
          <a:blip r:embed="rId2"/>
          <a:stretch>
            <a:fillRect/>
          </a:stretch>
        </p:blipFill>
        <p:spPr>
          <a:xfrm>
            <a:off x="3156870" y="2607727"/>
            <a:ext cx="2514951" cy="2210108"/>
          </a:xfrm>
          <a:prstGeom prst="rect">
            <a:avLst/>
          </a:prstGeom>
        </p:spPr>
      </p:pic>
    </p:spTree>
    <p:extLst>
      <p:ext uri="{BB962C8B-B14F-4D97-AF65-F5344CB8AC3E}">
        <p14:creationId xmlns:p14="http://schemas.microsoft.com/office/powerpoint/2010/main" val="3638714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9B396-58B0-D9FA-9E75-5763D3B9C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D8DE4-C653-905D-730B-9F04D6D9E1FE}"/>
              </a:ext>
            </a:extLst>
          </p:cNvPr>
          <p:cNvSpPr>
            <a:spLocks noGrp="1"/>
          </p:cNvSpPr>
          <p:nvPr>
            <p:ph type="title"/>
          </p:nvPr>
        </p:nvSpPr>
        <p:spPr/>
        <p:txBody>
          <a:bodyPr/>
          <a:lstStyle/>
          <a:p>
            <a:r>
              <a:rPr lang="en-IN" dirty="0"/>
              <a:t>Agent Components</a:t>
            </a:r>
          </a:p>
        </p:txBody>
      </p:sp>
      <p:sp>
        <p:nvSpPr>
          <p:cNvPr id="3" name="Content Placeholder 2">
            <a:extLst>
              <a:ext uri="{FF2B5EF4-FFF2-40B4-BE49-F238E27FC236}">
                <a16:creationId xmlns:a16="http://schemas.microsoft.com/office/drawing/2014/main" id="{F12B6836-478C-23B5-CC5F-1814CFB21298}"/>
              </a:ext>
            </a:extLst>
          </p:cNvPr>
          <p:cNvSpPr>
            <a:spLocks noGrp="1"/>
          </p:cNvSpPr>
          <p:nvPr>
            <p:ph idx="1"/>
          </p:nvPr>
        </p:nvSpPr>
        <p:spPr/>
        <p:txBody>
          <a:bodyPr>
            <a:normAutofit/>
          </a:bodyPr>
          <a:lstStyle/>
          <a:p>
            <a:pPr marL="0" indent="0">
              <a:buNone/>
            </a:pPr>
            <a:r>
              <a:rPr lang="en-US" b="1" dirty="0"/>
              <a:t>3. Tools (External Capabilities)</a:t>
            </a:r>
            <a:endParaRPr lang="en-US" dirty="0"/>
          </a:p>
          <a:p>
            <a:pPr marL="457200" lvl="1" indent="0">
              <a:buNone/>
            </a:pPr>
            <a:r>
              <a:rPr lang="en-US" dirty="0"/>
              <a:t>Tools allow the agent to </a:t>
            </a:r>
            <a:r>
              <a:rPr lang="en-US" b="1" dirty="0"/>
              <a:t>interact with real systems</a:t>
            </a:r>
            <a:r>
              <a:rPr lang="en-US" dirty="0"/>
              <a:t>.</a:t>
            </a:r>
          </a:p>
          <a:p>
            <a:pPr marL="457200" lvl="1" indent="0">
              <a:buNone/>
            </a:pPr>
            <a:endParaRPr lang="en-US" dirty="0"/>
          </a:p>
          <a:p>
            <a:endParaRPr lang="en-IN" dirty="0"/>
          </a:p>
          <a:p>
            <a:endParaRPr lang="en-IN" dirty="0"/>
          </a:p>
          <a:p>
            <a:endParaRPr lang="en-IN" dirty="0"/>
          </a:p>
          <a:p>
            <a:endParaRPr lang="en-IN" dirty="0"/>
          </a:p>
          <a:p>
            <a:pPr marL="457200" lvl="1" indent="0">
              <a:buNone/>
            </a:pPr>
            <a:r>
              <a:rPr lang="en-US" dirty="0"/>
              <a:t> Without tools, the LLM would just guess.</a:t>
            </a:r>
            <a:endParaRPr lang="en-IN" dirty="0"/>
          </a:p>
        </p:txBody>
      </p:sp>
      <p:graphicFrame>
        <p:nvGraphicFramePr>
          <p:cNvPr id="4" name="Table 3">
            <a:extLst>
              <a:ext uri="{FF2B5EF4-FFF2-40B4-BE49-F238E27FC236}">
                <a16:creationId xmlns:a16="http://schemas.microsoft.com/office/drawing/2014/main" id="{316775DB-4F81-34F8-FB18-4123BC62DD57}"/>
              </a:ext>
            </a:extLst>
          </p:cNvPr>
          <p:cNvGraphicFramePr>
            <a:graphicFrameLocks noGrp="1"/>
          </p:cNvGraphicFramePr>
          <p:nvPr>
            <p:extLst>
              <p:ext uri="{D42A27DB-BD31-4B8C-83A1-F6EECF244321}">
                <p14:modId xmlns:p14="http://schemas.microsoft.com/office/powerpoint/2010/main" val="3961479665"/>
              </p:ext>
            </p:extLst>
          </p:nvPr>
        </p:nvGraphicFramePr>
        <p:xfrm>
          <a:off x="1341120" y="3147906"/>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37230276"/>
                    </a:ext>
                  </a:extLst>
                </a:gridCol>
                <a:gridCol w="4064000">
                  <a:extLst>
                    <a:ext uri="{9D8B030D-6E8A-4147-A177-3AD203B41FA5}">
                      <a16:colId xmlns:a16="http://schemas.microsoft.com/office/drawing/2014/main" val="833270302"/>
                    </a:ext>
                  </a:extLst>
                </a:gridCol>
              </a:tblGrid>
              <a:tr h="370840">
                <a:tc>
                  <a:txBody>
                    <a:bodyPr/>
                    <a:lstStyle/>
                    <a:p>
                      <a:r>
                        <a:rPr lang="en-US" dirty="0"/>
                        <a:t>Tool</a:t>
                      </a:r>
                      <a:endParaRPr lang="en-IN" dirty="0"/>
                    </a:p>
                  </a:txBody>
                  <a:tcPr/>
                </a:tc>
                <a:tc>
                  <a:txBody>
                    <a:bodyPr/>
                    <a:lstStyle/>
                    <a:p>
                      <a:r>
                        <a:rPr lang="en-US" dirty="0"/>
                        <a:t>Purpose</a:t>
                      </a:r>
                      <a:endParaRPr lang="en-IN" dirty="0"/>
                    </a:p>
                  </a:txBody>
                  <a:tcPr/>
                </a:tc>
                <a:extLst>
                  <a:ext uri="{0D108BD9-81ED-4DB2-BD59-A6C34878D82A}">
                    <a16:rowId xmlns:a16="http://schemas.microsoft.com/office/drawing/2014/main" val="3802689940"/>
                  </a:ext>
                </a:extLst>
              </a:tr>
              <a:tr h="370840">
                <a:tc>
                  <a:txBody>
                    <a:bodyPr/>
                    <a:lstStyle/>
                    <a:p>
                      <a:r>
                        <a:rPr lang="en-US" dirty="0"/>
                        <a:t>SQL tool</a:t>
                      </a:r>
                      <a:endParaRPr lang="en-IN" dirty="0"/>
                    </a:p>
                  </a:txBody>
                  <a:tcPr/>
                </a:tc>
                <a:tc>
                  <a:txBody>
                    <a:bodyPr/>
                    <a:lstStyle/>
                    <a:p>
                      <a:r>
                        <a:rPr lang="en-IN" dirty="0"/>
                        <a:t>Query incident database</a:t>
                      </a:r>
                    </a:p>
                  </a:txBody>
                  <a:tcPr/>
                </a:tc>
                <a:extLst>
                  <a:ext uri="{0D108BD9-81ED-4DB2-BD59-A6C34878D82A}">
                    <a16:rowId xmlns:a16="http://schemas.microsoft.com/office/drawing/2014/main" val="1142328970"/>
                  </a:ext>
                </a:extLst>
              </a:tr>
              <a:tr h="370840">
                <a:tc>
                  <a:txBody>
                    <a:bodyPr/>
                    <a:lstStyle/>
                    <a:p>
                      <a:r>
                        <a:rPr lang="en-US" dirty="0"/>
                        <a:t>Log analyzer</a:t>
                      </a:r>
                      <a:endParaRPr lang="en-IN" dirty="0"/>
                    </a:p>
                  </a:txBody>
                  <a:tcPr/>
                </a:tc>
                <a:tc>
                  <a:txBody>
                    <a:bodyPr/>
                    <a:lstStyle/>
                    <a:p>
                      <a:r>
                        <a:rPr lang="en-IN" dirty="0"/>
                        <a:t>Detect spikes in errors</a:t>
                      </a:r>
                    </a:p>
                  </a:txBody>
                  <a:tcPr/>
                </a:tc>
                <a:extLst>
                  <a:ext uri="{0D108BD9-81ED-4DB2-BD59-A6C34878D82A}">
                    <a16:rowId xmlns:a16="http://schemas.microsoft.com/office/drawing/2014/main" val="3598237533"/>
                  </a:ext>
                </a:extLst>
              </a:tr>
              <a:tr h="370840">
                <a:tc>
                  <a:txBody>
                    <a:bodyPr/>
                    <a:lstStyle/>
                    <a:p>
                      <a:r>
                        <a:rPr lang="en-US" dirty="0"/>
                        <a:t>RAG search</a:t>
                      </a:r>
                      <a:endParaRPr lang="en-IN" dirty="0"/>
                    </a:p>
                  </a:txBody>
                  <a:tcPr/>
                </a:tc>
                <a:tc>
                  <a:txBody>
                    <a:bodyPr/>
                    <a:lstStyle/>
                    <a:p>
                      <a:r>
                        <a:rPr lang="en-IN" dirty="0"/>
                        <a:t>Retrieve runbooks / documentation</a:t>
                      </a:r>
                    </a:p>
                  </a:txBody>
                  <a:tcPr/>
                </a:tc>
                <a:extLst>
                  <a:ext uri="{0D108BD9-81ED-4DB2-BD59-A6C34878D82A}">
                    <a16:rowId xmlns:a16="http://schemas.microsoft.com/office/drawing/2014/main" val="471284253"/>
                  </a:ext>
                </a:extLst>
              </a:tr>
            </a:tbl>
          </a:graphicData>
        </a:graphic>
      </p:graphicFrame>
    </p:spTree>
    <p:extLst>
      <p:ext uri="{BB962C8B-B14F-4D97-AF65-F5344CB8AC3E}">
        <p14:creationId xmlns:p14="http://schemas.microsoft.com/office/powerpoint/2010/main" val="948234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474C97D-C5E0-4E81-9AE0-03DFE119F05D}"/>
              </a:ext>
            </a:extLst>
          </p:cNvPr>
          <p:cNvSpPr>
            <a:spLocks noGrp="1"/>
          </p:cNvSpPr>
          <p:nvPr>
            <p:ph type="title"/>
          </p:nvPr>
        </p:nvSpPr>
        <p:spPr>
          <a:xfrm>
            <a:off x="838200" y="1336390"/>
            <a:ext cx="6155988" cy="1182927"/>
          </a:xfrm>
        </p:spPr>
        <p:txBody>
          <a:bodyPr anchor="b">
            <a:normAutofit/>
          </a:bodyPr>
          <a:lstStyle/>
          <a:p>
            <a:r>
              <a:rPr lang="en-IN" sz="3900"/>
              <a:t>Chain vs Agent Decision Criteria</a:t>
            </a:r>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245B03E-2B55-36C8-F581-7C6858C0A04F}"/>
              </a:ext>
            </a:extLst>
          </p:cNvPr>
          <p:cNvSpPr>
            <a:spLocks noGrp="1"/>
          </p:cNvSpPr>
          <p:nvPr>
            <p:ph idx="1"/>
          </p:nvPr>
        </p:nvSpPr>
        <p:spPr>
          <a:xfrm>
            <a:off x="803776" y="2829330"/>
            <a:ext cx="6190412" cy="3344459"/>
          </a:xfrm>
        </p:spPr>
        <p:txBody>
          <a:bodyPr anchor="t">
            <a:normAutofit/>
          </a:bodyPr>
          <a:lstStyle/>
          <a:p>
            <a:r>
              <a:rPr lang="en-US" sz="1100">
                <a:solidFill>
                  <a:schemeClr val="tx1">
                    <a:alpha val="80000"/>
                  </a:schemeClr>
                </a:solidFill>
              </a:rPr>
              <a:t>The key difference is </a:t>
            </a:r>
            <a:r>
              <a:rPr lang="en-US" sz="1100" b="1">
                <a:solidFill>
                  <a:schemeClr val="tx1">
                    <a:alpha val="80000"/>
                  </a:schemeClr>
                </a:solidFill>
              </a:rPr>
              <a:t>who decides the workflow</a:t>
            </a:r>
            <a:r>
              <a:rPr lang="en-US" sz="1100">
                <a:solidFill>
                  <a:schemeClr val="tx1">
                    <a:alpha val="80000"/>
                  </a:schemeClr>
                </a:solidFill>
              </a:rPr>
              <a:t>.</a:t>
            </a:r>
          </a:p>
          <a:p>
            <a:r>
              <a:rPr lang="en-US" sz="1100" b="1">
                <a:solidFill>
                  <a:schemeClr val="tx1">
                    <a:alpha val="80000"/>
                  </a:schemeClr>
                </a:solidFill>
              </a:rPr>
              <a:t>Chains (Deterministic)</a:t>
            </a:r>
          </a:p>
          <a:p>
            <a:pPr lvl="1"/>
            <a:r>
              <a:rPr lang="en-US" sz="1100">
                <a:solidFill>
                  <a:schemeClr val="tx1">
                    <a:alpha val="80000"/>
                  </a:schemeClr>
                </a:solidFill>
              </a:rPr>
              <a:t>The </a:t>
            </a:r>
            <a:r>
              <a:rPr lang="en-US" sz="1100" b="1">
                <a:solidFill>
                  <a:schemeClr val="tx1">
                    <a:alpha val="80000"/>
                  </a:schemeClr>
                </a:solidFill>
              </a:rPr>
              <a:t>developer defines the steps</a:t>
            </a:r>
            <a:r>
              <a:rPr lang="en-US" sz="1100">
                <a:solidFill>
                  <a:schemeClr val="tx1">
                    <a:alpha val="80000"/>
                  </a:schemeClr>
                </a:solidFill>
              </a:rPr>
              <a:t>.</a:t>
            </a:r>
          </a:p>
          <a:p>
            <a:r>
              <a:rPr lang="en-IN" sz="1100">
                <a:solidFill>
                  <a:schemeClr val="tx1">
                    <a:alpha val="80000"/>
                  </a:schemeClr>
                </a:solidFill>
              </a:rPr>
              <a:t>Every time:</a:t>
            </a:r>
          </a:p>
          <a:p>
            <a:pPr marL="457200" lvl="1" indent="0">
              <a:buNone/>
            </a:pPr>
            <a:r>
              <a:rPr lang="en-US" sz="1100">
                <a:solidFill>
                  <a:schemeClr val="tx1">
                    <a:alpha val="80000"/>
                  </a:schemeClr>
                </a:solidFill>
                <a:latin typeface="Cascadia Code" panose="020B0609020000020004" pitchFamily="49" charset="0"/>
                <a:cs typeface="Cascadia Code" panose="020B0609020000020004" pitchFamily="49" charset="0"/>
              </a:rPr>
              <a:t>Step 1 → Step 2 → Step 3</a:t>
            </a:r>
            <a:endParaRPr lang="en-IN" sz="1100">
              <a:solidFill>
                <a:schemeClr val="tx1">
                  <a:alpha val="80000"/>
                </a:schemeClr>
              </a:solidFill>
              <a:latin typeface="Cascadia Code" panose="020B0609020000020004" pitchFamily="49" charset="0"/>
              <a:cs typeface="Cascadia Code" panose="020B0609020000020004" pitchFamily="49" charset="0"/>
            </a:endParaRPr>
          </a:p>
          <a:p>
            <a:r>
              <a:rPr lang="en-US" sz="1100">
                <a:solidFill>
                  <a:schemeClr val="tx1">
                    <a:alpha val="80000"/>
                  </a:schemeClr>
                </a:solidFill>
              </a:rPr>
              <a:t>Advantages:</a:t>
            </a:r>
          </a:p>
          <a:p>
            <a:pPr lvl="1"/>
            <a:r>
              <a:rPr lang="en-US" sz="1100">
                <a:solidFill>
                  <a:schemeClr val="tx1">
                    <a:alpha val="80000"/>
                  </a:schemeClr>
                </a:solidFill>
              </a:rPr>
              <a:t>Predictable</a:t>
            </a:r>
          </a:p>
          <a:p>
            <a:pPr lvl="1"/>
            <a:r>
              <a:rPr lang="en-US" sz="1100">
                <a:solidFill>
                  <a:schemeClr val="tx1">
                    <a:alpha val="80000"/>
                  </a:schemeClr>
                </a:solidFill>
              </a:rPr>
              <a:t>Easier to debug</a:t>
            </a:r>
          </a:p>
          <a:p>
            <a:pPr lvl="1"/>
            <a:r>
              <a:rPr lang="en-US" sz="1100">
                <a:solidFill>
                  <a:schemeClr val="tx1">
                    <a:alpha val="80000"/>
                  </a:schemeClr>
                </a:solidFill>
              </a:rPr>
              <a:t>Faster</a:t>
            </a:r>
          </a:p>
          <a:p>
            <a:r>
              <a:rPr lang="en-US" sz="1100">
                <a:solidFill>
                  <a:schemeClr val="tx1">
                    <a:alpha val="80000"/>
                  </a:schemeClr>
                </a:solidFill>
              </a:rPr>
              <a:t>Best for:</a:t>
            </a:r>
          </a:p>
          <a:p>
            <a:pPr lvl="1"/>
            <a:r>
              <a:rPr lang="en-US" sz="1100">
                <a:solidFill>
                  <a:schemeClr val="tx1">
                    <a:alpha val="80000"/>
                  </a:schemeClr>
                </a:solidFill>
              </a:rPr>
              <a:t>Fixed pipelines</a:t>
            </a:r>
          </a:p>
          <a:p>
            <a:pPr lvl="1"/>
            <a:r>
              <a:rPr lang="en-US" sz="1100">
                <a:solidFill>
                  <a:schemeClr val="tx1">
                    <a:alpha val="80000"/>
                  </a:schemeClr>
                </a:solidFill>
              </a:rPr>
              <a:t>Data processing workflows</a:t>
            </a:r>
          </a:p>
          <a:p>
            <a:pPr lvl="1"/>
            <a:r>
              <a:rPr lang="en-US" sz="1100">
                <a:solidFill>
                  <a:schemeClr val="tx1">
                    <a:alpha val="80000"/>
                  </a:schemeClr>
                </a:solidFill>
              </a:rPr>
              <a:t>Production systems with strict control</a:t>
            </a:r>
          </a:p>
          <a:p>
            <a:endParaRPr lang="en-IN" sz="1100">
              <a:solidFill>
                <a:schemeClr val="tx1">
                  <a:alpha val="80000"/>
                </a:schemeClr>
              </a:solidFill>
            </a:endParaRPr>
          </a:p>
        </p:txBody>
      </p:sp>
      <p:pic>
        <p:nvPicPr>
          <p:cNvPr id="5" name="Picture 4">
            <a:extLst>
              <a:ext uri="{FF2B5EF4-FFF2-40B4-BE49-F238E27FC236}">
                <a16:creationId xmlns:a16="http://schemas.microsoft.com/office/drawing/2014/main" id="{7609ED71-3749-809A-B0B9-2DE30A0E62AE}"/>
              </a:ext>
            </a:extLst>
          </p:cNvPr>
          <p:cNvPicPr>
            <a:picLocks noChangeAspect="1"/>
          </p:cNvPicPr>
          <p:nvPr/>
        </p:nvPicPr>
        <p:blipFill>
          <a:blip r:embed="rId2"/>
          <a:stretch>
            <a:fillRect/>
          </a:stretch>
        </p:blipFill>
        <p:spPr>
          <a:xfrm>
            <a:off x="7572653" y="1655011"/>
            <a:ext cx="3548404" cy="4200152"/>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09242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65621C-AFB7-70AC-8979-2AA277CB1D01}"/>
              </a:ext>
            </a:extLst>
          </p:cNvPr>
          <p:cNvSpPr>
            <a:spLocks noGrp="1"/>
          </p:cNvSpPr>
          <p:nvPr>
            <p:ph type="title"/>
          </p:nvPr>
        </p:nvSpPr>
        <p:spPr>
          <a:xfrm>
            <a:off x="838200" y="1336390"/>
            <a:ext cx="6155988" cy="1182927"/>
          </a:xfrm>
        </p:spPr>
        <p:txBody>
          <a:bodyPr anchor="b">
            <a:normAutofit/>
          </a:bodyPr>
          <a:lstStyle/>
          <a:p>
            <a:r>
              <a:rPr lang="en-IN" sz="3900" dirty="0"/>
              <a:t>Chain vs Agent Decision Criteria</a:t>
            </a:r>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BD8F1B4-F887-E254-787C-123EEBAC9BA9}"/>
              </a:ext>
            </a:extLst>
          </p:cNvPr>
          <p:cNvSpPr>
            <a:spLocks noGrp="1"/>
          </p:cNvSpPr>
          <p:nvPr>
            <p:ph idx="1"/>
          </p:nvPr>
        </p:nvSpPr>
        <p:spPr>
          <a:xfrm>
            <a:off x="803776" y="2829330"/>
            <a:ext cx="6190412" cy="3344459"/>
          </a:xfrm>
        </p:spPr>
        <p:txBody>
          <a:bodyPr anchor="t">
            <a:normAutofit/>
          </a:bodyPr>
          <a:lstStyle/>
          <a:p>
            <a:r>
              <a:rPr lang="en-US" sz="1400" b="1">
                <a:solidFill>
                  <a:schemeClr val="tx1">
                    <a:alpha val="80000"/>
                  </a:schemeClr>
                </a:solidFill>
              </a:rPr>
              <a:t>Agents (Dynamic)</a:t>
            </a:r>
          </a:p>
          <a:p>
            <a:pPr lvl="1"/>
            <a:r>
              <a:rPr lang="en-US" sz="1400">
                <a:solidFill>
                  <a:schemeClr val="tx1">
                    <a:alpha val="80000"/>
                  </a:schemeClr>
                </a:solidFill>
              </a:rPr>
              <a:t>The </a:t>
            </a:r>
            <a:r>
              <a:rPr lang="en-US" sz="1400" b="1">
                <a:solidFill>
                  <a:schemeClr val="tx1">
                    <a:alpha val="80000"/>
                  </a:schemeClr>
                </a:solidFill>
              </a:rPr>
              <a:t>LLM decides the steps</a:t>
            </a:r>
            <a:r>
              <a:rPr lang="en-US" sz="1400">
                <a:solidFill>
                  <a:schemeClr val="tx1">
                    <a:alpha val="80000"/>
                  </a:schemeClr>
                </a:solidFill>
              </a:rPr>
              <a:t>.</a:t>
            </a:r>
          </a:p>
          <a:p>
            <a:r>
              <a:rPr lang="en-IN" sz="1400">
                <a:solidFill>
                  <a:schemeClr val="tx1">
                    <a:alpha val="80000"/>
                  </a:schemeClr>
                </a:solidFill>
              </a:rPr>
              <a:t>Example Decision:</a:t>
            </a:r>
          </a:p>
          <a:p>
            <a:pPr marL="457200" lvl="1" indent="0">
              <a:buNone/>
            </a:pPr>
            <a:r>
              <a:rPr lang="en-US" sz="1400">
                <a:solidFill>
                  <a:schemeClr val="tx1">
                    <a:alpha val="80000"/>
                  </a:schemeClr>
                </a:solidFill>
                <a:latin typeface="Cascadia Code" panose="020B0609020000020004" pitchFamily="49" charset="0"/>
                <a:cs typeface="Cascadia Code" panose="020B0609020000020004" pitchFamily="49" charset="0"/>
              </a:rPr>
              <a:t>Question: Did errors increase after outage?</a:t>
            </a:r>
          </a:p>
          <a:p>
            <a:pPr marL="457200" lvl="1" indent="0">
              <a:buNone/>
            </a:pPr>
            <a:r>
              <a:rPr lang="en-US" sz="1400">
                <a:solidFill>
                  <a:schemeClr val="tx1">
                    <a:alpha val="80000"/>
                  </a:schemeClr>
                </a:solidFill>
                <a:latin typeface="Cascadia Code" panose="020B0609020000020004" pitchFamily="49" charset="0"/>
                <a:cs typeface="Cascadia Code" panose="020B0609020000020004" pitchFamily="49" charset="0"/>
              </a:rPr>
              <a:t>Agent decides:</a:t>
            </a:r>
            <a:br>
              <a:rPr lang="en-US" sz="1400">
                <a:solidFill>
                  <a:schemeClr val="tx1">
                    <a:alpha val="80000"/>
                  </a:schemeClr>
                </a:solidFill>
                <a:latin typeface="Cascadia Code" panose="020B0609020000020004" pitchFamily="49" charset="0"/>
                <a:cs typeface="Cascadia Code" panose="020B0609020000020004" pitchFamily="49" charset="0"/>
              </a:rPr>
            </a:br>
            <a:r>
              <a:rPr lang="en-US" sz="1400">
                <a:solidFill>
                  <a:schemeClr val="tx1">
                    <a:alpha val="80000"/>
                  </a:schemeClr>
                </a:solidFill>
                <a:latin typeface="Cascadia Code" panose="020B0609020000020004" pitchFamily="49" charset="0"/>
                <a:cs typeface="Cascadia Code" panose="020B0609020000020004" pitchFamily="49" charset="0"/>
              </a:rPr>
              <a:t>1. Query incident DB</a:t>
            </a:r>
            <a:br>
              <a:rPr lang="en-US" sz="1400">
                <a:solidFill>
                  <a:schemeClr val="tx1">
                    <a:alpha val="80000"/>
                  </a:schemeClr>
                </a:solidFill>
                <a:latin typeface="Cascadia Code" panose="020B0609020000020004" pitchFamily="49" charset="0"/>
                <a:cs typeface="Cascadia Code" panose="020B0609020000020004" pitchFamily="49" charset="0"/>
              </a:rPr>
            </a:br>
            <a:r>
              <a:rPr lang="en-US" sz="1400">
                <a:solidFill>
                  <a:schemeClr val="tx1">
                    <a:alpha val="80000"/>
                  </a:schemeClr>
                </a:solidFill>
                <a:latin typeface="Cascadia Code" panose="020B0609020000020004" pitchFamily="49" charset="0"/>
                <a:cs typeface="Cascadia Code" panose="020B0609020000020004" pitchFamily="49" charset="0"/>
              </a:rPr>
              <a:t>2. Analyze logs</a:t>
            </a:r>
            <a:br>
              <a:rPr lang="en-US" sz="1400">
                <a:solidFill>
                  <a:schemeClr val="tx1">
                    <a:alpha val="80000"/>
                  </a:schemeClr>
                </a:solidFill>
                <a:latin typeface="Cascadia Code" panose="020B0609020000020004" pitchFamily="49" charset="0"/>
                <a:cs typeface="Cascadia Code" panose="020B0609020000020004" pitchFamily="49" charset="0"/>
              </a:rPr>
            </a:br>
            <a:r>
              <a:rPr lang="en-US" sz="1400">
                <a:solidFill>
                  <a:schemeClr val="tx1">
                    <a:alpha val="80000"/>
                  </a:schemeClr>
                </a:solidFill>
                <a:latin typeface="Cascadia Code" panose="020B0609020000020004" pitchFamily="49" charset="0"/>
                <a:cs typeface="Cascadia Code" panose="020B0609020000020004" pitchFamily="49" charset="0"/>
              </a:rPr>
              <a:t>3. Search runbook</a:t>
            </a:r>
            <a:br>
              <a:rPr lang="en-US" sz="1400">
                <a:solidFill>
                  <a:schemeClr val="tx1">
                    <a:alpha val="80000"/>
                  </a:schemeClr>
                </a:solidFill>
                <a:latin typeface="Cascadia Code" panose="020B0609020000020004" pitchFamily="49" charset="0"/>
                <a:cs typeface="Cascadia Code" panose="020B0609020000020004" pitchFamily="49" charset="0"/>
              </a:rPr>
            </a:br>
            <a:r>
              <a:rPr lang="en-US" sz="1400">
                <a:solidFill>
                  <a:schemeClr val="tx1">
                    <a:alpha val="80000"/>
                  </a:schemeClr>
                </a:solidFill>
                <a:latin typeface="Cascadia Code" panose="020B0609020000020004" pitchFamily="49" charset="0"/>
                <a:cs typeface="Cascadia Code" panose="020B0609020000020004" pitchFamily="49" charset="0"/>
              </a:rPr>
              <a:t>4. Generate explanation</a:t>
            </a:r>
            <a:endParaRPr lang="en-IN" sz="1400">
              <a:solidFill>
                <a:schemeClr val="tx1">
                  <a:alpha val="80000"/>
                </a:schemeClr>
              </a:solidFill>
              <a:latin typeface="Cascadia Code" panose="020B0609020000020004" pitchFamily="49" charset="0"/>
              <a:cs typeface="Cascadia Code" panose="020B0609020000020004" pitchFamily="49" charset="0"/>
            </a:endParaRPr>
          </a:p>
          <a:p>
            <a:r>
              <a:rPr lang="en-US" sz="1400">
                <a:solidFill>
                  <a:schemeClr val="tx1">
                    <a:alpha val="80000"/>
                  </a:schemeClr>
                </a:solidFill>
              </a:rPr>
              <a:t>Advantages:</a:t>
            </a:r>
          </a:p>
          <a:p>
            <a:pPr lvl="1"/>
            <a:r>
              <a:rPr lang="en-US" sz="1400">
                <a:solidFill>
                  <a:schemeClr val="tx1">
                    <a:alpha val="80000"/>
                  </a:schemeClr>
                </a:solidFill>
              </a:rPr>
              <a:t>Flexible</a:t>
            </a:r>
          </a:p>
          <a:p>
            <a:pPr lvl="1"/>
            <a:r>
              <a:rPr lang="en-US" sz="1400">
                <a:solidFill>
                  <a:schemeClr val="tx1">
                    <a:alpha val="80000"/>
                  </a:schemeClr>
                </a:solidFill>
              </a:rPr>
              <a:t>Handles unpredictable queries</a:t>
            </a:r>
          </a:p>
          <a:p>
            <a:pPr lvl="1"/>
            <a:r>
              <a:rPr lang="en-US" sz="1400">
                <a:solidFill>
                  <a:schemeClr val="tx1">
                    <a:alpha val="80000"/>
                  </a:schemeClr>
                </a:solidFill>
              </a:rPr>
              <a:t>Can combine tools dynamically</a:t>
            </a:r>
          </a:p>
          <a:p>
            <a:endParaRPr lang="en-IN" sz="1400">
              <a:solidFill>
                <a:schemeClr val="tx1">
                  <a:alpha val="80000"/>
                </a:schemeClr>
              </a:solidFill>
            </a:endParaRPr>
          </a:p>
        </p:txBody>
      </p:sp>
      <p:pic>
        <p:nvPicPr>
          <p:cNvPr id="5" name="Picture 4">
            <a:extLst>
              <a:ext uri="{FF2B5EF4-FFF2-40B4-BE49-F238E27FC236}">
                <a16:creationId xmlns:a16="http://schemas.microsoft.com/office/drawing/2014/main" id="{7F054320-3E24-6586-6276-8AE078E7EAAE}"/>
              </a:ext>
            </a:extLst>
          </p:cNvPr>
          <p:cNvPicPr>
            <a:picLocks noChangeAspect="1"/>
          </p:cNvPicPr>
          <p:nvPr/>
        </p:nvPicPr>
        <p:blipFill>
          <a:blip r:embed="rId2"/>
          <a:stretch>
            <a:fillRect/>
          </a:stretch>
        </p:blipFill>
        <p:spPr>
          <a:xfrm>
            <a:off x="7587803" y="1336390"/>
            <a:ext cx="3518104" cy="4837394"/>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426444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AF6F-BE9B-1805-59E9-2CAD8CB5E237}"/>
              </a:ext>
            </a:extLst>
          </p:cNvPr>
          <p:cNvSpPr>
            <a:spLocks noGrp="1"/>
          </p:cNvSpPr>
          <p:nvPr>
            <p:ph type="title"/>
          </p:nvPr>
        </p:nvSpPr>
        <p:spPr/>
        <p:txBody>
          <a:bodyPr/>
          <a:lstStyle/>
          <a:p>
            <a:r>
              <a:rPr lang="en-IN" dirty="0"/>
              <a:t>Chain vs Agent Decision Criteria</a:t>
            </a:r>
          </a:p>
        </p:txBody>
      </p:sp>
      <p:sp>
        <p:nvSpPr>
          <p:cNvPr id="3" name="Content Placeholder 2">
            <a:extLst>
              <a:ext uri="{FF2B5EF4-FFF2-40B4-BE49-F238E27FC236}">
                <a16:creationId xmlns:a16="http://schemas.microsoft.com/office/drawing/2014/main" id="{294BCE65-F84B-4885-0B46-7C888BB8E3E2}"/>
              </a:ext>
            </a:extLst>
          </p:cNvPr>
          <p:cNvSpPr>
            <a:spLocks noGrp="1"/>
          </p:cNvSpPr>
          <p:nvPr>
            <p:ph idx="1"/>
          </p:nvPr>
        </p:nvSpPr>
        <p:spPr/>
        <p:txBody>
          <a:bodyPr/>
          <a:lstStyle/>
          <a:p>
            <a:r>
              <a:rPr lang="en-US" b="1" dirty="0"/>
              <a:t>When to use what</a:t>
            </a:r>
          </a:p>
          <a:p>
            <a:pPr lvl="1"/>
            <a:r>
              <a:rPr lang="en-US" b="1" dirty="0"/>
              <a:t>Simple Rule</a:t>
            </a:r>
          </a:p>
          <a:p>
            <a:pPr lvl="2"/>
            <a:r>
              <a:rPr lang="en-US" dirty="0"/>
              <a:t>Use a </a:t>
            </a:r>
            <a:r>
              <a:rPr lang="en-US" b="1" dirty="0"/>
              <a:t>chain when the workflow is known</a:t>
            </a:r>
            <a:r>
              <a:rPr lang="en-US" dirty="0"/>
              <a:t>.</a:t>
            </a:r>
          </a:p>
          <a:p>
            <a:pPr lvl="2"/>
            <a:r>
              <a:rPr lang="en-US" dirty="0"/>
              <a:t>Use an </a:t>
            </a:r>
            <a:r>
              <a:rPr lang="en-US" b="1" dirty="0"/>
              <a:t>agent when the workflow must be decided at runtime</a:t>
            </a:r>
            <a:r>
              <a:rPr lang="en-US" dirty="0"/>
              <a:t>.</a:t>
            </a:r>
          </a:p>
          <a:p>
            <a:endParaRPr lang="en-IN" dirty="0"/>
          </a:p>
        </p:txBody>
      </p:sp>
    </p:spTree>
    <p:extLst>
      <p:ext uri="{BB962C8B-B14F-4D97-AF65-F5344CB8AC3E}">
        <p14:creationId xmlns:p14="http://schemas.microsoft.com/office/powerpoint/2010/main" val="2160304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258F-E9BF-5A3D-F309-BBE988043E1C}"/>
              </a:ext>
            </a:extLst>
          </p:cNvPr>
          <p:cNvSpPr>
            <a:spLocks noGrp="1"/>
          </p:cNvSpPr>
          <p:nvPr>
            <p:ph type="title"/>
          </p:nvPr>
        </p:nvSpPr>
        <p:spPr/>
        <p:txBody>
          <a:bodyPr/>
          <a:lstStyle/>
          <a:p>
            <a:r>
              <a:rPr lang="en-US" dirty="0"/>
              <a:t>When Agents Add Value vs Overcomplicate Systems</a:t>
            </a:r>
            <a:endParaRPr lang="en-IN" dirty="0"/>
          </a:p>
        </p:txBody>
      </p:sp>
      <p:sp>
        <p:nvSpPr>
          <p:cNvPr id="3" name="Content Placeholder 2">
            <a:extLst>
              <a:ext uri="{FF2B5EF4-FFF2-40B4-BE49-F238E27FC236}">
                <a16:creationId xmlns:a16="http://schemas.microsoft.com/office/drawing/2014/main" id="{BF0549E2-2C33-BF6E-A475-6EF0F7FCDC35}"/>
              </a:ext>
            </a:extLst>
          </p:cNvPr>
          <p:cNvSpPr>
            <a:spLocks noGrp="1"/>
          </p:cNvSpPr>
          <p:nvPr>
            <p:ph idx="1"/>
          </p:nvPr>
        </p:nvSpPr>
        <p:spPr/>
        <p:txBody>
          <a:bodyPr>
            <a:normAutofit fontScale="62500" lnSpcReduction="20000"/>
          </a:bodyPr>
          <a:lstStyle/>
          <a:p>
            <a:r>
              <a:rPr lang="en-US" dirty="0"/>
              <a:t>Agents are powerful but </a:t>
            </a:r>
            <a:r>
              <a:rPr lang="en-US" b="1" dirty="0"/>
              <a:t>not always necessary</a:t>
            </a:r>
            <a:r>
              <a:rPr lang="en-US" dirty="0"/>
              <a:t>.</a:t>
            </a:r>
          </a:p>
          <a:p>
            <a:r>
              <a:rPr lang="en-US" b="1" dirty="0"/>
              <a:t>When Agents Add Value</a:t>
            </a:r>
          </a:p>
          <a:p>
            <a:pPr lvl="1"/>
            <a:r>
              <a:rPr lang="en-US" dirty="0"/>
              <a:t>Agents work best when </a:t>
            </a:r>
            <a:r>
              <a:rPr lang="en-US" b="1" dirty="0"/>
              <a:t>tasks require reasoning</a:t>
            </a:r>
            <a:r>
              <a:rPr lang="en-US" dirty="0"/>
              <a:t>.</a:t>
            </a:r>
          </a:p>
          <a:p>
            <a:r>
              <a:rPr lang="en-US" b="1" dirty="0"/>
              <a:t>Example 1: Incident investigation</a:t>
            </a:r>
          </a:p>
          <a:p>
            <a:pPr lvl="1"/>
            <a:r>
              <a:rPr lang="en-US" dirty="0"/>
              <a:t>Question: </a:t>
            </a:r>
          </a:p>
          <a:p>
            <a:pPr marL="457200" lvl="1" indent="0">
              <a:buNone/>
            </a:pPr>
            <a:r>
              <a:rPr lang="en-US" dirty="0">
                <a:latin typeface="Cascadia Code" panose="020B0609020000020004" pitchFamily="49" charset="0"/>
                <a:cs typeface="Cascadia Code" panose="020B0609020000020004" pitchFamily="49" charset="0"/>
              </a:rPr>
              <a:t>	Why did checkout fail yesterday?</a:t>
            </a:r>
          </a:p>
          <a:p>
            <a:pPr marL="457200" lvl="1" indent="0">
              <a:buNone/>
            </a:pPr>
            <a:endParaRPr lang="en-US" dirty="0">
              <a:latin typeface="Cascadia Code" panose="020B0609020000020004" pitchFamily="49" charset="0"/>
              <a:cs typeface="Cascadia Code" panose="020B0609020000020004" pitchFamily="49" charset="0"/>
            </a:endParaRPr>
          </a:p>
          <a:p>
            <a:pPr lvl="1"/>
            <a:r>
              <a:rPr lang="en-US" dirty="0"/>
              <a:t>Steps may include:</a:t>
            </a:r>
          </a:p>
          <a:p>
            <a:pPr marL="914400" lvl="2" indent="0">
              <a:buNone/>
            </a:pPr>
            <a:r>
              <a:rPr lang="en-US" dirty="0">
                <a:latin typeface="Cascadia Code" panose="020B0609020000020004" pitchFamily="49" charset="0"/>
                <a:cs typeface="Cascadia Code" panose="020B0609020000020004" pitchFamily="49" charset="0"/>
              </a:rPr>
              <a:t>query incidents</a:t>
            </a:r>
          </a:p>
          <a:p>
            <a:pPr marL="914400" lvl="2" indent="0">
              <a:buNone/>
            </a:pPr>
            <a:r>
              <a:rPr lang="en-US" dirty="0">
                <a:latin typeface="Cascadia Code" panose="020B0609020000020004" pitchFamily="49" charset="0"/>
                <a:cs typeface="Cascadia Code" panose="020B0609020000020004" pitchFamily="49" charset="0"/>
              </a:rPr>
              <a:t>check logs</a:t>
            </a:r>
          </a:p>
          <a:p>
            <a:pPr marL="914400" lvl="2" indent="0">
              <a:buNone/>
            </a:pPr>
            <a:r>
              <a:rPr lang="en-US" dirty="0">
                <a:latin typeface="Cascadia Code" panose="020B0609020000020004" pitchFamily="49" charset="0"/>
                <a:cs typeface="Cascadia Code" panose="020B0609020000020004" pitchFamily="49" charset="0"/>
              </a:rPr>
              <a:t>search runbooks</a:t>
            </a:r>
          </a:p>
          <a:p>
            <a:pPr marL="914400" lvl="2" indent="0">
              <a:buNone/>
            </a:pPr>
            <a:r>
              <a:rPr lang="en-US" dirty="0">
                <a:latin typeface="Cascadia Code" panose="020B0609020000020004" pitchFamily="49" charset="0"/>
                <a:cs typeface="Cascadia Code" panose="020B0609020000020004" pitchFamily="49" charset="0"/>
              </a:rPr>
              <a:t>analyze metrics</a:t>
            </a:r>
          </a:p>
          <a:p>
            <a:r>
              <a:rPr lang="en-US" dirty="0"/>
              <a:t>The order is </a:t>
            </a:r>
            <a:r>
              <a:rPr lang="en-US" b="1" dirty="0"/>
              <a:t>not fixed</a:t>
            </a:r>
            <a:r>
              <a:rPr lang="en-US" dirty="0"/>
              <a:t>.</a:t>
            </a:r>
          </a:p>
          <a:p>
            <a:r>
              <a:rPr lang="en-US" dirty="0"/>
              <a:t>Agent value:</a:t>
            </a:r>
          </a:p>
          <a:p>
            <a:pPr lvl="1"/>
            <a:r>
              <a:rPr lang="en-US" dirty="0"/>
              <a:t>Dynamic decision making</a:t>
            </a:r>
          </a:p>
          <a:p>
            <a:pPr lvl="1"/>
            <a:r>
              <a:rPr lang="en-US" dirty="0"/>
              <a:t>Multi-tool investigation</a:t>
            </a:r>
          </a:p>
          <a:p>
            <a:pPr lvl="1"/>
            <a:r>
              <a:rPr lang="en-US" dirty="0"/>
              <a:t>Handles vague questions</a:t>
            </a:r>
          </a:p>
          <a:p>
            <a:endParaRPr lang="en-IN" dirty="0"/>
          </a:p>
        </p:txBody>
      </p:sp>
    </p:spTree>
    <p:extLst>
      <p:ext uri="{BB962C8B-B14F-4D97-AF65-F5344CB8AC3E}">
        <p14:creationId xmlns:p14="http://schemas.microsoft.com/office/powerpoint/2010/main" val="302210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5FBCB-29D1-1FDC-D473-FFE695C40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ADF28-5A60-63EE-115C-92034394EAFC}"/>
              </a:ext>
            </a:extLst>
          </p:cNvPr>
          <p:cNvSpPr>
            <a:spLocks noGrp="1"/>
          </p:cNvSpPr>
          <p:nvPr>
            <p:ph type="title"/>
          </p:nvPr>
        </p:nvSpPr>
        <p:spPr/>
        <p:txBody>
          <a:bodyPr/>
          <a:lstStyle/>
          <a:p>
            <a:r>
              <a:rPr lang="en-US" dirty="0"/>
              <a:t>When Agents Add Value vs Overcomplicate Systems</a:t>
            </a:r>
            <a:endParaRPr lang="en-IN" dirty="0"/>
          </a:p>
        </p:txBody>
      </p:sp>
      <p:sp>
        <p:nvSpPr>
          <p:cNvPr id="3" name="Content Placeholder 2">
            <a:extLst>
              <a:ext uri="{FF2B5EF4-FFF2-40B4-BE49-F238E27FC236}">
                <a16:creationId xmlns:a16="http://schemas.microsoft.com/office/drawing/2014/main" id="{CAA59786-1877-1311-2C98-C29B2171F3C0}"/>
              </a:ext>
            </a:extLst>
          </p:cNvPr>
          <p:cNvSpPr>
            <a:spLocks noGrp="1"/>
          </p:cNvSpPr>
          <p:nvPr>
            <p:ph idx="1"/>
          </p:nvPr>
        </p:nvSpPr>
        <p:spPr/>
        <p:txBody>
          <a:bodyPr>
            <a:normAutofit/>
          </a:bodyPr>
          <a:lstStyle/>
          <a:p>
            <a:r>
              <a:rPr lang="en-US" b="1" dirty="0"/>
              <a:t>Example 2: Data analysis assistant</a:t>
            </a:r>
          </a:p>
          <a:p>
            <a:pPr lvl="1"/>
            <a:r>
              <a:rPr lang="en-US" dirty="0"/>
              <a:t>User asks: </a:t>
            </a:r>
          </a:p>
          <a:p>
            <a:pPr marL="457200" lvl="1" indent="0">
              <a:buNone/>
            </a:pPr>
            <a:r>
              <a:rPr lang="en-US" sz="2000" dirty="0">
                <a:latin typeface="Cascadia Code" panose="020B0609020000020004" pitchFamily="49" charset="0"/>
                <a:cs typeface="Cascadia Code" panose="020B0609020000020004" pitchFamily="49" charset="0"/>
              </a:rPr>
              <a:t>	Which regions had the largest revenue drop?</a:t>
            </a:r>
          </a:p>
          <a:p>
            <a:pPr marL="0" lvl="1" indent="0">
              <a:buNone/>
            </a:pPr>
            <a:endParaRPr lang="en-US" dirty="0">
              <a:latin typeface="Cascadia Code" panose="020B0609020000020004" pitchFamily="49" charset="0"/>
              <a:cs typeface="Cascadia Code" panose="020B0609020000020004" pitchFamily="49" charset="0"/>
            </a:endParaRPr>
          </a:p>
          <a:p>
            <a:pPr lvl="1"/>
            <a:r>
              <a:rPr lang="en-US" dirty="0"/>
              <a:t>Agent may:</a:t>
            </a:r>
          </a:p>
          <a:p>
            <a:pPr marL="914400" lvl="2" indent="0">
              <a:buNone/>
            </a:pPr>
            <a:r>
              <a:rPr lang="en-US" sz="1600" dirty="0">
                <a:latin typeface="Cascadia Code" panose="020B0609020000020004" pitchFamily="49" charset="0"/>
                <a:cs typeface="Cascadia Code" panose="020B0609020000020004" pitchFamily="49" charset="0"/>
              </a:rPr>
              <a:t>Query database</a:t>
            </a:r>
          </a:p>
          <a:p>
            <a:pPr marL="914400" lvl="2" indent="0">
              <a:buNone/>
            </a:pPr>
            <a:r>
              <a:rPr lang="en-US" sz="1600" dirty="0">
                <a:latin typeface="Cascadia Code" panose="020B0609020000020004" pitchFamily="49" charset="0"/>
                <a:cs typeface="Cascadia Code" panose="020B0609020000020004" pitchFamily="49" charset="0"/>
              </a:rPr>
              <a:t>Create summary</a:t>
            </a:r>
          </a:p>
          <a:p>
            <a:pPr marL="914400" lvl="2" indent="0">
              <a:buNone/>
            </a:pPr>
            <a:r>
              <a:rPr lang="en-US" sz="1600" dirty="0">
                <a:latin typeface="Cascadia Code" panose="020B0609020000020004" pitchFamily="49" charset="0"/>
                <a:cs typeface="Cascadia Code" panose="020B0609020000020004" pitchFamily="49" charset="0"/>
              </a:rPr>
              <a:t>Compare previous months</a:t>
            </a:r>
          </a:p>
          <a:p>
            <a:pPr marL="914400" lvl="2" indent="0">
              <a:buNone/>
            </a:pPr>
            <a:r>
              <a:rPr lang="en-US" sz="1600" dirty="0">
                <a:latin typeface="Cascadia Code" panose="020B0609020000020004" pitchFamily="49" charset="0"/>
                <a:cs typeface="Cascadia Code" panose="020B0609020000020004" pitchFamily="49" charset="0"/>
              </a:rPr>
              <a:t>Generate explanation</a:t>
            </a:r>
          </a:p>
        </p:txBody>
      </p:sp>
    </p:spTree>
    <p:extLst>
      <p:ext uri="{BB962C8B-B14F-4D97-AF65-F5344CB8AC3E}">
        <p14:creationId xmlns:p14="http://schemas.microsoft.com/office/powerpoint/2010/main" val="2946905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7B81D-50C6-EC5C-E26C-7F154B02A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34428-8967-46E0-EB53-3EC1F7278317}"/>
              </a:ext>
            </a:extLst>
          </p:cNvPr>
          <p:cNvSpPr>
            <a:spLocks noGrp="1"/>
          </p:cNvSpPr>
          <p:nvPr>
            <p:ph type="title"/>
          </p:nvPr>
        </p:nvSpPr>
        <p:spPr/>
        <p:txBody>
          <a:bodyPr/>
          <a:lstStyle/>
          <a:p>
            <a:r>
              <a:rPr lang="en-US" dirty="0"/>
              <a:t>When Agents Add Value vs Overcomplicate Systems</a:t>
            </a:r>
            <a:endParaRPr lang="en-IN" dirty="0"/>
          </a:p>
        </p:txBody>
      </p:sp>
      <p:sp>
        <p:nvSpPr>
          <p:cNvPr id="3" name="Content Placeholder 2">
            <a:extLst>
              <a:ext uri="{FF2B5EF4-FFF2-40B4-BE49-F238E27FC236}">
                <a16:creationId xmlns:a16="http://schemas.microsoft.com/office/drawing/2014/main" id="{179F6ADB-85A5-902D-4ECB-A1BA04DB484E}"/>
              </a:ext>
            </a:extLst>
          </p:cNvPr>
          <p:cNvSpPr>
            <a:spLocks noGrp="1"/>
          </p:cNvSpPr>
          <p:nvPr>
            <p:ph idx="1"/>
          </p:nvPr>
        </p:nvSpPr>
        <p:spPr/>
        <p:txBody>
          <a:bodyPr>
            <a:normAutofit/>
          </a:bodyPr>
          <a:lstStyle/>
          <a:p>
            <a:r>
              <a:rPr lang="en-US" b="1" dirty="0"/>
              <a:t>Example 3: DevOps / SRE copilots</a:t>
            </a:r>
          </a:p>
          <a:p>
            <a:pPr lvl="1"/>
            <a:r>
              <a:rPr lang="en-US" dirty="0"/>
              <a:t>Agents can:</a:t>
            </a:r>
          </a:p>
          <a:p>
            <a:pPr marL="914400" lvl="2" indent="0">
              <a:buNone/>
            </a:pPr>
            <a:r>
              <a:rPr lang="en-US" dirty="0">
                <a:latin typeface="Cascadia Code" panose="020B0609020000020004" pitchFamily="49" charset="0"/>
                <a:cs typeface="Cascadia Code" panose="020B0609020000020004" pitchFamily="49" charset="0"/>
              </a:rPr>
              <a:t>read logs</a:t>
            </a:r>
          </a:p>
          <a:p>
            <a:pPr marL="914400" lvl="2" indent="0">
              <a:buNone/>
            </a:pPr>
            <a:r>
              <a:rPr lang="en-US" dirty="0">
                <a:latin typeface="Cascadia Code" panose="020B0609020000020004" pitchFamily="49" charset="0"/>
                <a:cs typeface="Cascadia Code" panose="020B0609020000020004" pitchFamily="49" charset="0"/>
              </a:rPr>
              <a:t>check alerts</a:t>
            </a:r>
          </a:p>
          <a:p>
            <a:pPr marL="914400" lvl="2" indent="0">
              <a:buNone/>
            </a:pPr>
            <a:r>
              <a:rPr lang="en-US" dirty="0">
                <a:latin typeface="Cascadia Code" panose="020B0609020000020004" pitchFamily="49" charset="0"/>
                <a:cs typeface="Cascadia Code" panose="020B0609020000020004" pitchFamily="49" charset="0"/>
              </a:rPr>
              <a:t>query metrics</a:t>
            </a:r>
          </a:p>
          <a:p>
            <a:pPr marL="914400" lvl="2" indent="0">
              <a:buNone/>
            </a:pPr>
            <a:r>
              <a:rPr lang="en-US" dirty="0">
                <a:latin typeface="Cascadia Code" panose="020B0609020000020004" pitchFamily="49" charset="0"/>
                <a:cs typeface="Cascadia Code" panose="020B0609020000020004" pitchFamily="49" charset="0"/>
              </a:rPr>
              <a:t>retrieve documentation</a:t>
            </a:r>
          </a:p>
          <a:p>
            <a:pPr marL="914400" lvl="2" indent="0">
              <a:buNone/>
            </a:pPr>
            <a:endParaRPr lang="en-US" dirty="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86879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5AC7-7525-1A2C-790B-F68BBAF89423}"/>
              </a:ext>
            </a:extLst>
          </p:cNvPr>
          <p:cNvSpPr>
            <a:spLocks noGrp="1"/>
          </p:cNvSpPr>
          <p:nvPr>
            <p:ph type="title"/>
          </p:nvPr>
        </p:nvSpPr>
        <p:spPr/>
        <p:txBody>
          <a:bodyPr/>
          <a:lstStyle/>
          <a:p>
            <a:r>
              <a:rPr lang="en-IN" dirty="0"/>
              <a:t>When Agents Overcomplicate Systems</a:t>
            </a:r>
          </a:p>
        </p:txBody>
      </p:sp>
      <p:sp>
        <p:nvSpPr>
          <p:cNvPr id="3" name="Content Placeholder 2">
            <a:extLst>
              <a:ext uri="{FF2B5EF4-FFF2-40B4-BE49-F238E27FC236}">
                <a16:creationId xmlns:a16="http://schemas.microsoft.com/office/drawing/2014/main" id="{B289B38B-5362-B5F2-8E25-81D6AE8807B3}"/>
              </a:ext>
            </a:extLst>
          </p:cNvPr>
          <p:cNvSpPr>
            <a:spLocks noGrp="1"/>
          </p:cNvSpPr>
          <p:nvPr>
            <p:ph idx="1"/>
          </p:nvPr>
        </p:nvSpPr>
        <p:spPr/>
        <p:txBody>
          <a:bodyPr>
            <a:normAutofit/>
          </a:bodyPr>
          <a:lstStyle/>
          <a:p>
            <a:r>
              <a:rPr lang="en-US" dirty="0"/>
              <a:t>Many problems </a:t>
            </a:r>
            <a:r>
              <a:rPr lang="en-US" b="1" dirty="0"/>
              <a:t>do not need agents</a:t>
            </a:r>
            <a:r>
              <a:rPr lang="en-US" dirty="0"/>
              <a:t>.</a:t>
            </a:r>
          </a:p>
          <a:p>
            <a:r>
              <a:rPr lang="en-US" dirty="0"/>
              <a:t>Example:</a:t>
            </a:r>
          </a:p>
          <a:p>
            <a:pPr marL="0" indent="0">
              <a:buNone/>
            </a:pPr>
            <a:r>
              <a:rPr lang="en-US" dirty="0"/>
              <a:t>	</a:t>
            </a:r>
            <a:r>
              <a:rPr lang="en-US" sz="2400" dirty="0">
                <a:latin typeface="Cascadia Code" panose="020B0609020000020004" pitchFamily="49" charset="0"/>
                <a:cs typeface="Cascadia Code" panose="020B0609020000020004" pitchFamily="49" charset="0"/>
              </a:rPr>
              <a:t>User: Show incidents in last 24 hours</a:t>
            </a:r>
          </a:p>
          <a:p>
            <a:r>
              <a:rPr lang="en-US" dirty="0"/>
              <a:t>Agent would:</a:t>
            </a:r>
          </a:p>
          <a:p>
            <a:pPr marL="0" indent="0">
              <a:buNone/>
            </a:pPr>
            <a:r>
              <a:rPr lang="en-US" dirty="0">
                <a:latin typeface="Cascadia Code" panose="020B0609020000020004" pitchFamily="49" charset="0"/>
                <a:cs typeface="Cascadia Code" panose="020B0609020000020004" pitchFamily="49" charset="0"/>
              </a:rPr>
              <a:t>	</a:t>
            </a:r>
            <a:r>
              <a:rPr lang="en-US" sz="2400" dirty="0">
                <a:latin typeface="Cascadia Code" panose="020B0609020000020004" pitchFamily="49" charset="0"/>
                <a:cs typeface="Cascadia Code" panose="020B0609020000020004" pitchFamily="49" charset="0"/>
              </a:rPr>
              <a:t>Think → choose SQL tool → run query</a:t>
            </a:r>
            <a:endParaRPr lang="en-US" dirty="0">
              <a:latin typeface="Cascadia Code" panose="020B0609020000020004" pitchFamily="49" charset="0"/>
              <a:cs typeface="Cascadia Code" panose="020B0609020000020004" pitchFamily="49" charset="0"/>
            </a:endParaRPr>
          </a:p>
          <a:p>
            <a:r>
              <a:rPr lang="en-US" dirty="0"/>
              <a:t>But a </a:t>
            </a:r>
            <a:r>
              <a:rPr lang="en-US" b="1" dirty="0"/>
              <a:t>simple SQL query chain</a:t>
            </a:r>
            <a:r>
              <a:rPr lang="en-US" dirty="0"/>
              <a:t> is faster.</a:t>
            </a:r>
          </a:p>
        </p:txBody>
      </p:sp>
    </p:spTree>
    <p:extLst>
      <p:ext uri="{BB962C8B-B14F-4D97-AF65-F5344CB8AC3E}">
        <p14:creationId xmlns:p14="http://schemas.microsoft.com/office/powerpoint/2010/main" val="2032386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419EA-272A-14C2-7A44-D9B4FB33E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AE7AA-59FC-604F-F60D-04544C738FE9}"/>
              </a:ext>
            </a:extLst>
          </p:cNvPr>
          <p:cNvSpPr>
            <a:spLocks noGrp="1"/>
          </p:cNvSpPr>
          <p:nvPr>
            <p:ph type="title"/>
          </p:nvPr>
        </p:nvSpPr>
        <p:spPr/>
        <p:txBody>
          <a:bodyPr/>
          <a:lstStyle/>
          <a:p>
            <a:r>
              <a:rPr lang="en-IN"/>
              <a:t>When Agents Overcomplicate Systems</a:t>
            </a:r>
            <a:endParaRPr lang="en-IN" dirty="0"/>
          </a:p>
        </p:txBody>
      </p:sp>
      <p:sp>
        <p:nvSpPr>
          <p:cNvPr id="3" name="Content Placeholder 2">
            <a:extLst>
              <a:ext uri="{FF2B5EF4-FFF2-40B4-BE49-F238E27FC236}">
                <a16:creationId xmlns:a16="http://schemas.microsoft.com/office/drawing/2014/main" id="{59859959-F256-1703-91C3-FB677EC2D488}"/>
              </a:ext>
            </a:extLst>
          </p:cNvPr>
          <p:cNvSpPr>
            <a:spLocks noGrp="1"/>
          </p:cNvSpPr>
          <p:nvPr>
            <p:ph idx="1"/>
          </p:nvPr>
        </p:nvSpPr>
        <p:spPr/>
        <p:txBody>
          <a:bodyPr>
            <a:normAutofit fontScale="70000" lnSpcReduction="20000"/>
          </a:bodyPr>
          <a:lstStyle/>
          <a:p>
            <a:r>
              <a:rPr lang="en-US" b="1" dirty="0"/>
              <a:t>Overengineering</a:t>
            </a:r>
            <a:r>
              <a:rPr lang="en-US" dirty="0"/>
              <a:t> AI agents often involves building complex multi-agent systems when simpler workflows or single agents suffice.</a:t>
            </a:r>
          </a:p>
          <a:p>
            <a:r>
              <a:rPr lang="en-US" dirty="0"/>
              <a:t>A classic example is content generation for marketing emails.</a:t>
            </a:r>
          </a:p>
          <a:p>
            <a:r>
              <a:rPr lang="en-US" dirty="0"/>
              <a:t>Marketing Content Case</a:t>
            </a:r>
          </a:p>
          <a:p>
            <a:pPr lvl="1"/>
            <a:r>
              <a:rPr lang="en-US" dirty="0"/>
              <a:t>A team designed a multi-agent setup with specialized agents for request analysis, content generation, structure creation, syntactic validation, semantic checks, spam prevention, optimization, security, scoring, HTML normalization, and more, all coordinated by an orchestrator. This added massive overhead in token usage, latency, handoffs, and debugging failures due to information silos between agents.​</a:t>
            </a:r>
          </a:p>
          <a:p>
            <a:r>
              <a:rPr lang="en-US" dirty="0"/>
              <a:t>Simpler Alternative</a:t>
            </a:r>
          </a:p>
          <a:p>
            <a:pPr lvl="1"/>
            <a:r>
              <a:rPr lang="en-US" dirty="0"/>
              <a:t>Instead, a single agent with well-designed tools (e.g., validation prompts, character-limit checks, and field references) handles the tightly coupled tasks sequentially: plan, generate, validate, and fix. This cuts costs, speeds up execution, and maintains full context without coordination complexity.</a:t>
            </a:r>
          </a:p>
          <a:p>
            <a:r>
              <a:rPr lang="en-US" dirty="0"/>
              <a:t>Key Takeaway</a:t>
            </a:r>
          </a:p>
          <a:p>
            <a:pPr lvl="1"/>
            <a:r>
              <a:rPr lang="en-US" dirty="0"/>
              <a:t>Use multi-agents only for true needs like parallel tasks, tool overload (&gt;10-20 tools), or security isolation; otherwise, it creates failure points without gains.</a:t>
            </a:r>
          </a:p>
          <a:p>
            <a:endParaRPr lang="en-IN" dirty="0"/>
          </a:p>
        </p:txBody>
      </p:sp>
    </p:spTree>
    <p:extLst>
      <p:ext uri="{BB962C8B-B14F-4D97-AF65-F5344CB8AC3E}">
        <p14:creationId xmlns:p14="http://schemas.microsoft.com/office/powerpoint/2010/main" val="1786450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B04-E0C3-FAA3-5BFD-F28FD4FE14BA}"/>
              </a:ext>
            </a:extLst>
          </p:cNvPr>
          <p:cNvSpPr>
            <a:spLocks noGrp="1"/>
          </p:cNvSpPr>
          <p:nvPr>
            <p:ph type="title"/>
          </p:nvPr>
        </p:nvSpPr>
        <p:spPr/>
        <p:txBody>
          <a:bodyPr/>
          <a:lstStyle/>
          <a:p>
            <a:r>
              <a:rPr lang="en-IN" dirty="0"/>
              <a:t>Common Agent Failure Patterns</a:t>
            </a:r>
          </a:p>
        </p:txBody>
      </p:sp>
      <p:sp>
        <p:nvSpPr>
          <p:cNvPr id="3" name="Content Placeholder 2">
            <a:extLst>
              <a:ext uri="{FF2B5EF4-FFF2-40B4-BE49-F238E27FC236}">
                <a16:creationId xmlns:a16="http://schemas.microsoft.com/office/drawing/2014/main" id="{22B94FC3-ECF7-287D-37DD-4090993B3AE7}"/>
              </a:ext>
            </a:extLst>
          </p:cNvPr>
          <p:cNvSpPr>
            <a:spLocks noGrp="1"/>
          </p:cNvSpPr>
          <p:nvPr>
            <p:ph idx="1"/>
          </p:nvPr>
        </p:nvSpPr>
        <p:spPr/>
        <p:txBody>
          <a:bodyPr>
            <a:normAutofit lnSpcReduction="10000"/>
          </a:bodyPr>
          <a:lstStyle/>
          <a:p>
            <a:r>
              <a:rPr lang="en-US" dirty="0"/>
              <a:t>Agents are powerful but </a:t>
            </a:r>
            <a:r>
              <a:rPr lang="en-US" b="1" dirty="0"/>
              <a:t>unreliable if not designed carefully</a:t>
            </a:r>
            <a:r>
              <a:rPr lang="en-US" dirty="0"/>
              <a:t>.</a:t>
            </a:r>
          </a:p>
          <a:p>
            <a:r>
              <a:rPr lang="en-US" dirty="0"/>
              <a:t>Here are the most common problems.</a:t>
            </a:r>
          </a:p>
          <a:p>
            <a:r>
              <a:rPr lang="en-US" b="1" dirty="0"/>
              <a:t>Tool Selection Errors</a:t>
            </a:r>
          </a:p>
          <a:p>
            <a:pPr lvl="1"/>
            <a:r>
              <a:rPr lang="en-US" dirty="0"/>
              <a:t>Agent chooses the </a:t>
            </a:r>
            <a:r>
              <a:rPr lang="en-US" b="1" dirty="0"/>
              <a:t>wrong tool</a:t>
            </a:r>
            <a:r>
              <a:rPr lang="en-US" dirty="0"/>
              <a:t>.</a:t>
            </a:r>
          </a:p>
          <a:p>
            <a:pPr lvl="2"/>
            <a:r>
              <a:rPr lang="en-US" dirty="0"/>
              <a:t>Agent uses RAG search instead of log analysis</a:t>
            </a:r>
          </a:p>
          <a:p>
            <a:pPr lvl="1"/>
            <a:r>
              <a:rPr lang="en-US" b="1" dirty="0"/>
              <a:t>Infinite Tool Loops</a:t>
            </a:r>
          </a:p>
          <a:p>
            <a:pPr lvl="2"/>
            <a:r>
              <a:rPr lang="en-US" dirty="0"/>
              <a:t>Agent repeatedly calls tools.</a:t>
            </a:r>
          </a:p>
          <a:p>
            <a:pPr lvl="1"/>
            <a:r>
              <a:rPr lang="en-US" b="1" dirty="0"/>
              <a:t>Hallucinated Tool Results</a:t>
            </a:r>
          </a:p>
          <a:p>
            <a:pPr lvl="2"/>
            <a:r>
              <a:rPr lang="en-US" dirty="0"/>
              <a:t>LLM sometimes </a:t>
            </a:r>
            <a:r>
              <a:rPr lang="en-US" b="1" dirty="0"/>
              <a:t>imagines results instead of calling tools</a:t>
            </a:r>
            <a:r>
              <a:rPr lang="en-US" dirty="0"/>
              <a:t>.</a:t>
            </a:r>
          </a:p>
          <a:p>
            <a:pPr lvl="1"/>
            <a:r>
              <a:rPr lang="en-US" b="1" dirty="0"/>
              <a:t>Partial Failure Handling</a:t>
            </a:r>
          </a:p>
          <a:p>
            <a:pPr lvl="2"/>
            <a:r>
              <a:rPr lang="en-US" dirty="0"/>
              <a:t>A tool fails but the agent </a:t>
            </a:r>
            <a:r>
              <a:rPr lang="en-US" b="1" dirty="0"/>
              <a:t>doesn't recover</a:t>
            </a:r>
            <a:r>
              <a:rPr lang="en-US" dirty="0"/>
              <a:t>.</a:t>
            </a:r>
          </a:p>
          <a:p>
            <a:endParaRPr lang="en-IN" dirty="0"/>
          </a:p>
        </p:txBody>
      </p:sp>
    </p:spTree>
    <p:extLst>
      <p:ext uri="{BB962C8B-B14F-4D97-AF65-F5344CB8AC3E}">
        <p14:creationId xmlns:p14="http://schemas.microsoft.com/office/powerpoint/2010/main" val="4114690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15752-A1DF-CCA5-8FC1-45BAB9C11A67}"/>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1E6C629B-16AB-6473-5273-5378EA6CBEED}"/>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7400" b="1" kern="1200">
                <a:solidFill>
                  <a:srgbClr val="FFFFFF"/>
                </a:solidFill>
                <a:latin typeface="+mj-lt"/>
                <a:ea typeface="+mj-ea"/>
                <a:cs typeface="+mj-cs"/>
              </a:rPr>
              <a:t>Demo:</a:t>
            </a:r>
            <a:br>
              <a:rPr lang="en-US" sz="7400" b="1" kern="1200">
                <a:solidFill>
                  <a:srgbClr val="FFFFFF"/>
                </a:solidFill>
                <a:latin typeface="+mj-lt"/>
                <a:ea typeface="+mj-ea"/>
                <a:cs typeface="+mj-cs"/>
              </a:rPr>
            </a:br>
            <a:r>
              <a:rPr lang="en-US" sz="7400" b="1" kern="1200">
                <a:solidFill>
                  <a:srgbClr val="FFFFFF"/>
                </a:solidFill>
                <a:latin typeface="+mj-lt"/>
                <a:ea typeface="+mj-ea"/>
                <a:cs typeface="+mj-cs"/>
              </a:rPr>
              <a:t>Convert RAG Flow into a Simple Agent</a:t>
            </a:r>
          </a:p>
        </p:txBody>
      </p: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40"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74267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727D0D-C160-D699-3C9C-27B207C5A50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A2C03F7-DF13-E668-ACED-E1EF2E706D30}"/>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dirty="0">
                <a:solidFill>
                  <a:srgbClr val="FFFFFF"/>
                </a:solidFill>
              </a:rPr>
              <a:t>Agent Flow Design</a:t>
            </a:r>
            <a:endParaRPr lang="en-US" sz="8000" kern="1200" dirty="0">
              <a:solidFill>
                <a:srgbClr val="FFFFFF"/>
              </a:solidFill>
              <a:latin typeface="+mj-lt"/>
              <a:ea typeface="+mj-ea"/>
              <a:cs typeface="+mj-cs"/>
            </a:endParaRP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23777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82A7-C58D-7018-5D79-A617C89B1C46}"/>
              </a:ext>
            </a:extLst>
          </p:cNvPr>
          <p:cNvSpPr>
            <a:spLocks noGrp="1"/>
          </p:cNvSpPr>
          <p:nvPr>
            <p:ph type="title"/>
          </p:nvPr>
        </p:nvSpPr>
        <p:spPr>
          <a:xfrm>
            <a:off x="762000" y="1138265"/>
            <a:ext cx="5791199" cy="1401183"/>
          </a:xfrm>
        </p:spPr>
        <p:txBody>
          <a:bodyPr anchor="t">
            <a:normAutofit/>
          </a:bodyPr>
          <a:lstStyle/>
          <a:p>
            <a:r>
              <a:rPr lang="en-IN" sz="3200"/>
              <a:t>Step-by-Step Reasoning Flows</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32E5955-4D6B-AA7B-B1F4-87404B046895}"/>
              </a:ext>
            </a:extLst>
          </p:cNvPr>
          <p:cNvSpPr>
            <a:spLocks noGrp="1"/>
          </p:cNvSpPr>
          <p:nvPr>
            <p:ph idx="1"/>
          </p:nvPr>
        </p:nvSpPr>
        <p:spPr>
          <a:xfrm>
            <a:off x="762000" y="2551176"/>
            <a:ext cx="5791199" cy="3602935"/>
          </a:xfrm>
        </p:spPr>
        <p:txBody>
          <a:bodyPr>
            <a:normAutofit/>
          </a:bodyPr>
          <a:lstStyle/>
          <a:p>
            <a:r>
              <a:rPr lang="en-US" sz="2000" dirty="0"/>
              <a:t>Agents solve problems </a:t>
            </a:r>
            <a:r>
              <a:rPr lang="en-US" sz="2000" b="1" dirty="0"/>
              <a:t>one step at a time</a:t>
            </a:r>
            <a:r>
              <a:rPr lang="en-US" sz="2000" dirty="0"/>
              <a:t> instead of answering immediately.</a:t>
            </a:r>
          </a:p>
          <a:p>
            <a:r>
              <a:rPr lang="en-US" sz="2000" dirty="0"/>
              <a:t>Think of it as </a:t>
            </a:r>
            <a:r>
              <a:rPr lang="en-US" sz="2000" b="1" dirty="0"/>
              <a:t>investigation steps</a:t>
            </a:r>
            <a:r>
              <a:rPr lang="en-US" sz="2000" dirty="0"/>
              <a:t>.</a:t>
            </a:r>
          </a:p>
          <a:p>
            <a:r>
              <a:rPr lang="en-US" sz="2000" b="1" dirty="0"/>
              <a:t>Simple Flow:</a:t>
            </a:r>
          </a:p>
          <a:p>
            <a:r>
              <a:rPr lang="en-US" sz="2000" dirty="0"/>
              <a:t>This step-by-step process is often described as:</a:t>
            </a:r>
          </a:p>
          <a:p>
            <a:pPr marL="457200" lvl="1" indent="0">
              <a:buNone/>
            </a:pPr>
            <a:r>
              <a:rPr lang="en-US" sz="2000" dirty="0">
                <a:latin typeface="Cascadia Code" panose="020B0609020000020004" pitchFamily="49" charset="0"/>
                <a:cs typeface="Cascadia Code" panose="020B0609020000020004" pitchFamily="49" charset="0"/>
              </a:rPr>
              <a:t>Thought → Action → Observation</a:t>
            </a:r>
          </a:p>
          <a:p>
            <a:pPr lvl="1"/>
            <a:r>
              <a:rPr lang="en-US" sz="1600" dirty="0"/>
              <a:t>Meaning:</a:t>
            </a:r>
          </a:p>
          <a:p>
            <a:pPr lvl="2"/>
            <a:r>
              <a:rPr lang="en-US" sz="1200" b="1" dirty="0"/>
              <a:t>Thought</a:t>
            </a:r>
            <a:r>
              <a:rPr lang="en-US" sz="1200" dirty="0"/>
              <a:t> → what the agent decides</a:t>
            </a:r>
          </a:p>
          <a:p>
            <a:pPr lvl="2"/>
            <a:r>
              <a:rPr lang="en-US" sz="1200" b="1" dirty="0"/>
              <a:t>Action</a:t>
            </a:r>
            <a:r>
              <a:rPr lang="en-US" sz="1200" dirty="0"/>
              <a:t> → tool execution</a:t>
            </a:r>
          </a:p>
          <a:p>
            <a:pPr lvl="2"/>
            <a:r>
              <a:rPr lang="en-US" sz="1200" b="1" dirty="0"/>
              <a:t>Observation</a:t>
            </a:r>
            <a:r>
              <a:rPr lang="en-US" sz="1200" dirty="0"/>
              <a:t> → result from tool</a:t>
            </a:r>
          </a:p>
          <a:p>
            <a:endParaRPr lang="en-IN" sz="2000" dirty="0"/>
          </a:p>
        </p:txBody>
      </p:sp>
      <p:sp>
        <p:nvSpPr>
          <p:cNvPr id="12" name="Rectangle 11">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D0F366B-285E-7C02-2AF0-BB7D00130CBC}"/>
              </a:ext>
            </a:extLst>
          </p:cNvPr>
          <p:cNvPicPr>
            <a:picLocks noChangeAspect="1"/>
          </p:cNvPicPr>
          <p:nvPr/>
        </p:nvPicPr>
        <p:blipFill>
          <a:blip r:embed="rId2"/>
          <a:stretch>
            <a:fillRect/>
          </a:stretch>
        </p:blipFill>
        <p:spPr>
          <a:xfrm>
            <a:off x="8049626" y="842824"/>
            <a:ext cx="3401321" cy="5167037"/>
          </a:xfrm>
          <a:prstGeom prst="rect">
            <a:avLst/>
          </a:prstGeom>
        </p:spPr>
      </p:pic>
    </p:spTree>
    <p:extLst>
      <p:ext uri="{BB962C8B-B14F-4D97-AF65-F5344CB8AC3E}">
        <p14:creationId xmlns:p14="http://schemas.microsoft.com/office/powerpoint/2010/main" val="1274103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86EF9-3CC7-D3E3-4AB4-3D18708550BB}"/>
              </a:ext>
            </a:extLst>
          </p:cNvPr>
          <p:cNvSpPr>
            <a:spLocks noGrp="1"/>
          </p:cNvSpPr>
          <p:nvPr>
            <p:ph type="title"/>
          </p:nvPr>
        </p:nvSpPr>
        <p:spPr/>
        <p:txBody>
          <a:bodyPr/>
          <a:lstStyle/>
          <a:p>
            <a:r>
              <a:rPr lang="en-IN" dirty="0"/>
              <a:t>Tool Selection Logic</a:t>
            </a:r>
          </a:p>
        </p:txBody>
      </p:sp>
      <p:sp>
        <p:nvSpPr>
          <p:cNvPr id="3" name="Content Placeholder 2">
            <a:extLst>
              <a:ext uri="{FF2B5EF4-FFF2-40B4-BE49-F238E27FC236}">
                <a16:creationId xmlns:a16="http://schemas.microsoft.com/office/drawing/2014/main" id="{E3C7F6DC-1B50-17AA-F958-E637469638DD}"/>
              </a:ext>
            </a:extLst>
          </p:cNvPr>
          <p:cNvSpPr>
            <a:spLocks noGrp="1"/>
          </p:cNvSpPr>
          <p:nvPr>
            <p:ph idx="1"/>
          </p:nvPr>
        </p:nvSpPr>
        <p:spPr/>
        <p:txBody>
          <a:bodyPr>
            <a:normAutofit/>
          </a:bodyPr>
          <a:lstStyle/>
          <a:p>
            <a:r>
              <a:rPr lang="en-US" sz="2400" dirty="0"/>
              <a:t>The agent must decide </a:t>
            </a:r>
            <a:r>
              <a:rPr lang="en-US" sz="2400" b="1" dirty="0"/>
              <a:t>which tool to use</a:t>
            </a:r>
            <a:r>
              <a:rPr lang="en-US" sz="2400" dirty="0"/>
              <a:t>.</a:t>
            </a:r>
          </a:p>
          <a:p>
            <a:r>
              <a:rPr lang="en-US" sz="2400" dirty="0"/>
              <a:t>It does this by comparing the </a:t>
            </a:r>
            <a:r>
              <a:rPr lang="en-US" sz="2400" b="1" dirty="0"/>
              <a:t>user question</a:t>
            </a:r>
            <a:r>
              <a:rPr lang="en-US" sz="2400" dirty="0"/>
              <a:t> with the </a:t>
            </a:r>
            <a:r>
              <a:rPr lang="en-US" sz="2400" b="1" dirty="0"/>
              <a:t>tool descriptions</a:t>
            </a:r>
            <a:r>
              <a:rPr lang="en-US" sz="2400" dirty="0"/>
              <a:t>.</a:t>
            </a:r>
          </a:p>
          <a:p>
            <a:r>
              <a:rPr lang="en-US" sz="2400" dirty="0"/>
              <a:t>Example tools:</a:t>
            </a:r>
          </a:p>
          <a:p>
            <a:endParaRPr lang="en-IN" dirty="0"/>
          </a:p>
          <a:p>
            <a:endParaRPr lang="en-IN" dirty="0"/>
          </a:p>
          <a:p>
            <a:endParaRPr lang="en-IN" dirty="0"/>
          </a:p>
          <a:p>
            <a:pPr lvl="1"/>
            <a:r>
              <a:rPr lang="en-US" dirty="0"/>
              <a:t>If question involves data → use SQL</a:t>
            </a:r>
          </a:p>
          <a:p>
            <a:pPr lvl="1"/>
            <a:r>
              <a:rPr lang="en-US" dirty="0"/>
              <a:t>If question involves system behavior → analyze logs</a:t>
            </a:r>
          </a:p>
          <a:p>
            <a:pPr lvl="1"/>
            <a:r>
              <a:rPr lang="en-US" dirty="0"/>
              <a:t>If question asks "how to fix" → search documentation</a:t>
            </a:r>
            <a:endParaRPr lang="en-IN" dirty="0"/>
          </a:p>
        </p:txBody>
      </p:sp>
      <p:graphicFrame>
        <p:nvGraphicFramePr>
          <p:cNvPr id="14" name="Table 13">
            <a:extLst>
              <a:ext uri="{FF2B5EF4-FFF2-40B4-BE49-F238E27FC236}">
                <a16:creationId xmlns:a16="http://schemas.microsoft.com/office/drawing/2014/main" id="{A573F104-B422-A858-D22B-B431A18F2A4C}"/>
              </a:ext>
            </a:extLst>
          </p:cNvPr>
          <p:cNvGraphicFramePr>
            <a:graphicFrameLocks noGrp="1"/>
          </p:cNvGraphicFramePr>
          <p:nvPr>
            <p:extLst>
              <p:ext uri="{D42A27DB-BD31-4B8C-83A1-F6EECF244321}">
                <p14:modId xmlns:p14="http://schemas.microsoft.com/office/powerpoint/2010/main" val="504610603"/>
              </p:ext>
            </p:extLst>
          </p:nvPr>
        </p:nvGraphicFramePr>
        <p:xfrm>
          <a:off x="1148080" y="3086946"/>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37230276"/>
                    </a:ext>
                  </a:extLst>
                </a:gridCol>
                <a:gridCol w="4064000">
                  <a:extLst>
                    <a:ext uri="{9D8B030D-6E8A-4147-A177-3AD203B41FA5}">
                      <a16:colId xmlns:a16="http://schemas.microsoft.com/office/drawing/2014/main" val="833270302"/>
                    </a:ext>
                  </a:extLst>
                </a:gridCol>
              </a:tblGrid>
              <a:tr h="370840">
                <a:tc>
                  <a:txBody>
                    <a:bodyPr/>
                    <a:lstStyle/>
                    <a:p>
                      <a:r>
                        <a:rPr lang="en-US" dirty="0"/>
                        <a:t>Tool</a:t>
                      </a:r>
                      <a:endParaRPr lang="en-IN" dirty="0"/>
                    </a:p>
                  </a:txBody>
                  <a:tcPr/>
                </a:tc>
                <a:tc>
                  <a:txBody>
                    <a:bodyPr/>
                    <a:lstStyle/>
                    <a:p>
                      <a:r>
                        <a:rPr lang="en-US" dirty="0"/>
                        <a:t>Purpose</a:t>
                      </a:r>
                      <a:endParaRPr lang="en-IN" dirty="0"/>
                    </a:p>
                  </a:txBody>
                  <a:tcPr/>
                </a:tc>
                <a:extLst>
                  <a:ext uri="{0D108BD9-81ED-4DB2-BD59-A6C34878D82A}">
                    <a16:rowId xmlns:a16="http://schemas.microsoft.com/office/drawing/2014/main" val="3802689940"/>
                  </a:ext>
                </a:extLst>
              </a:tr>
              <a:tr h="370840">
                <a:tc>
                  <a:txBody>
                    <a:bodyPr/>
                    <a:lstStyle/>
                    <a:p>
                      <a:r>
                        <a:rPr lang="en-US" dirty="0"/>
                        <a:t>SQL tool</a:t>
                      </a:r>
                      <a:endParaRPr lang="en-IN" dirty="0"/>
                    </a:p>
                  </a:txBody>
                  <a:tcPr/>
                </a:tc>
                <a:tc>
                  <a:txBody>
                    <a:bodyPr/>
                    <a:lstStyle/>
                    <a:p>
                      <a:r>
                        <a:rPr lang="en-IN" dirty="0"/>
                        <a:t>Query incident database</a:t>
                      </a:r>
                    </a:p>
                  </a:txBody>
                  <a:tcPr/>
                </a:tc>
                <a:extLst>
                  <a:ext uri="{0D108BD9-81ED-4DB2-BD59-A6C34878D82A}">
                    <a16:rowId xmlns:a16="http://schemas.microsoft.com/office/drawing/2014/main" val="1142328970"/>
                  </a:ext>
                </a:extLst>
              </a:tr>
              <a:tr h="370840">
                <a:tc>
                  <a:txBody>
                    <a:bodyPr/>
                    <a:lstStyle/>
                    <a:p>
                      <a:r>
                        <a:rPr lang="en-US" dirty="0"/>
                        <a:t>Log analyzer</a:t>
                      </a:r>
                      <a:endParaRPr lang="en-IN" dirty="0"/>
                    </a:p>
                  </a:txBody>
                  <a:tcPr/>
                </a:tc>
                <a:tc>
                  <a:txBody>
                    <a:bodyPr/>
                    <a:lstStyle/>
                    <a:p>
                      <a:r>
                        <a:rPr lang="en-IN" dirty="0"/>
                        <a:t>Detect spikes in errors</a:t>
                      </a:r>
                    </a:p>
                  </a:txBody>
                  <a:tcPr/>
                </a:tc>
                <a:extLst>
                  <a:ext uri="{0D108BD9-81ED-4DB2-BD59-A6C34878D82A}">
                    <a16:rowId xmlns:a16="http://schemas.microsoft.com/office/drawing/2014/main" val="3598237533"/>
                  </a:ext>
                </a:extLst>
              </a:tr>
              <a:tr h="370840">
                <a:tc>
                  <a:txBody>
                    <a:bodyPr/>
                    <a:lstStyle/>
                    <a:p>
                      <a:r>
                        <a:rPr lang="en-US" dirty="0"/>
                        <a:t>RAG search</a:t>
                      </a:r>
                      <a:endParaRPr lang="en-IN" dirty="0"/>
                    </a:p>
                  </a:txBody>
                  <a:tcPr/>
                </a:tc>
                <a:tc>
                  <a:txBody>
                    <a:bodyPr/>
                    <a:lstStyle/>
                    <a:p>
                      <a:r>
                        <a:rPr lang="en-IN" dirty="0"/>
                        <a:t>Retrieve documentation</a:t>
                      </a:r>
                    </a:p>
                  </a:txBody>
                  <a:tcPr/>
                </a:tc>
                <a:extLst>
                  <a:ext uri="{0D108BD9-81ED-4DB2-BD59-A6C34878D82A}">
                    <a16:rowId xmlns:a16="http://schemas.microsoft.com/office/drawing/2014/main" val="471284253"/>
                  </a:ext>
                </a:extLst>
              </a:tr>
            </a:tbl>
          </a:graphicData>
        </a:graphic>
      </p:graphicFrame>
    </p:spTree>
    <p:extLst>
      <p:ext uri="{BB962C8B-B14F-4D97-AF65-F5344CB8AC3E}">
        <p14:creationId xmlns:p14="http://schemas.microsoft.com/office/powerpoint/2010/main" val="817869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9926-679B-4F77-85E9-DA7EA5C206F1}"/>
              </a:ext>
            </a:extLst>
          </p:cNvPr>
          <p:cNvSpPr>
            <a:spLocks noGrp="1"/>
          </p:cNvSpPr>
          <p:nvPr>
            <p:ph type="title"/>
          </p:nvPr>
        </p:nvSpPr>
        <p:spPr/>
        <p:txBody>
          <a:bodyPr/>
          <a:lstStyle/>
          <a:p>
            <a:r>
              <a:rPr lang="en-IN" dirty="0"/>
              <a:t>Managing Intermediate State</a:t>
            </a:r>
          </a:p>
        </p:txBody>
      </p:sp>
      <p:sp>
        <p:nvSpPr>
          <p:cNvPr id="3" name="Content Placeholder 2">
            <a:extLst>
              <a:ext uri="{FF2B5EF4-FFF2-40B4-BE49-F238E27FC236}">
                <a16:creationId xmlns:a16="http://schemas.microsoft.com/office/drawing/2014/main" id="{C2BFB210-E27C-B26E-4A9B-106979F3A623}"/>
              </a:ext>
            </a:extLst>
          </p:cNvPr>
          <p:cNvSpPr>
            <a:spLocks noGrp="1"/>
          </p:cNvSpPr>
          <p:nvPr>
            <p:ph idx="1"/>
          </p:nvPr>
        </p:nvSpPr>
        <p:spPr/>
        <p:txBody>
          <a:bodyPr>
            <a:normAutofit lnSpcReduction="10000"/>
          </a:bodyPr>
          <a:lstStyle/>
          <a:p>
            <a:r>
              <a:rPr lang="en-US" dirty="0"/>
              <a:t>Agents need to </a:t>
            </a:r>
            <a:r>
              <a:rPr lang="en-US" b="1" dirty="0"/>
              <a:t>remember results from previous steps</a:t>
            </a:r>
            <a:r>
              <a:rPr lang="en-US" dirty="0"/>
              <a:t>.</a:t>
            </a:r>
          </a:p>
          <a:p>
            <a:r>
              <a:rPr lang="en-US" dirty="0"/>
              <a:t>This is called </a:t>
            </a:r>
            <a:r>
              <a:rPr lang="en-US" b="1" dirty="0"/>
              <a:t>intermediate state</a:t>
            </a:r>
            <a:r>
              <a:rPr lang="en-US" dirty="0"/>
              <a:t>.</a:t>
            </a:r>
          </a:p>
          <a:p>
            <a:r>
              <a:rPr lang="en-US" dirty="0"/>
              <a:t>Example:</a:t>
            </a:r>
          </a:p>
          <a:p>
            <a:pPr marL="457200" lvl="1" indent="0">
              <a:buNone/>
            </a:pPr>
            <a:r>
              <a:rPr lang="en-US" dirty="0">
                <a:latin typeface="Cascadia Code" panose="020B0609020000020004" pitchFamily="49" charset="0"/>
                <a:cs typeface="Cascadia Code" panose="020B0609020000020004" pitchFamily="49" charset="0"/>
              </a:rPr>
              <a:t>Step 1 → SQL result</a:t>
            </a:r>
          </a:p>
          <a:p>
            <a:pPr marL="457200" lvl="1" indent="0">
              <a:buNone/>
            </a:pPr>
            <a:r>
              <a:rPr lang="en-US" dirty="0"/>
              <a:t>	</a:t>
            </a:r>
            <a:r>
              <a:rPr lang="en-US" dirty="0">
                <a:latin typeface="Cascadia Code" panose="020B0609020000020004" pitchFamily="49" charset="0"/>
                <a:cs typeface="Cascadia Code" panose="020B0609020000020004" pitchFamily="49" charset="0"/>
              </a:rPr>
              <a:t>"Login outage occurred at 10:15"</a:t>
            </a:r>
          </a:p>
          <a:p>
            <a:pPr marL="457200" lvl="1" indent="0">
              <a:buNone/>
            </a:pPr>
            <a:r>
              <a:rPr lang="en-US" dirty="0"/>
              <a:t>Next step uses that information:</a:t>
            </a:r>
          </a:p>
          <a:p>
            <a:pPr marL="457200" lvl="1" indent="0">
              <a:buNone/>
            </a:pPr>
            <a:r>
              <a:rPr lang="en-US" dirty="0">
                <a:latin typeface="Cascadia Code" panose="020B0609020000020004" pitchFamily="49" charset="0"/>
                <a:cs typeface="Cascadia Code" panose="020B0609020000020004" pitchFamily="49" charset="0"/>
              </a:rPr>
              <a:t>Step 2 → Analyze logs around 10:15</a:t>
            </a:r>
          </a:p>
          <a:p>
            <a:r>
              <a:rPr lang="en-US" dirty="0"/>
              <a:t>State is basically </a:t>
            </a:r>
            <a:r>
              <a:rPr lang="en-US" b="1" dirty="0"/>
              <a:t>temporary memory during reasoning</a:t>
            </a:r>
            <a:r>
              <a:rPr lang="en-US" dirty="0"/>
              <a:t>.</a:t>
            </a:r>
          </a:p>
          <a:p>
            <a:r>
              <a:rPr lang="en-US" dirty="0"/>
              <a:t>The agent uses these values to generate the final answer.</a:t>
            </a:r>
          </a:p>
          <a:p>
            <a:r>
              <a:rPr lang="en-US" dirty="0"/>
              <a:t>Without state, the agent would </a:t>
            </a:r>
            <a:r>
              <a:rPr lang="en-US" b="1" dirty="0"/>
              <a:t>forget earlier steps</a:t>
            </a:r>
            <a:r>
              <a:rPr lang="en-US" dirty="0"/>
              <a:t>.</a:t>
            </a:r>
          </a:p>
          <a:p>
            <a:endParaRPr lang="en-IN" dirty="0"/>
          </a:p>
        </p:txBody>
      </p:sp>
    </p:spTree>
    <p:extLst>
      <p:ext uri="{BB962C8B-B14F-4D97-AF65-F5344CB8AC3E}">
        <p14:creationId xmlns:p14="http://schemas.microsoft.com/office/powerpoint/2010/main" val="1268658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5C485-9C96-BC47-36E9-15E5D3011E2D}"/>
              </a:ext>
            </a:extLst>
          </p:cNvPr>
          <p:cNvSpPr>
            <a:spLocks noGrp="1"/>
          </p:cNvSpPr>
          <p:nvPr>
            <p:ph type="title"/>
          </p:nvPr>
        </p:nvSpPr>
        <p:spPr/>
        <p:txBody>
          <a:bodyPr/>
          <a:lstStyle/>
          <a:p>
            <a:r>
              <a:rPr lang="en-IN" dirty="0"/>
              <a:t>Handling Partial Failures</a:t>
            </a:r>
          </a:p>
        </p:txBody>
      </p:sp>
      <p:sp>
        <p:nvSpPr>
          <p:cNvPr id="3" name="Content Placeholder 2">
            <a:extLst>
              <a:ext uri="{FF2B5EF4-FFF2-40B4-BE49-F238E27FC236}">
                <a16:creationId xmlns:a16="http://schemas.microsoft.com/office/drawing/2014/main" id="{7CEBDD58-D83E-CD9C-5546-CE3FFA9F92E8}"/>
              </a:ext>
            </a:extLst>
          </p:cNvPr>
          <p:cNvSpPr>
            <a:spLocks noGrp="1"/>
          </p:cNvSpPr>
          <p:nvPr>
            <p:ph idx="1"/>
          </p:nvPr>
        </p:nvSpPr>
        <p:spPr>
          <a:xfrm>
            <a:off x="838200" y="1825625"/>
            <a:ext cx="5542280" cy="4351338"/>
          </a:xfrm>
        </p:spPr>
        <p:txBody>
          <a:bodyPr>
            <a:normAutofit lnSpcReduction="10000"/>
          </a:bodyPr>
          <a:lstStyle/>
          <a:p>
            <a:r>
              <a:rPr lang="en-US" sz="1800" dirty="0"/>
              <a:t>Sometimes a tool </a:t>
            </a:r>
            <a:r>
              <a:rPr lang="en-US" sz="1800" b="1" dirty="0"/>
              <a:t>fails or returns incomplete data</a:t>
            </a:r>
            <a:r>
              <a:rPr lang="en-US" sz="1800" dirty="0"/>
              <a:t>.</a:t>
            </a:r>
          </a:p>
          <a:p>
            <a:r>
              <a:rPr lang="en-US" sz="1800" dirty="0"/>
              <a:t>Good agents </a:t>
            </a:r>
            <a:r>
              <a:rPr lang="en-US" sz="1800" b="1" dirty="0"/>
              <a:t>recover instead of stopping</a:t>
            </a:r>
            <a:r>
              <a:rPr lang="en-US" sz="1800" dirty="0"/>
              <a:t>.</a:t>
            </a:r>
          </a:p>
          <a:p>
            <a:r>
              <a:rPr lang="en-US" sz="1800" dirty="0"/>
              <a:t>Example failure:</a:t>
            </a:r>
          </a:p>
          <a:p>
            <a:pPr marL="457200" lvl="1" indent="0">
              <a:buNone/>
            </a:pPr>
            <a:r>
              <a:rPr lang="en-US" sz="1200" dirty="0">
                <a:latin typeface="Cascadia Code" panose="020B0609020000020004" pitchFamily="49" charset="0"/>
                <a:cs typeface="Cascadia Code" panose="020B0609020000020004" pitchFamily="49" charset="0"/>
              </a:rPr>
              <a:t>SQL query fails</a:t>
            </a:r>
          </a:p>
          <a:p>
            <a:r>
              <a:rPr lang="en-US" sz="1800" dirty="0"/>
              <a:t>Agent options:</a:t>
            </a:r>
          </a:p>
          <a:p>
            <a:pPr marL="457200" lvl="1" indent="0">
              <a:buNone/>
            </a:pPr>
            <a:r>
              <a:rPr lang="en-US" sz="1200" dirty="0">
                <a:latin typeface="Cascadia Code" panose="020B0609020000020004" pitchFamily="49" charset="0"/>
                <a:cs typeface="Cascadia Code" panose="020B0609020000020004" pitchFamily="49" charset="0"/>
              </a:rPr>
              <a:t>Retry SQL</a:t>
            </a:r>
          </a:p>
          <a:p>
            <a:pPr marL="457200" lvl="1" indent="0">
              <a:buNone/>
            </a:pPr>
            <a:r>
              <a:rPr lang="en-US" sz="1200" dirty="0">
                <a:latin typeface="Cascadia Code" panose="020B0609020000020004" pitchFamily="49" charset="0"/>
                <a:cs typeface="Cascadia Code" panose="020B0609020000020004" pitchFamily="49" charset="0"/>
              </a:rPr>
              <a:t>Or</a:t>
            </a:r>
          </a:p>
          <a:p>
            <a:pPr marL="457200" lvl="1" indent="0">
              <a:buNone/>
            </a:pPr>
            <a:r>
              <a:rPr lang="en-US" sz="1200" dirty="0">
                <a:latin typeface="Cascadia Code" panose="020B0609020000020004" pitchFamily="49" charset="0"/>
                <a:cs typeface="Cascadia Code" panose="020B0609020000020004" pitchFamily="49" charset="0"/>
              </a:rPr>
              <a:t>Use logs instead</a:t>
            </a:r>
          </a:p>
          <a:p>
            <a:r>
              <a:rPr lang="en-US" sz="1800" dirty="0"/>
              <a:t>Another example:</a:t>
            </a:r>
          </a:p>
          <a:p>
            <a:pPr marL="457200" lvl="1" indent="0">
              <a:buNone/>
            </a:pPr>
            <a:r>
              <a:rPr lang="en-US" sz="1600" dirty="0">
                <a:latin typeface="Cascadia Code" panose="020B0609020000020004" pitchFamily="49" charset="0"/>
                <a:cs typeface="Cascadia Code" panose="020B0609020000020004" pitchFamily="49" charset="0"/>
              </a:rPr>
              <a:t>Log analyzer returns partial results</a:t>
            </a:r>
          </a:p>
          <a:p>
            <a:pPr lvl="1"/>
            <a:r>
              <a:rPr lang="en-US" sz="1600" dirty="0"/>
              <a:t>Agent can still continue:</a:t>
            </a:r>
          </a:p>
          <a:p>
            <a:pPr marL="457200" lvl="1" indent="0">
              <a:buNone/>
            </a:pPr>
            <a:r>
              <a:rPr lang="en-US" sz="1600" dirty="0">
                <a:latin typeface="Cascadia Code" panose="020B0609020000020004" pitchFamily="49" charset="0"/>
                <a:cs typeface="Cascadia Code" panose="020B0609020000020004" pitchFamily="49" charset="0"/>
              </a:rPr>
              <a:t>Use available data</a:t>
            </a:r>
          </a:p>
          <a:p>
            <a:pPr marL="457200" lvl="1" indent="0">
              <a:buNone/>
            </a:pPr>
            <a:r>
              <a:rPr lang="en-US" sz="1600" dirty="0">
                <a:latin typeface="Cascadia Code" panose="020B0609020000020004" pitchFamily="49" charset="0"/>
                <a:cs typeface="Cascadia Code" panose="020B0609020000020004" pitchFamily="49" charset="0"/>
              </a:rPr>
              <a:t>Search documentation</a:t>
            </a:r>
          </a:p>
          <a:p>
            <a:pPr marL="457200" lvl="1" indent="0">
              <a:buNone/>
            </a:pPr>
            <a:r>
              <a:rPr lang="en-US" sz="1600" dirty="0">
                <a:latin typeface="Cascadia Code" panose="020B0609020000020004" pitchFamily="49" charset="0"/>
                <a:cs typeface="Cascadia Code" panose="020B0609020000020004" pitchFamily="49" charset="0"/>
              </a:rPr>
              <a:t>Generate best explanation</a:t>
            </a:r>
          </a:p>
          <a:p>
            <a:r>
              <a:rPr lang="en-US" sz="1800" dirty="0"/>
              <a:t>This is called </a:t>
            </a:r>
            <a:r>
              <a:rPr lang="en-US" sz="1800" b="1" dirty="0"/>
              <a:t>graceful degradation</a:t>
            </a:r>
            <a:r>
              <a:rPr lang="en-US" sz="1800" dirty="0"/>
              <a:t>.</a:t>
            </a:r>
          </a:p>
        </p:txBody>
      </p:sp>
      <p:sp>
        <p:nvSpPr>
          <p:cNvPr id="6" name="Content Placeholder 2">
            <a:extLst>
              <a:ext uri="{FF2B5EF4-FFF2-40B4-BE49-F238E27FC236}">
                <a16:creationId xmlns:a16="http://schemas.microsoft.com/office/drawing/2014/main" id="{B5457186-2EAE-18C2-727C-7F086DDDBCBA}"/>
              </a:ext>
            </a:extLst>
          </p:cNvPr>
          <p:cNvSpPr txBox="1">
            <a:spLocks/>
          </p:cNvSpPr>
          <p:nvPr/>
        </p:nvSpPr>
        <p:spPr>
          <a:xfrm>
            <a:off x="6380480" y="1825625"/>
            <a:ext cx="5125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Meaning:</a:t>
            </a:r>
          </a:p>
          <a:p>
            <a:pPr lvl="1"/>
            <a:r>
              <a:rPr lang="en-US" sz="1400" dirty="0"/>
              <a:t>Even if one step fails, the system still produces an answer.</a:t>
            </a:r>
          </a:p>
          <a:p>
            <a:r>
              <a:rPr lang="en-US" sz="1800" dirty="0"/>
              <a:t>Example workflow:</a:t>
            </a:r>
          </a:p>
          <a:p>
            <a:pPr marL="457200" lvl="1" indent="0">
              <a:buNone/>
            </a:pPr>
            <a:r>
              <a:rPr lang="en-US" sz="1400" dirty="0">
                <a:latin typeface="Cascadia Code" panose="020B0609020000020004" pitchFamily="49" charset="0"/>
                <a:cs typeface="Cascadia Code" panose="020B0609020000020004" pitchFamily="49" charset="0"/>
              </a:rPr>
              <a:t>Step 1 → SQL query (failed)</a:t>
            </a:r>
          </a:p>
          <a:p>
            <a:pPr marL="457200" lvl="1" indent="0">
              <a:buNone/>
            </a:pPr>
            <a:r>
              <a:rPr lang="en-US" sz="1400" dirty="0">
                <a:latin typeface="Cascadia Code" panose="020B0609020000020004" pitchFamily="49" charset="0"/>
                <a:cs typeface="Cascadia Code" panose="020B0609020000020004" pitchFamily="49" charset="0"/>
              </a:rPr>
              <a:t>Step 2 → Retry</a:t>
            </a:r>
          </a:p>
          <a:p>
            <a:pPr marL="457200" lvl="1" indent="0">
              <a:buNone/>
            </a:pPr>
            <a:r>
              <a:rPr lang="en-US" sz="1400" dirty="0">
                <a:latin typeface="Cascadia Code" panose="020B0609020000020004" pitchFamily="49" charset="0"/>
                <a:cs typeface="Cascadia Code" panose="020B0609020000020004" pitchFamily="49" charset="0"/>
              </a:rPr>
              <a:t>Step 3 → Log analysis</a:t>
            </a:r>
          </a:p>
          <a:p>
            <a:pPr marL="457200" lvl="1" indent="0">
              <a:buNone/>
            </a:pPr>
            <a:r>
              <a:rPr lang="en-US" sz="1400" dirty="0">
                <a:latin typeface="Cascadia Code" panose="020B0609020000020004" pitchFamily="49" charset="0"/>
                <a:cs typeface="Cascadia Code" panose="020B0609020000020004" pitchFamily="49" charset="0"/>
              </a:rPr>
              <a:t>Step 4 → Generate answer</a:t>
            </a:r>
          </a:p>
        </p:txBody>
      </p:sp>
    </p:spTree>
    <p:extLst>
      <p:ext uri="{BB962C8B-B14F-4D97-AF65-F5344CB8AC3E}">
        <p14:creationId xmlns:p14="http://schemas.microsoft.com/office/powerpoint/2010/main" val="423281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E5C0FF-0F4E-FAC6-6CDF-AE45C2CCE118}"/>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12701C2-8497-1C6C-EF39-94E31A15226B}"/>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7400" b="1" kern="1200" dirty="0">
                <a:solidFill>
                  <a:srgbClr val="FFFFFF"/>
                </a:solidFill>
                <a:latin typeface="+mj-lt"/>
                <a:ea typeface="+mj-ea"/>
                <a:cs typeface="+mj-cs"/>
              </a:rPr>
              <a:t>Demo:</a:t>
            </a:r>
            <a:br>
              <a:rPr lang="en-US" sz="7400" b="1" kern="1200" dirty="0">
                <a:solidFill>
                  <a:srgbClr val="FFFFFF"/>
                </a:solidFill>
                <a:latin typeface="+mj-lt"/>
                <a:ea typeface="+mj-ea"/>
                <a:cs typeface="+mj-cs"/>
              </a:rPr>
            </a:br>
            <a:r>
              <a:rPr lang="en-US" sz="7400" b="1" kern="1200" dirty="0">
                <a:solidFill>
                  <a:srgbClr val="FFFFFF"/>
                </a:solidFill>
                <a:latin typeface="+mj-lt"/>
                <a:ea typeface="+mj-ea"/>
                <a:cs typeface="+mj-cs"/>
              </a:rPr>
              <a:t>Build a multi-step agent workflow</a:t>
            </a:r>
          </a:p>
        </p:txBody>
      </p: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40"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82006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451049-0CF2-7C84-C5D7-31919455307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3452C65-D395-0B25-1242-861D2C2AFD10}"/>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dirty="0">
                <a:solidFill>
                  <a:srgbClr val="FFFFFF"/>
                </a:solidFill>
                <a:latin typeface="+mj-lt"/>
                <a:ea typeface="+mj-ea"/>
                <a:cs typeface="+mj-cs"/>
              </a:rPr>
              <a:t>Tool Calling in Agents</a:t>
            </a: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76050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6DCDC4-7D28-E962-53EF-FED5C7C77034}"/>
              </a:ext>
            </a:extLst>
          </p:cNvPr>
          <p:cNvSpPr>
            <a:spLocks noGrp="1"/>
          </p:cNvSpPr>
          <p:nvPr>
            <p:ph type="title"/>
          </p:nvPr>
        </p:nvSpPr>
        <p:spPr>
          <a:xfrm>
            <a:off x="838200" y="3513931"/>
            <a:ext cx="3143250" cy="2601119"/>
          </a:xfrm>
        </p:spPr>
        <p:txBody>
          <a:bodyPr anchor="t">
            <a:normAutofit/>
          </a:bodyPr>
          <a:lstStyle/>
          <a:p>
            <a:pPr algn="ctr"/>
            <a:r>
              <a:rPr lang="en-IN" sz="4000"/>
              <a:t>API Calls as Tools</a:t>
            </a:r>
          </a:p>
        </p:txBody>
      </p:sp>
      <p:pic>
        <p:nvPicPr>
          <p:cNvPr id="7" name="Graphic 6" descr="Laptop Secure">
            <a:extLst>
              <a:ext uri="{FF2B5EF4-FFF2-40B4-BE49-F238E27FC236}">
                <a16:creationId xmlns:a16="http://schemas.microsoft.com/office/drawing/2014/main" id="{50CCF240-A63D-A079-8DFB-D306BBBACF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EF91ECA8-078B-2586-EE25-DF2B8F146B68}"/>
              </a:ext>
            </a:extLst>
          </p:cNvPr>
          <p:cNvSpPr>
            <a:spLocks noGrp="1"/>
          </p:cNvSpPr>
          <p:nvPr>
            <p:ph idx="1"/>
          </p:nvPr>
        </p:nvSpPr>
        <p:spPr>
          <a:xfrm>
            <a:off x="4200652" y="730249"/>
            <a:ext cx="7153147" cy="5384801"/>
          </a:xfrm>
        </p:spPr>
        <p:txBody>
          <a:bodyPr anchor="ctr">
            <a:normAutofit/>
          </a:bodyPr>
          <a:lstStyle/>
          <a:p>
            <a:r>
              <a:rPr lang="en-US" sz="1700"/>
              <a:t>Agents often use </a:t>
            </a:r>
            <a:r>
              <a:rPr lang="en-US" sz="1700" b="1"/>
              <a:t>APIs to interact with external systems</a:t>
            </a:r>
            <a:r>
              <a:rPr lang="en-US" sz="1700"/>
              <a:t>.</a:t>
            </a:r>
          </a:p>
          <a:p>
            <a:r>
              <a:rPr lang="en-US" sz="1700"/>
              <a:t>An </a:t>
            </a:r>
            <a:r>
              <a:rPr lang="en-US" sz="1700" b="1"/>
              <a:t>API</a:t>
            </a:r>
            <a:r>
              <a:rPr lang="en-US" sz="1700"/>
              <a:t> is simply a way for software to </a:t>
            </a:r>
            <a:r>
              <a:rPr lang="en-US" sz="1700" b="1"/>
              <a:t>request information or perform actions</a:t>
            </a:r>
            <a:r>
              <a:rPr lang="en-US" sz="1700"/>
              <a:t>.</a:t>
            </a:r>
          </a:p>
          <a:p>
            <a:r>
              <a:rPr lang="en-US" sz="1700"/>
              <a:t>Example:</a:t>
            </a:r>
          </a:p>
          <a:p>
            <a:pPr marL="457200" lvl="1" indent="0">
              <a:buNone/>
            </a:pPr>
            <a:r>
              <a:rPr lang="en-US" sz="1700">
                <a:latin typeface="Cascadia Code" panose="020B0609020000020004" pitchFamily="49" charset="0"/>
                <a:cs typeface="Cascadia Code" panose="020B0609020000020004" pitchFamily="49" charset="0"/>
              </a:rPr>
              <a:t>Agent → API → System → Result</a:t>
            </a:r>
          </a:p>
          <a:p>
            <a:endParaRPr lang="en-US" sz="1700"/>
          </a:p>
          <a:p>
            <a:r>
              <a:rPr lang="en-US" sz="1700"/>
              <a:t>Example question:</a:t>
            </a:r>
          </a:p>
          <a:p>
            <a:pPr marL="457200" lvl="1" indent="0">
              <a:buNone/>
            </a:pPr>
            <a:r>
              <a:rPr lang="en-US" sz="1700">
                <a:latin typeface="Cascadia Code" panose="020B0609020000020004" pitchFamily="49" charset="0"/>
                <a:cs typeface="Cascadia Code" panose="020B0609020000020004" pitchFamily="49" charset="0"/>
              </a:rPr>
              <a:t>User: What is the current server status?</a:t>
            </a:r>
          </a:p>
          <a:p>
            <a:r>
              <a:rPr lang="en-US" sz="1700"/>
              <a:t>Agent may call:</a:t>
            </a:r>
          </a:p>
          <a:p>
            <a:pPr marL="457200" lvl="1" indent="0">
              <a:buNone/>
            </a:pPr>
            <a:r>
              <a:rPr lang="en-US" sz="1700">
                <a:latin typeface="Cascadia Code" panose="020B0609020000020004" pitchFamily="49" charset="0"/>
                <a:cs typeface="Cascadia Code" panose="020B0609020000020004" pitchFamily="49" charset="0"/>
              </a:rPr>
              <a:t>GET /server-status</a:t>
            </a:r>
          </a:p>
          <a:p>
            <a:r>
              <a:rPr lang="en-US" sz="1700"/>
              <a:t>Result returned:</a:t>
            </a:r>
          </a:p>
          <a:p>
            <a:pPr marL="457200" lvl="1" indent="0">
              <a:buNone/>
            </a:pPr>
            <a:r>
              <a:rPr lang="en-US" sz="1700">
                <a:latin typeface="Cascadia Code" panose="020B0609020000020004" pitchFamily="49" charset="0"/>
                <a:cs typeface="Cascadia Code" panose="020B0609020000020004" pitchFamily="49" charset="0"/>
              </a:rPr>
              <a:t>CPU: 70%</a:t>
            </a:r>
          </a:p>
          <a:p>
            <a:pPr marL="457200" lvl="1" indent="0">
              <a:buNone/>
            </a:pPr>
            <a:r>
              <a:rPr lang="en-US" sz="1700">
                <a:latin typeface="Cascadia Code" panose="020B0609020000020004" pitchFamily="49" charset="0"/>
                <a:cs typeface="Cascadia Code" panose="020B0609020000020004" pitchFamily="49" charset="0"/>
              </a:rPr>
              <a:t>Errors: 3</a:t>
            </a:r>
          </a:p>
          <a:p>
            <a:r>
              <a:rPr lang="en-US" sz="1700"/>
              <a:t>The agent then uses this information to generate an answer.</a:t>
            </a:r>
          </a:p>
          <a:p>
            <a:r>
              <a:rPr lang="en-US" sz="1700" b="1"/>
              <a:t>Simple idea</a:t>
            </a:r>
            <a:endParaRPr lang="en-US" sz="1700"/>
          </a:p>
          <a:p>
            <a:pPr marL="457200" lvl="1" indent="0">
              <a:buNone/>
            </a:pPr>
            <a:r>
              <a:rPr lang="en-US" sz="1700">
                <a:latin typeface="Cascadia Code" panose="020B0609020000020004" pitchFamily="49" charset="0"/>
                <a:cs typeface="Cascadia Code" panose="020B0609020000020004" pitchFamily="49" charset="0"/>
              </a:rPr>
              <a:t>API = a doorway to another system</a:t>
            </a:r>
          </a:p>
          <a:p>
            <a:endParaRPr lang="en-IN" sz="1700"/>
          </a:p>
        </p:txBody>
      </p:sp>
    </p:spTree>
    <p:extLst>
      <p:ext uri="{BB962C8B-B14F-4D97-AF65-F5344CB8AC3E}">
        <p14:creationId xmlns:p14="http://schemas.microsoft.com/office/powerpoint/2010/main" val="573688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FA526-FF30-91F3-2961-16C51BA65930}"/>
              </a:ext>
            </a:extLst>
          </p:cNvPr>
          <p:cNvSpPr>
            <a:spLocks noGrp="1"/>
          </p:cNvSpPr>
          <p:nvPr>
            <p:ph type="title"/>
          </p:nvPr>
        </p:nvSpPr>
        <p:spPr>
          <a:xfrm>
            <a:off x="838200" y="3513931"/>
            <a:ext cx="3143250" cy="2601119"/>
          </a:xfrm>
        </p:spPr>
        <p:txBody>
          <a:bodyPr anchor="t">
            <a:normAutofit/>
          </a:bodyPr>
          <a:lstStyle/>
          <a:p>
            <a:pPr algn="ctr"/>
            <a:r>
              <a:rPr lang="en-IN" sz="4000" dirty="0"/>
              <a:t>Internal Service Calls</a:t>
            </a:r>
          </a:p>
        </p:txBody>
      </p:sp>
      <p:pic>
        <p:nvPicPr>
          <p:cNvPr id="7" name="Graphic 6" descr="Laptop Secure">
            <a:extLst>
              <a:ext uri="{FF2B5EF4-FFF2-40B4-BE49-F238E27FC236}">
                <a16:creationId xmlns:a16="http://schemas.microsoft.com/office/drawing/2014/main" id="{F7F39ED7-657E-8776-B08A-0E001F7923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EFFD07C2-834E-0C46-73BB-E39A6B4734F9}"/>
              </a:ext>
            </a:extLst>
          </p:cNvPr>
          <p:cNvSpPr>
            <a:spLocks noGrp="1"/>
          </p:cNvSpPr>
          <p:nvPr>
            <p:ph idx="1"/>
          </p:nvPr>
        </p:nvSpPr>
        <p:spPr>
          <a:xfrm>
            <a:off x="4200652" y="730249"/>
            <a:ext cx="7153147" cy="5384801"/>
          </a:xfrm>
        </p:spPr>
        <p:txBody>
          <a:bodyPr anchor="ctr">
            <a:normAutofit/>
          </a:bodyPr>
          <a:lstStyle/>
          <a:p>
            <a:r>
              <a:rPr lang="en-US" sz="1700" dirty="0"/>
              <a:t>Sometimes the agent calls </a:t>
            </a:r>
            <a:r>
              <a:rPr lang="en-US" sz="1700" b="1" dirty="0"/>
              <a:t>services inside the same system</a:t>
            </a:r>
            <a:r>
              <a:rPr lang="en-US" sz="1700" dirty="0"/>
              <a:t> instead of external APIs.</a:t>
            </a:r>
          </a:p>
          <a:p>
            <a:r>
              <a:rPr lang="en-US" sz="1700" dirty="0"/>
              <a:t>These are called </a:t>
            </a:r>
            <a:r>
              <a:rPr lang="en-US" sz="1700" b="1" dirty="0"/>
              <a:t>internal services</a:t>
            </a:r>
            <a:r>
              <a:rPr lang="en-US" sz="1700" dirty="0"/>
              <a:t>.</a:t>
            </a:r>
          </a:p>
          <a:p>
            <a:endParaRPr lang="en-US" sz="1700" dirty="0"/>
          </a:p>
          <a:p>
            <a:r>
              <a:rPr lang="en-US" sz="1700" dirty="0"/>
              <a:t>Example architecture:</a:t>
            </a:r>
          </a:p>
          <a:p>
            <a:pPr marL="457200" lvl="1" indent="0">
              <a:buNone/>
            </a:pPr>
            <a:r>
              <a:rPr lang="en-US" sz="1700" dirty="0">
                <a:latin typeface="Cascadia Code" panose="020B0609020000020004" pitchFamily="49" charset="0"/>
                <a:cs typeface="Cascadia Code" panose="020B0609020000020004" pitchFamily="49" charset="0"/>
              </a:rPr>
              <a:t>Agent</a:t>
            </a:r>
            <a:br>
              <a:rPr lang="en-US" sz="1700" dirty="0">
                <a:latin typeface="Cascadia Code" panose="020B0609020000020004" pitchFamily="49" charset="0"/>
                <a:cs typeface="Cascadia Code" panose="020B0609020000020004" pitchFamily="49" charset="0"/>
              </a:rPr>
            </a:br>
            <a:r>
              <a:rPr lang="en-US" sz="1700" dirty="0">
                <a:latin typeface="Cascadia Code" panose="020B0609020000020004" pitchFamily="49" charset="0"/>
                <a:cs typeface="Cascadia Code" panose="020B0609020000020004" pitchFamily="49" charset="0"/>
              </a:rPr>
              <a:t>  ↓</a:t>
            </a:r>
            <a:br>
              <a:rPr lang="en-US" sz="1700" dirty="0">
                <a:latin typeface="Cascadia Code" panose="020B0609020000020004" pitchFamily="49" charset="0"/>
                <a:cs typeface="Cascadia Code" panose="020B0609020000020004" pitchFamily="49" charset="0"/>
              </a:rPr>
            </a:br>
            <a:r>
              <a:rPr lang="en-US" sz="1700" dirty="0">
                <a:latin typeface="Cascadia Code" panose="020B0609020000020004" pitchFamily="49" charset="0"/>
                <a:cs typeface="Cascadia Code" panose="020B0609020000020004" pitchFamily="49" charset="0"/>
              </a:rPr>
              <a:t>Internal Service</a:t>
            </a:r>
            <a:br>
              <a:rPr lang="en-US" sz="1700" dirty="0">
                <a:latin typeface="Cascadia Code" panose="020B0609020000020004" pitchFamily="49" charset="0"/>
                <a:cs typeface="Cascadia Code" panose="020B0609020000020004" pitchFamily="49" charset="0"/>
              </a:rPr>
            </a:br>
            <a:r>
              <a:rPr lang="en-US" sz="1700" dirty="0">
                <a:latin typeface="Cascadia Code" panose="020B0609020000020004" pitchFamily="49" charset="0"/>
                <a:cs typeface="Cascadia Code" panose="020B0609020000020004" pitchFamily="49" charset="0"/>
              </a:rPr>
              <a:t>  ↓</a:t>
            </a:r>
            <a:br>
              <a:rPr lang="en-US" sz="1700" dirty="0">
                <a:latin typeface="Cascadia Code" panose="020B0609020000020004" pitchFamily="49" charset="0"/>
                <a:cs typeface="Cascadia Code" panose="020B0609020000020004" pitchFamily="49" charset="0"/>
              </a:rPr>
            </a:br>
            <a:r>
              <a:rPr lang="en-US" sz="1700" dirty="0">
                <a:latin typeface="Cascadia Code" panose="020B0609020000020004" pitchFamily="49" charset="0"/>
                <a:cs typeface="Cascadia Code" panose="020B0609020000020004" pitchFamily="49" charset="0"/>
              </a:rPr>
              <a:t>Database / Logs</a:t>
            </a:r>
          </a:p>
          <a:p>
            <a:r>
              <a:rPr lang="en-US" sz="1700" dirty="0"/>
              <a:t>Example services:</a:t>
            </a:r>
          </a:p>
          <a:p>
            <a:pPr lvl="1"/>
            <a:r>
              <a:rPr lang="en-US" sz="1700" dirty="0">
                <a:latin typeface="Cascadia Code" panose="020B0609020000020004" pitchFamily="49" charset="0"/>
                <a:cs typeface="Cascadia Code" panose="020B0609020000020004" pitchFamily="49" charset="0"/>
              </a:rPr>
              <a:t>incident lookup service</a:t>
            </a:r>
          </a:p>
          <a:p>
            <a:pPr lvl="1"/>
            <a:r>
              <a:rPr lang="en-US" sz="1700" dirty="0">
                <a:latin typeface="Cascadia Code" panose="020B0609020000020004" pitchFamily="49" charset="0"/>
                <a:cs typeface="Cascadia Code" panose="020B0609020000020004" pitchFamily="49" charset="0"/>
              </a:rPr>
              <a:t>log analysis service</a:t>
            </a:r>
          </a:p>
          <a:p>
            <a:pPr lvl="1"/>
            <a:r>
              <a:rPr lang="en-US" sz="1700" dirty="0">
                <a:latin typeface="Cascadia Code" panose="020B0609020000020004" pitchFamily="49" charset="0"/>
                <a:cs typeface="Cascadia Code" panose="020B0609020000020004" pitchFamily="49" charset="0"/>
              </a:rPr>
              <a:t>monitoring service</a:t>
            </a:r>
          </a:p>
          <a:p>
            <a:r>
              <a:rPr lang="en-US" sz="1700" dirty="0"/>
              <a:t>Example:</a:t>
            </a:r>
          </a:p>
          <a:p>
            <a:pPr marL="457200" lvl="1" indent="0">
              <a:buNone/>
            </a:pPr>
            <a:r>
              <a:rPr lang="en-US" sz="1700" dirty="0">
                <a:latin typeface="Cascadia Code" panose="020B0609020000020004" pitchFamily="49" charset="0"/>
                <a:cs typeface="Cascadia Code" panose="020B0609020000020004" pitchFamily="49" charset="0"/>
              </a:rPr>
              <a:t>Agent → Log Analysis Service → Error spike detected</a:t>
            </a:r>
          </a:p>
          <a:p>
            <a:r>
              <a:rPr lang="en-US" sz="1700" dirty="0"/>
              <a:t>These services are usually </a:t>
            </a:r>
            <a:r>
              <a:rPr lang="en-US" sz="1700" b="1" dirty="0"/>
              <a:t>faster and more secure</a:t>
            </a:r>
            <a:r>
              <a:rPr lang="en-US" sz="1700" dirty="0"/>
              <a:t> than external APIs.</a:t>
            </a:r>
          </a:p>
          <a:p>
            <a:endParaRPr lang="en-IN" sz="1700" dirty="0"/>
          </a:p>
        </p:txBody>
      </p:sp>
    </p:spTree>
    <p:extLst>
      <p:ext uri="{BB962C8B-B14F-4D97-AF65-F5344CB8AC3E}">
        <p14:creationId xmlns:p14="http://schemas.microsoft.com/office/powerpoint/2010/main" val="1993439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5AA077-5001-A436-CCEF-C8F10B35EE8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C85030-8059-2F9F-01A5-178DB07C73E1}"/>
              </a:ext>
            </a:extLst>
          </p:cNvPr>
          <p:cNvSpPr>
            <a:spLocks noGrp="1"/>
          </p:cNvSpPr>
          <p:nvPr>
            <p:ph type="title"/>
          </p:nvPr>
        </p:nvSpPr>
        <p:spPr>
          <a:xfrm>
            <a:off x="838200" y="3513931"/>
            <a:ext cx="3143250" cy="2601119"/>
          </a:xfrm>
        </p:spPr>
        <p:txBody>
          <a:bodyPr anchor="t">
            <a:normAutofit/>
          </a:bodyPr>
          <a:lstStyle/>
          <a:p>
            <a:pPr algn="ctr"/>
            <a:r>
              <a:rPr lang="en-IN" sz="4000" dirty="0"/>
              <a:t>Data Retrieval as Tools</a:t>
            </a:r>
          </a:p>
        </p:txBody>
      </p:sp>
      <p:pic>
        <p:nvPicPr>
          <p:cNvPr id="7" name="Graphic 6" descr="Laptop Secure">
            <a:extLst>
              <a:ext uri="{FF2B5EF4-FFF2-40B4-BE49-F238E27FC236}">
                <a16:creationId xmlns:a16="http://schemas.microsoft.com/office/drawing/2014/main" id="{0CE3A935-CCAB-3F89-84F0-3105A835D5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D7540EBE-1A0C-60B2-0BA1-A7A8A91C1862}"/>
              </a:ext>
            </a:extLst>
          </p:cNvPr>
          <p:cNvSpPr>
            <a:spLocks noGrp="1"/>
          </p:cNvSpPr>
          <p:nvPr>
            <p:ph idx="1"/>
          </p:nvPr>
        </p:nvSpPr>
        <p:spPr>
          <a:xfrm>
            <a:off x="4200652" y="730249"/>
            <a:ext cx="7153147" cy="5384801"/>
          </a:xfrm>
        </p:spPr>
        <p:txBody>
          <a:bodyPr anchor="ctr">
            <a:normAutofit/>
          </a:bodyPr>
          <a:lstStyle/>
          <a:p>
            <a:r>
              <a:rPr lang="en-US" sz="1800" dirty="0"/>
              <a:t>Many tools are simply used to </a:t>
            </a:r>
            <a:r>
              <a:rPr lang="en-US" sz="1800" b="1" dirty="0"/>
              <a:t>retrieve data</a:t>
            </a:r>
            <a:r>
              <a:rPr lang="en-US" sz="1800" dirty="0"/>
              <a:t>.</a:t>
            </a:r>
          </a:p>
          <a:p>
            <a:r>
              <a:rPr lang="en-US" sz="1800" dirty="0"/>
              <a:t>Example question:</a:t>
            </a:r>
          </a:p>
          <a:p>
            <a:pPr marL="457200" lvl="1" indent="0">
              <a:buNone/>
            </a:pPr>
            <a:r>
              <a:rPr lang="en-US" sz="1800" dirty="0">
                <a:latin typeface="Cascadia Code" panose="020B0609020000020004" pitchFamily="49" charset="0"/>
                <a:cs typeface="Cascadia Code" panose="020B0609020000020004" pitchFamily="49" charset="0"/>
              </a:rPr>
              <a:t>Did errors increase after the login outage?</a:t>
            </a:r>
          </a:p>
          <a:p>
            <a:r>
              <a:rPr lang="en-US" sz="1800" dirty="0"/>
              <a:t>Agent may retrieve:</a:t>
            </a:r>
          </a:p>
          <a:p>
            <a:pPr marL="457200" lvl="1" indent="0">
              <a:buNone/>
            </a:pPr>
            <a:r>
              <a:rPr lang="en-US" sz="1800" dirty="0">
                <a:latin typeface="Cascadia Code" panose="020B0609020000020004" pitchFamily="49" charset="0"/>
                <a:cs typeface="Cascadia Code" panose="020B0609020000020004" pitchFamily="49" charset="0"/>
              </a:rPr>
              <a:t>SQL → incident data</a:t>
            </a:r>
            <a:br>
              <a:rPr lang="en-US" sz="1800" dirty="0">
                <a:latin typeface="Cascadia Code" panose="020B0609020000020004" pitchFamily="49" charset="0"/>
                <a:cs typeface="Cascadia Code" panose="020B0609020000020004" pitchFamily="49" charset="0"/>
              </a:rPr>
            </a:br>
            <a:r>
              <a:rPr lang="en-US" sz="1800" dirty="0">
                <a:latin typeface="Cascadia Code" panose="020B0609020000020004" pitchFamily="49" charset="0"/>
                <a:cs typeface="Cascadia Code" panose="020B0609020000020004" pitchFamily="49" charset="0"/>
              </a:rPr>
              <a:t>Logs → error count</a:t>
            </a:r>
            <a:br>
              <a:rPr lang="en-US" sz="1800" dirty="0">
                <a:latin typeface="Cascadia Code" panose="020B0609020000020004" pitchFamily="49" charset="0"/>
                <a:cs typeface="Cascadia Code" panose="020B0609020000020004" pitchFamily="49" charset="0"/>
              </a:rPr>
            </a:br>
            <a:r>
              <a:rPr lang="en-US" sz="1800" dirty="0">
                <a:latin typeface="Cascadia Code" panose="020B0609020000020004" pitchFamily="49" charset="0"/>
                <a:cs typeface="Cascadia Code" panose="020B0609020000020004" pitchFamily="49" charset="0"/>
              </a:rPr>
              <a:t>Docs → runbook</a:t>
            </a:r>
          </a:p>
          <a:p>
            <a:endParaRPr lang="en-US" sz="1800" dirty="0"/>
          </a:p>
          <a:p>
            <a:endParaRPr lang="en-US" sz="1800" dirty="0"/>
          </a:p>
          <a:p>
            <a:endParaRPr lang="en-US" sz="1800" dirty="0"/>
          </a:p>
          <a:p>
            <a:r>
              <a:rPr lang="en-US" sz="1800" dirty="0"/>
              <a:t>The agent </a:t>
            </a:r>
            <a:r>
              <a:rPr lang="en-US" sz="1800" b="1" dirty="0"/>
              <a:t>collects the data first</a:t>
            </a:r>
            <a:r>
              <a:rPr lang="en-US" sz="1800" dirty="0"/>
              <a:t>, then generates the final answer.</a:t>
            </a:r>
          </a:p>
          <a:p>
            <a:r>
              <a:rPr lang="en-US" sz="1800" dirty="0"/>
              <a:t>So, the pattern is:</a:t>
            </a:r>
          </a:p>
          <a:p>
            <a:pPr marL="457200" lvl="1" indent="0">
              <a:buNone/>
            </a:pPr>
            <a:r>
              <a:rPr lang="en-US" sz="1800" dirty="0">
                <a:latin typeface="Cascadia Code" panose="020B0609020000020004" pitchFamily="49" charset="0"/>
                <a:cs typeface="Cascadia Code" panose="020B0609020000020004" pitchFamily="49" charset="0"/>
              </a:rPr>
              <a:t>Retrieve data → Analyze → Answer</a:t>
            </a:r>
          </a:p>
          <a:p>
            <a:endParaRPr lang="en-IN" sz="1800" dirty="0"/>
          </a:p>
        </p:txBody>
      </p:sp>
      <p:graphicFrame>
        <p:nvGraphicFramePr>
          <p:cNvPr id="4" name="Table 3">
            <a:extLst>
              <a:ext uri="{FF2B5EF4-FFF2-40B4-BE49-F238E27FC236}">
                <a16:creationId xmlns:a16="http://schemas.microsoft.com/office/drawing/2014/main" id="{AABAC7E0-523A-6A75-6D4B-C13C29711E04}"/>
              </a:ext>
            </a:extLst>
          </p:cNvPr>
          <p:cNvGraphicFramePr>
            <a:graphicFrameLocks noGrp="1"/>
          </p:cNvGraphicFramePr>
          <p:nvPr>
            <p:extLst>
              <p:ext uri="{D42A27DB-BD31-4B8C-83A1-F6EECF244321}">
                <p14:modId xmlns:p14="http://schemas.microsoft.com/office/powerpoint/2010/main" val="3273592314"/>
              </p:ext>
            </p:extLst>
          </p:nvPr>
        </p:nvGraphicFramePr>
        <p:xfrm>
          <a:off x="7690104" y="2429670"/>
          <a:ext cx="3663695" cy="1646115"/>
        </p:xfrm>
        <a:graphic>
          <a:graphicData uri="http://schemas.openxmlformats.org/drawingml/2006/table">
            <a:tbl>
              <a:tblPr firstRow="1" bandRow="1">
                <a:tableStyleId>{5C22544A-7EE6-4342-B048-85BDC9FD1C3A}</a:tableStyleId>
              </a:tblPr>
              <a:tblGrid>
                <a:gridCol w="1642105">
                  <a:extLst>
                    <a:ext uri="{9D8B030D-6E8A-4147-A177-3AD203B41FA5}">
                      <a16:colId xmlns:a16="http://schemas.microsoft.com/office/drawing/2014/main" val="3137230276"/>
                    </a:ext>
                  </a:extLst>
                </a:gridCol>
                <a:gridCol w="2021590">
                  <a:extLst>
                    <a:ext uri="{9D8B030D-6E8A-4147-A177-3AD203B41FA5}">
                      <a16:colId xmlns:a16="http://schemas.microsoft.com/office/drawing/2014/main" val="833270302"/>
                    </a:ext>
                  </a:extLst>
                </a:gridCol>
              </a:tblGrid>
              <a:tr h="407905">
                <a:tc>
                  <a:txBody>
                    <a:bodyPr/>
                    <a:lstStyle/>
                    <a:p>
                      <a:r>
                        <a:rPr lang="en-US" sz="1100" b="1" cap="all" spc="60" dirty="0">
                          <a:solidFill>
                            <a:schemeClr val="bg1"/>
                          </a:solidFill>
                        </a:rPr>
                        <a:t>Tool</a:t>
                      </a:r>
                      <a:endParaRPr lang="en-IN" sz="1100" b="1" cap="all" spc="60" dirty="0">
                        <a:solidFill>
                          <a:schemeClr val="bg1"/>
                        </a:solidFill>
                      </a:endParaRPr>
                    </a:p>
                  </a:txBody>
                  <a:tcPr marL="183400" marR="183400" marT="183400" marB="183400"/>
                </a:tc>
                <a:tc>
                  <a:txBody>
                    <a:bodyPr/>
                    <a:lstStyle/>
                    <a:p>
                      <a:r>
                        <a:rPr lang="en-US" sz="1100" b="1" cap="all" spc="60" dirty="0">
                          <a:solidFill>
                            <a:schemeClr val="bg1"/>
                          </a:solidFill>
                        </a:rPr>
                        <a:t>Purpose</a:t>
                      </a:r>
                      <a:endParaRPr lang="en-IN" sz="1100" b="1" cap="all" spc="60" dirty="0">
                        <a:solidFill>
                          <a:schemeClr val="bg1"/>
                        </a:solidFill>
                      </a:endParaRPr>
                    </a:p>
                  </a:txBody>
                  <a:tcPr marL="183400" marR="183400" marT="183400" marB="183400"/>
                </a:tc>
                <a:extLst>
                  <a:ext uri="{0D108BD9-81ED-4DB2-BD59-A6C34878D82A}">
                    <a16:rowId xmlns:a16="http://schemas.microsoft.com/office/drawing/2014/main" val="3802689940"/>
                  </a:ext>
                </a:extLst>
              </a:tr>
              <a:tr h="305755">
                <a:tc>
                  <a:txBody>
                    <a:bodyPr/>
                    <a:lstStyle/>
                    <a:p>
                      <a:r>
                        <a:rPr lang="en-US" sz="1200" cap="none" spc="0" dirty="0">
                          <a:solidFill>
                            <a:schemeClr val="tx1"/>
                          </a:solidFill>
                        </a:rPr>
                        <a:t>SQL tool</a:t>
                      </a:r>
                      <a:endParaRPr lang="en-IN" sz="1200" cap="none" spc="0" dirty="0">
                        <a:solidFill>
                          <a:schemeClr val="tx1"/>
                        </a:solidFill>
                      </a:endParaRPr>
                    </a:p>
                  </a:txBody>
                  <a:tcPr marL="122267" marR="122267" marT="61133" marB="122267"/>
                </a:tc>
                <a:tc>
                  <a:txBody>
                    <a:bodyPr/>
                    <a:lstStyle/>
                    <a:p>
                      <a:r>
                        <a:rPr lang="en-IN" sz="1200" cap="none" spc="0" dirty="0">
                          <a:solidFill>
                            <a:schemeClr val="tx1"/>
                          </a:solidFill>
                        </a:rPr>
                        <a:t>Query incident database</a:t>
                      </a:r>
                    </a:p>
                  </a:txBody>
                  <a:tcPr marL="122267" marR="122267" marT="61133" marB="122267"/>
                </a:tc>
                <a:extLst>
                  <a:ext uri="{0D108BD9-81ED-4DB2-BD59-A6C34878D82A}">
                    <a16:rowId xmlns:a16="http://schemas.microsoft.com/office/drawing/2014/main" val="1142328970"/>
                  </a:ext>
                </a:extLst>
              </a:tr>
              <a:tr h="305755">
                <a:tc>
                  <a:txBody>
                    <a:bodyPr/>
                    <a:lstStyle/>
                    <a:p>
                      <a:r>
                        <a:rPr lang="en-US" sz="1200" cap="none" spc="0" dirty="0">
                          <a:solidFill>
                            <a:schemeClr val="tx1"/>
                          </a:solidFill>
                        </a:rPr>
                        <a:t>Log analyzer</a:t>
                      </a:r>
                      <a:endParaRPr lang="en-IN" sz="1200" cap="none" spc="0" dirty="0">
                        <a:solidFill>
                          <a:schemeClr val="tx1"/>
                        </a:solidFill>
                      </a:endParaRPr>
                    </a:p>
                  </a:txBody>
                  <a:tcPr marL="122267" marR="122267" marT="61133" marB="122267"/>
                </a:tc>
                <a:tc>
                  <a:txBody>
                    <a:bodyPr/>
                    <a:lstStyle/>
                    <a:p>
                      <a:r>
                        <a:rPr lang="en-IN" sz="1200" cap="none" spc="0">
                          <a:solidFill>
                            <a:schemeClr val="tx1"/>
                          </a:solidFill>
                        </a:rPr>
                        <a:t>Detect spikes in errors</a:t>
                      </a:r>
                    </a:p>
                  </a:txBody>
                  <a:tcPr marL="122267" marR="122267" marT="61133" marB="122267"/>
                </a:tc>
                <a:extLst>
                  <a:ext uri="{0D108BD9-81ED-4DB2-BD59-A6C34878D82A}">
                    <a16:rowId xmlns:a16="http://schemas.microsoft.com/office/drawing/2014/main" val="3598237533"/>
                  </a:ext>
                </a:extLst>
              </a:tr>
              <a:tr h="379115">
                <a:tc>
                  <a:txBody>
                    <a:bodyPr/>
                    <a:lstStyle/>
                    <a:p>
                      <a:r>
                        <a:rPr lang="en-US" sz="1200" cap="none" spc="0" dirty="0">
                          <a:solidFill>
                            <a:schemeClr val="tx1"/>
                          </a:solidFill>
                        </a:rPr>
                        <a:t>RAG search</a:t>
                      </a:r>
                      <a:endParaRPr lang="en-IN" sz="1200" cap="none" spc="0" dirty="0">
                        <a:solidFill>
                          <a:schemeClr val="tx1"/>
                        </a:solidFill>
                      </a:endParaRPr>
                    </a:p>
                  </a:txBody>
                  <a:tcPr marL="122267" marR="122267" marT="61133" marB="122267"/>
                </a:tc>
                <a:tc>
                  <a:txBody>
                    <a:bodyPr/>
                    <a:lstStyle/>
                    <a:p>
                      <a:r>
                        <a:rPr lang="en-IN" sz="1200" cap="none" spc="0" dirty="0">
                          <a:solidFill>
                            <a:schemeClr val="tx1"/>
                          </a:solidFill>
                        </a:rPr>
                        <a:t>Retrieve documentation</a:t>
                      </a:r>
                    </a:p>
                  </a:txBody>
                  <a:tcPr marL="122267" marR="122267" marT="61133" marB="122267"/>
                </a:tc>
                <a:extLst>
                  <a:ext uri="{0D108BD9-81ED-4DB2-BD59-A6C34878D82A}">
                    <a16:rowId xmlns:a16="http://schemas.microsoft.com/office/drawing/2014/main" val="471284253"/>
                  </a:ext>
                </a:extLst>
              </a:tr>
            </a:tbl>
          </a:graphicData>
        </a:graphic>
      </p:graphicFrame>
    </p:spTree>
    <p:extLst>
      <p:ext uri="{BB962C8B-B14F-4D97-AF65-F5344CB8AC3E}">
        <p14:creationId xmlns:p14="http://schemas.microsoft.com/office/powerpoint/2010/main" val="2641915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D0E7-1CED-9213-0997-1034F9F7A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EE683-6CB5-E8EE-77A7-F83259345418}"/>
              </a:ext>
            </a:extLst>
          </p:cNvPr>
          <p:cNvSpPr>
            <a:spLocks noGrp="1"/>
          </p:cNvSpPr>
          <p:nvPr>
            <p:ph type="title"/>
          </p:nvPr>
        </p:nvSpPr>
        <p:spPr>
          <a:xfrm>
            <a:off x="838200" y="3513931"/>
            <a:ext cx="3143250" cy="2601119"/>
          </a:xfrm>
        </p:spPr>
        <p:txBody>
          <a:bodyPr anchor="t">
            <a:normAutofit/>
          </a:bodyPr>
          <a:lstStyle/>
          <a:p>
            <a:pPr algn="ctr"/>
            <a:r>
              <a:rPr lang="en-US" sz="4000" dirty="0"/>
              <a:t>Retry and Fallback Logic for Tools</a:t>
            </a:r>
            <a:endParaRPr lang="en-IN" sz="4000" dirty="0"/>
          </a:p>
        </p:txBody>
      </p:sp>
      <p:pic>
        <p:nvPicPr>
          <p:cNvPr id="7" name="Graphic 6" descr="Laptop Secure">
            <a:extLst>
              <a:ext uri="{FF2B5EF4-FFF2-40B4-BE49-F238E27FC236}">
                <a16:creationId xmlns:a16="http://schemas.microsoft.com/office/drawing/2014/main" id="{BE76088E-3A66-38D4-5DB0-FF278EFECD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A9D6CEA3-C1A9-7429-5344-0DB1FCE839BD}"/>
              </a:ext>
            </a:extLst>
          </p:cNvPr>
          <p:cNvSpPr>
            <a:spLocks noGrp="1"/>
          </p:cNvSpPr>
          <p:nvPr>
            <p:ph idx="1"/>
          </p:nvPr>
        </p:nvSpPr>
        <p:spPr>
          <a:xfrm>
            <a:off x="4200652" y="730249"/>
            <a:ext cx="7153147" cy="5384801"/>
          </a:xfrm>
        </p:spPr>
        <p:txBody>
          <a:bodyPr anchor="ctr">
            <a:normAutofit/>
          </a:bodyPr>
          <a:lstStyle/>
          <a:p>
            <a:r>
              <a:rPr lang="en-US" dirty="0"/>
              <a:t>Tools do not always work perfectly.</a:t>
            </a:r>
          </a:p>
          <a:p>
            <a:r>
              <a:rPr lang="en-US" dirty="0"/>
              <a:t>Agents need </a:t>
            </a:r>
            <a:r>
              <a:rPr lang="en-US" b="1" dirty="0"/>
              <a:t>retry and fallback logic</a:t>
            </a:r>
            <a:r>
              <a:rPr lang="en-US" dirty="0"/>
              <a:t>.</a:t>
            </a:r>
          </a:p>
          <a:p>
            <a:r>
              <a:rPr lang="en-US" b="1" dirty="0"/>
              <a:t>Retry</a:t>
            </a:r>
          </a:p>
          <a:p>
            <a:pPr lvl="1"/>
            <a:r>
              <a:rPr lang="en-US" dirty="0"/>
              <a:t>If a tool fails, the agent can </a:t>
            </a:r>
            <a:r>
              <a:rPr lang="en-US" b="1" dirty="0"/>
              <a:t>try again</a:t>
            </a:r>
            <a:r>
              <a:rPr lang="en-US" dirty="0"/>
              <a:t>.</a:t>
            </a:r>
          </a:p>
          <a:p>
            <a:r>
              <a:rPr lang="en-US" b="1" dirty="0"/>
              <a:t>Fallback</a:t>
            </a:r>
          </a:p>
          <a:p>
            <a:pPr lvl="1"/>
            <a:r>
              <a:rPr lang="en-US" dirty="0"/>
              <a:t>If the tool still fails, the agent can </a:t>
            </a:r>
            <a:r>
              <a:rPr lang="en-US" b="1" dirty="0"/>
              <a:t>use another tool</a:t>
            </a:r>
            <a:r>
              <a:rPr lang="en-US" dirty="0"/>
              <a:t>.</a:t>
            </a:r>
          </a:p>
          <a:p>
            <a:endParaRPr lang="en-IN" dirty="0"/>
          </a:p>
        </p:txBody>
      </p:sp>
    </p:spTree>
    <p:extLst>
      <p:ext uri="{BB962C8B-B14F-4D97-AF65-F5344CB8AC3E}">
        <p14:creationId xmlns:p14="http://schemas.microsoft.com/office/powerpoint/2010/main" val="1738535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429695-DE12-6ED4-62E5-28D9D4483FE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E9D852D-3403-60FF-3236-791DD7DEE28E}"/>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7400" b="1" kern="1200" dirty="0">
                <a:solidFill>
                  <a:srgbClr val="FFFFFF"/>
                </a:solidFill>
                <a:latin typeface="+mj-lt"/>
                <a:ea typeface="+mj-ea"/>
                <a:cs typeface="+mj-cs"/>
              </a:rPr>
              <a:t>Demo:</a:t>
            </a:r>
            <a:br>
              <a:rPr lang="en-US" sz="7400" b="1" kern="1200" dirty="0">
                <a:solidFill>
                  <a:srgbClr val="FFFFFF"/>
                </a:solidFill>
                <a:latin typeface="+mj-lt"/>
                <a:ea typeface="+mj-ea"/>
                <a:cs typeface="+mj-cs"/>
              </a:rPr>
            </a:br>
            <a:r>
              <a:rPr lang="en-US" sz="7400" b="1" kern="1200" dirty="0">
                <a:solidFill>
                  <a:srgbClr val="FFFFFF"/>
                </a:solidFill>
                <a:latin typeface="+mj-lt"/>
                <a:ea typeface="+mj-ea"/>
                <a:cs typeface="+mj-cs"/>
              </a:rPr>
              <a:t>Tool Failure &amp; Fallback Handling</a:t>
            </a: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68633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1398</TotalTime>
  <Words>1389</Words>
  <Application>Microsoft Office PowerPoint</Application>
  <PresentationFormat>Widescreen</PresentationFormat>
  <Paragraphs>258</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Cascadia Code</vt:lpstr>
      <vt:lpstr>Office Theme</vt:lpstr>
      <vt:lpstr>Agentic Workflows</vt:lpstr>
      <vt:lpstr>Agent Fundamentals</vt:lpstr>
      <vt:lpstr>What an Agent Is?</vt:lpstr>
      <vt:lpstr>Agent Components</vt:lpstr>
      <vt:lpstr>Agent Components</vt:lpstr>
      <vt:lpstr>Agent Components</vt:lpstr>
      <vt:lpstr>Chain vs Agent Decision Criteria</vt:lpstr>
      <vt:lpstr>Chain vs Agent Decision Criteria</vt:lpstr>
      <vt:lpstr>Chain vs Agent Decision Criteria</vt:lpstr>
      <vt:lpstr>When Agents Add Value vs Overcomplicate Systems</vt:lpstr>
      <vt:lpstr>When Agents Add Value vs Overcomplicate Systems</vt:lpstr>
      <vt:lpstr>When Agents Add Value vs Overcomplicate Systems</vt:lpstr>
      <vt:lpstr>When Agents Overcomplicate Systems</vt:lpstr>
      <vt:lpstr>When Agents Overcomplicate Systems</vt:lpstr>
      <vt:lpstr>Common Agent Failure Patterns</vt:lpstr>
      <vt:lpstr>Demo: Convert RAG Flow into a Simple Agent</vt:lpstr>
      <vt:lpstr>Agent Flow Design</vt:lpstr>
      <vt:lpstr>Step-by-Step Reasoning Flows</vt:lpstr>
      <vt:lpstr>Tool Selection Logic</vt:lpstr>
      <vt:lpstr>Managing Intermediate State</vt:lpstr>
      <vt:lpstr>Handling Partial Failures</vt:lpstr>
      <vt:lpstr>Demo: Build a multi-step agent workflow</vt:lpstr>
      <vt:lpstr>Tool Calling in Agents</vt:lpstr>
      <vt:lpstr>API Calls as Tools</vt:lpstr>
      <vt:lpstr>Internal Service Calls</vt:lpstr>
      <vt:lpstr>Data Retrieval as Tools</vt:lpstr>
      <vt:lpstr>Retry and Fallback Logic for Tools</vt:lpstr>
      <vt:lpstr>Demo: Tool Failure &amp; Fallback Handling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Singala</dc:creator>
  <cp:lastModifiedBy>Ajay Singala</cp:lastModifiedBy>
  <cp:revision>33</cp:revision>
  <dcterms:created xsi:type="dcterms:W3CDTF">2026-03-04T12:28:10Z</dcterms:created>
  <dcterms:modified xsi:type="dcterms:W3CDTF">2026-04-18T12:41:14Z</dcterms:modified>
</cp:coreProperties>
</file>