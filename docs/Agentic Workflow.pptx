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39"/>
  </p:notesMasterIdLst>
  <p:sldIdLst>
    <p:sldId id="256" r:id="rId2"/>
    <p:sldId id="290" r:id="rId3"/>
    <p:sldId id="291" r:id="rId4"/>
    <p:sldId id="289" r:id="rId5"/>
    <p:sldId id="293" r:id="rId6"/>
    <p:sldId id="294" r:id="rId7"/>
    <p:sldId id="292" r:id="rId8"/>
    <p:sldId id="295" r:id="rId9"/>
    <p:sldId id="296" r:id="rId10"/>
    <p:sldId id="297" r:id="rId11"/>
    <p:sldId id="298" r:id="rId12"/>
    <p:sldId id="257" r:id="rId13"/>
    <p:sldId id="258" r:id="rId14"/>
    <p:sldId id="259" r:id="rId15"/>
    <p:sldId id="260" r:id="rId16"/>
    <p:sldId id="261" r:id="rId17"/>
    <p:sldId id="262" r:id="rId18"/>
    <p:sldId id="263" r:id="rId19"/>
    <p:sldId id="264" r:id="rId20"/>
    <p:sldId id="265" r:id="rId21"/>
    <p:sldId id="266" r:id="rId22"/>
    <p:sldId id="267" r:id="rId23"/>
    <p:sldId id="268" r:id="rId24"/>
    <p:sldId id="269" r:id="rId25"/>
    <p:sldId id="274" r:id="rId26"/>
    <p:sldId id="273" r:id="rId27"/>
    <p:sldId id="271" r:id="rId28"/>
    <p:sldId id="275" r:id="rId29"/>
    <p:sldId id="276" r:id="rId30"/>
    <p:sldId id="277" r:id="rId31"/>
    <p:sldId id="278" r:id="rId32"/>
    <p:sldId id="279" r:id="rId33"/>
    <p:sldId id="280" r:id="rId34"/>
    <p:sldId id="281" r:id="rId35"/>
    <p:sldId id="287" r:id="rId36"/>
    <p:sldId id="285" r:id="rId37"/>
    <p:sldId id="284" r:id="rId38"/>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8EC20E35-A176-4012-BC5E-935CFFF8708E}" styleName="Medium Style 3">
    <a:wholeTbl>
      <a:tcTxStyle>
        <a:fontRef idx="minor"/>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dk1"/>
          </a:solidFill>
        </a:fill>
      </a:tcStyle>
    </a:lastCol>
    <a:firstCol>
      <a:tcTxStyle b="on">
        <a:fontRef idx="minor">
          <a:scrgbClr r="0" g="0" b="0"/>
        </a:fontRef>
        <a:schemeClr val="lt1"/>
      </a:tcTxStyle>
      <a:tcStyle>
        <a:tcBdr/>
        <a:fill>
          <a:solidFill>
            <a:schemeClr val="dk1"/>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dk1"/>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3C2FFA5D-87B4-456A-9821-1D502468CF0F}" styleName="Themed Style 1 - Accent 1">
    <a:tblBg>
      <a:fillRef idx="2">
        <a:schemeClr val="accent1"/>
      </a:fillRef>
      <a:effectRef idx="1">
        <a:schemeClr val="accent1"/>
      </a:effectRef>
    </a:tblBg>
    <a:wholeTbl>
      <a:tcTxStyle>
        <a:fontRef idx="minor">
          <a:scrgbClr r="0" g="0" b="0"/>
        </a:fontRef>
        <a:schemeClr val="dk1"/>
      </a:tcTxStyle>
      <a:tcStyle>
        <a:tcBdr>
          <a:left>
            <a:lnRef idx="1">
              <a:schemeClr val="accent1"/>
            </a:lnRef>
          </a:left>
          <a:right>
            <a:lnRef idx="1">
              <a:schemeClr val="accent1"/>
            </a:lnRef>
          </a:right>
          <a:top>
            <a:lnRef idx="1">
              <a:schemeClr val="accent1"/>
            </a:lnRef>
          </a:top>
          <a:bottom>
            <a:lnRef idx="1">
              <a:schemeClr val="accent1"/>
            </a:lnRef>
          </a:bottom>
          <a:insideH>
            <a:lnRef idx="1">
              <a:schemeClr val="accent1"/>
            </a:lnRef>
          </a:insideH>
          <a:insideV>
            <a:lnRef idx="1">
              <a:schemeClr val="accent1"/>
            </a:lnRef>
          </a:insideV>
        </a:tcBdr>
        <a:fill>
          <a:noFill/>
        </a:fill>
      </a:tcStyle>
    </a:wholeTbl>
    <a:band1H>
      <a:tcStyle>
        <a:tcBdr/>
        <a:fill>
          <a:solidFill>
            <a:schemeClr val="accent1">
              <a:alpha val="40000"/>
            </a:schemeClr>
          </a:solidFill>
        </a:fill>
      </a:tcStyle>
    </a:band1H>
    <a:band2H>
      <a:tcStyle>
        <a:tcBdr/>
      </a:tcStyle>
    </a:band2H>
    <a:band1V>
      <a:tcStyle>
        <a:tcBdr>
          <a:top>
            <a:lnRef idx="1">
              <a:schemeClr val="accent1"/>
            </a:lnRef>
          </a:top>
          <a:bottom>
            <a:lnRef idx="1">
              <a:schemeClr val="accent1"/>
            </a:lnRef>
          </a:bottom>
        </a:tcBdr>
        <a:fill>
          <a:solidFill>
            <a:schemeClr val="accent1">
              <a:alpha val="40000"/>
            </a:schemeClr>
          </a:solidFill>
        </a:fill>
      </a:tcStyle>
    </a:band1V>
    <a:band2V>
      <a:tcStyle>
        <a:tcBdr/>
      </a:tcStyle>
    </a:band2V>
    <a:lastCol>
      <a:tcTxStyle b="on"/>
      <a:tcStyle>
        <a:tcBdr>
          <a:left>
            <a:lnRef idx="2">
              <a:schemeClr val="accent1"/>
            </a:lnRef>
          </a:left>
          <a:right>
            <a:lnRef idx="1">
              <a:schemeClr val="accent1"/>
            </a:lnRef>
          </a:right>
          <a:top>
            <a:lnRef idx="1">
              <a:schemeClr val="accent1"/>
            </a:lnRef>
          </a:top>
          <a:bottom>
            <a:lnRef idx="1">
              <a:schemeClr val="accent1"/>
            </a:lnRef>
          </a:bottom>
          <a:insideH>
            <a:lnRef idx="1">
              <a:schemeClr val="accent1"/>
            </a:lnRef>
          </a:insideH>
          <a:insideV>
            <a:ln>
              <a:noFill/>
            </a:ln>
          </a:insideV>
        </a:tcBdr>
      </a:tcStyle>
    </a:lastCol>
    <a:firstCol>
      <a:tcTxStyle b="on"/>
      <a:tcStyle>
        <a:tcBdr>
          <a:left>
            <a:lnRef idx="1">
              <a:schemeClr val="accent1"/>
            </a:lnRef>
          </a:left>
          <a:right>
            <a:lnRef idx="2">
              <a:schemeClr val="accent1"/>
            </a:lnRef>
          </a:right>
          <a:top>
            <a:lnRef idx="1">
              <a:schemeClr val="accent1"/>
            </a:lnRef>
          </a:top>
          <a:bottom>
            <a:lnRef idx="1">
              <a:schemeClr val="accent1"/>
            </a:lnRef>
          </a:bottom>
          <a:insideH>
            <a:lnRef idx="1">
              <a:schemeClr val="accent1"/>
            </a:lnRef>
          </a:insideH>
          <a:insideV>
            <a:ln>
              <a:noFill/>
            </a:ln>
          </a:insideV>
        </a:tcBdr>
      </a:tcStyle>
    </a:firstCol>
    <a:lastRow>
      <a:tcTxStyle b="on"/>
      <a:tcStyle>
        <a:tcBdr>
          <a:left>
            <a:lnRef idx="1">
              <a:schemeClr val="accent1"/>
            </a:lnRef>
          </a:left>
          <a:right>
            <a:lnRef idx="1">
              <a:schemeClr val="accent1"/>
            </a:lnRef>
          </a:right>
          <a:top>
            <a:lnRef idx="2">
              <a:schemeClr val="accent1"/>
            </a:lnRef>
          </a:top>
          <a:bottom>
            <a:lnRef idx="2">
              <a:schemeClr val="accent1"/>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1"/>
            </a:lnRef>
          </a:left>
          <a:right>
            <a:lnRef idx="1">
              <a:schemeClr val="accent1"/>
            </a:lnRef>
          </a:right>
          <a:top>
            <a:lnRef idx="1">
              <a:schemeClr val="accent1"/>
            </a:lnRef>
          </a:top>
          <a:bottom>
            <a:lnRef idx="2">
              <a:schemeClr val="lt1"/>
            </a:lnRef>
          </a:bottom>
          <a:insideH>
            <a:ln>
              <a:noFill/>
            </a:ln>
          </a:insideH>
          <a:insideV>
            <a:ln>
              <a:noFill/>
            </a:ln>
          </a:insideV>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987" autoAdjust="0"/>
    <p:restoredTop sz="94660"/>
  </p:normalViewPr>
  <p:slideViewPr>
    <p:cSldViewPr snapToGrid="0">
      <p:cViewPr varScale="1">
        <p:scale>
          <a:sx n="84" d="100"/>
          <a:sy n="84" d="100"/>
        </p:scale>
        <p:origin x="538" y="67"/>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notesMaster" Target="notesMasters/notesMaster1.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theme" Target="theme/theme1.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41"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presProps" Target="pres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tableStyles" Target="tableStyles.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IN"/>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13F0E123-830F-4F13-B070-4F6CC6E94308}" type="datetimeFigureOut">
              <a:rPr lang="en-IN" smtClean="0"/>
              <a:t>11-06-2026</a:t>
            </a:fld>
            <a:endParaRPr lang="en-IN"/>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IN"/>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IN"/>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87EA5A4B-5DCB-4B46-8220-911D188235E1}" type="slidenum">
              <a:rPr lang="en-IN" smtClean="0"/>
              <a:t>‹#›</a:t>
            </a:fld>
            <a:endParaRPr lang="en-IN"/>
          </a:p>
        </p:txBody>
      </p:sp>
    </p:spTree>
    <p:extLst>
      <p:ext uri="{BB962C8B-B14F-4D97-AF65-F5344CB8AC3E}">
        <p14:creationId xmlns:p14="http://schemas.microsoft.com/office/powerpoint/2010/main" val="201078316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87EA5A4B-5DCB-4B46-8220-911D188235E1}" type="slidenum">
              <a:rPr lang="en-IN" smtClean="0"/>
              <a:t>31</a:t>
            </a:fld>
            <a:endParaRPr lang="en-IN"/>
          </a:p>
        </p:txBody>
      </p:sp>
    </p:spTree>
    <p:extLst>
      <p:ext uri="{BB962C8B-B14F-4D97-AF65-F5344CB8AC3E}">
        <p14:creationId xmlns:p14="http://schemas.microsoft.com/office/powerpoint/2010/main" val="291685142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0799FEF-130F-CB33-DEA8-9A54DE74FFD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6D717C6-1373-5191-C5FA-8D79B886B95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1EAE1AF-6816-CB03-2ADE-32184C0D6AA9}"/>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3B25D6B8-2B27-1C9B-0C14-9E3DCDCF0A3B}"/>
              </a:ext>
            </a:extLst>
          </p:cNvPr>
          <p:cNvSpPr>
            <a:spLocks noGrp="1"/>
          </p:cNvSpPr>
          <p:nvPr>
            <p:ph type="sldNum" sz="quarter" idx="5"/>
          </p:nvPr>
        </p:nvSpPr>
        <p:spPr/>
        <p:txBody>
          <a:bodyPr/>
          <a:lstStyle/>
          <a:p>
            <a:fld id="{87EA5A4B-5DCB-4B46-8220-911D188235E1}" type="slidenum">
              <a:rPr lang="en-IN" smtClean="0"/>
              <a:t>37</a:t>
            </a:fld>
            <a:endParaRPr lang="en-IN"/>
          </a:p>
        </p:txBody>
      </p:sp>
    </p:spTree>
    <p:extLst>
      <p:ext uri="{BB962C8B-B14F-4D97-AF65-F5344CB8AC3E}">
        <p14:creationId xmlns:p14="http://schemas.microsoft.com/office/powerpoint/2010/main" val="367530809"/>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39DB148-2189-78CC-2765-5871F68F3D29}"/>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IN"/>
          </a:p>
        </p:txBody>
      </p:sp>
      <p:sp>
        <p:nvSpPr>
          <p:cNvPr id="3" name="Subtitle 2">
            <a:extLst>
              <a:ext uri="{FF2B5EF4-FFF2-40B4-BE49-F238E27FC236}">
                <a16:creationId xmlns:a16="http://schemas.microsoft.com/office/drawing/2014/main" id="{ED26DA67-A380-BCF2-7246-B5FF56D8A597}"/>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IN"/>
          </a:p>
        </p:txBody>
      </p:sp>
      <p:sp>
        <p:nvSpPr>
          <p:cNvPr id="4" name="Date Placeholder 3">
            <a:extLst>
              <a:ext uri="{FF2B5EF4-FFF2-40B4-BE49-F238E27FC236}">
                <a16:creationId xmlns:a16="http://schemas.microsoft.com/office/drawing/2014/main" id="{007B24DE-3630-EADE-79A1-F65A25F3B398}"/>
              </a:ext>
            </a:extLst>
          </p:cNvPr>
          <p:cNvSpPr>
            <a:spLocks noGrp="1"/>
          </p:cNvSpPr>
          <p:nvPr>
            <p:ph type="dt" sz="half" idx="10"/>
          </p:nvPr>
        </p:nvSpPr>
        <p:spPr/>
        <p:txBody>
          <a:bodyPr/>
          <a:lstStyle/>
          <a:p>
            <a:fld id="{54150338-2C6B-43C6-BC7F-91A2B2D62A10}" type="datetimeFigureOut">
              <a:rPr lang="en-IN" smtClean="0"/>
              <a:t>11-06-2026</a:t>
            </a:fld>
            <a:endParaRPr lang="en-IN"/>
          </a:p>
        </p:txBody>
      </p:sp>
      <p:sp>
        <p:nvSpPr>
          <p:cNvPr id="5" name="Footer Placeholder 4">
            <a:extLst>
              <a:ext uri="{FF2B5EF4-FFF2-40B4-BE49-F238E27FC236}">
                <a16:creationId xmlns:a16="http://schemas.microsoft.com/office/drawing/2014/main" id="{B04EE658-F577-3144-EE22-4618D739FAEF}"/>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17B63085-D75D-6DE6-AFB6-52FFC0EB5B33}"/>
              </a:ext>
            </a:extLst>
          </p:cNvPr>
          <p:cNvSpPr>
            <a:spLocks noGrp="1"/>
          </p:cNvSpPr>
          <p:nvPr>
            <p:ph type="sldNum" sz="quarter" idx="12"/>
          </p:nvPr>
        </p:nvSpPr>
        <p:spPr/>
        <p:txBody>
          <a:bodyPr/>
          <a:lstStyle/>
          <a:p>
            <a:fld id="{7C2C46AE-A7EF-474A-B19F-5BD5974C2779}" type="slidenum">
              <a:rPr lang="en-IN" smtClean="0"/>
              <a:t>‹#›</a:t>
            </a:fld>
            <a:endParaRPr lang="en-IN"/>
          </a:p>
        </p:txBody>
      </p:sp>
    </p:spTree>
    <p:extLst>
      <p:ext uri="{BB962C8B-B14F-4D97-AF65-F5344CB8AC3E}">
        <p14:creationId xmlns:p14="http://schemas.microsoft.com/office/powerpoint/2010/main" val="126963553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06612EC-CA3A-9A21-9C34-FD155CCB84AD}"/>
              </a:ext>
            </a:extLst>
          </p:cNvPr>
          <p:cNvSpPr>
            <a:spLocks noGrp="1"/>
          </p:cNvSpPr>
          <p:nvPr>
            <p:ph type="title"/>
          </p:nvPr>
        </p:nvSpPr>
        <p:spPr/>
        <p:txBody>
          <a:bodyPr/>
          <a:lstStyle/>
          <a:p>
            <a:r>
              <a:rPr lang="en-US"/>
              <a:t>Click to edit Master title style</a:t>
            </a:r>
            <a:endParaRPr lang="en-IN"/>
          </a:p>
        </p:txBody>
      </p:sp>
      <p:sp>
        <p:nvSpPr>
          <p:cNvPr id="3" name="Content Placeholder 2">
            <a:extLst>
              <a:ext uri="{FF2B5EF4-FFF2-40B4-BE49-F238E27FC236}">
                <a16:creationId xmlns:a16="http://schemas.microsoft.com/office/drawing/2014/main" id="{B8D99626-EB3E-AF25-5399-3F5F0F0A78DF}"/>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FDF07C61-6841-CF06-9546-E4BE528EA9A1}"/>
              </a:ext>
            </a:extLst>
          </p:cNvPr>
          <p:cNvSpPr>
            <a:spLocks noGrp="1"/>
          </p:cNvSpPr>
          <p:nvPr>
            <p:ph type="dt" sz="half" idx="10"/>
          </p:nvPr>
        </p:nvSpPr>
        <p:spPr/>
        <p:txBody>
          <a:bodyPr/>
          <a:lstStyle/>
          <a:p>
            <a:fld id="{54150338-2C6B-43C6-BC7F-91A2B2D62A10}" type="datetimeFigureOut">
              <a:rPr lang="en-IN" smtClean="0"/>
              <a:t>11-06-2026</a:t>
            </a:fld>
            <a:endParaRPr lang="en-IN"/>
          </a:p>
        </p:txBody>
      </p:sp>
      <p:sp>
        <p:nvSpPr>
          <p:cNvPr id="5" name="Footer Placeholder 4">
            <a:extLst>
              <a:ext uri="{FF2B5EF4-FFF2-40B4-BE49-F238E27FC236}">
                <a16:creationId xmlns:a16="http://schemas.microsoft.com/office/drawing/2014/main" id="{D799F344-64B8-D6C2-9CD1-DE06D0DF96EA}"/>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99FDAF61-D0A6-40CE-1D4D-CC2FE8A37A81}"/>
              </a:ext>
            </a:extLst>
          </p:cNvPr>
          <p:cNvSpPr>
            <a:spLocks noGrp="1"/>
          </p:cNvSpPr>
          <p:nvPr>
            <p:ph type="sldNum" sz="quarter" idx="12"/>
          </p:nvPr>
        </p:nvSpPr>
        <p:spPr/>
        <p:txBody>
          <a:bodyPr/>
          <a:lstStyle/>
          <a:p>
            <a:fld id="{7C2C46AE-A7EF-474A-B19F-5BD5974C2779}" type="slidenum">
              <a:rPr lang="en-IN" smtClean="0"/>
              <a:t>‹#›</a:t>
            </a:fld>
            <a:endParaRPr lang="en-IN"/>
          </a:p>
        </p:txBody>
      </p:sp>
    </p:spTree>
    <p:extLst>
      <p:ext uri="{BB962C8B-B14F-4D97-AF65-F5344CB8AC3E}">
        <p14:creationId xmlns:p14="http://schemas.microsoft.com/office/powerpoint/2010/main" val="252451004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D09F4B3-C877-7DCC-8D20-5D10DE02338D}"/>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IN"/>
          </a:p>
        </p:txBody>
      </p:sp>
      <p:sp>
        <p:nvSpPr>
          <p:cNvPr id="3" name="Text Placeholder 2">
            <a:extLst>
              <a:ext uri="{FF2B5EF4-FFF2-40B4-BE49-F238E27FC236}">
                <a16:creationId xmlns:a16="http://schemas.microsoft.com/office/drawing/2014/main" id="{891EC960-5DF7-6BDE-8979-CA63C3CC58FC}"/>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5E1BFA93-D6FF-2329-F72A-0D7DF3BF3FF2}"/>
              </a:ext>
            </a:extLst>
          </p:cNvPr>
          <p:cNvSpPr>
            <a:spLocks noGrp="1"/>
          </p:cNvSpPr>
          <p:nvPr>
            <p:ph type="dt" sz="half" idx="10"/>
          </p:nvPr>
        </p:nvSpPr>
        <p:spPr/>
        <p:txBody>
          <a:bodyPr/>
          <a:lstStyle/>
          <a:p>
            <a:fld id="{54150338-2C6B-43C6-BC7F-91A2B2D62A10}" type="datetimeFigureOut">
              <a:rPr lang="en-IN" smtClean="0"/>
              <a:t>11-06-2026</a:t>
            </a:fld>
            <a:endParaRPr lang="en-IN"/>
          </a:p>
        </p:txBody>
      </p:sp>
      <p:sp>
        <p:nvSpPr>
          <p:cNvPr id="5" name="Footer Placeholder 4">
            <a:extLst>
              <a:ext uri="{FF2B5EF4-FFF2-40B4-BE49-F238E27FC236}">
                <a16:creationId xmlns:a16="http://schemas.microsoft.com/office/drawing/2014/main" id="{627E1E59-F4FE-EEE0-D775-7C5B2B718F00}"/>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7CEB7060-4B3B-1F4E-B0E2-1BA91438A414}"/>
              </a:ext>
            </a:extLst>
          </p:cNvPr>
          <p:cNvSpPr>
            <a:spLocks noGrp="1"/>
          </p:cNvSpPr>
          <p:nvPr>
            <p:ph type="sldNum" sz="quarter" idx="12"/>
          </p:nvPr>
        </p:nvSpPr>
        <p:spPr/>
        <p:txBody>
          <a:bodyPr/>
          <a:lstStyle/>
          <a:p>
            <a:fld id="{7C2C46AE-A7EF-474A-B19F-5BD5974C2779}" type="slidenum">
              <a:rPr lang="en-IN" smtClean="0"/>
              <a:t>‹#›</a:t>
            </a:fld>
            <a:endParaRPr lang="en-IN"/>
          </a:p>
        </p:txBody>
      </p:sp>
    </p:spTree>
    <p:extLst>
      <p:ext uri="{BB962C8B-B14F-4D97-AF65-F5344CB8AC3E}">
        <p14:creationId xmlns:p14="http://schemas.microsoft.com/office/powerpoint/2010/main" val="237245200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77035D4-DFD7-79DD-4D25-15236E136F69}"/>
              </a:ext>
            </a:extLst>
          </p:cNvPr>
          <p:cNvSpPr>
            <a:spLocks noGrp="1"/>
          </p:cNvSpPr>
          <p:nvPr>
            <p:ph type="title"/>
          </p:nvPr>
        </p:nvSpPr>
        <p:spPr/>
        <p:txBody>
          <a:bodyPr/>
          <a:lstStyle/>
          <a:p>
            <a:r>
              <a:rPr lang="en-US"/>
              <a:t>Click to edit Master title style</a:t>
            </a:r>
            <a:endParaRPr lang="en-IN"/>
          </a:p>
        </p:txBody>
      </p:sp>
      <p:sp>
        <p:nvSpPr>
          <p:cNvPr id="3" name="Content Placeholder 2">
            <a:extLst>
              <a:ext uri="{FF2B5EF4-FFF2-40B4-BE49-F238E27FC236}">
                <a16:creationId xmlns:a16="http://schemas.microsoft.com/office/drawing/2014/main" id="{0410262C-6113-5B6C-9FCC-7E97E3107EFF}"/>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Content Placeholder 3">
            <a:extLst>
              <a:ext uri="{FF2B5EF4-FFF2-40B4-BE49-F238E27FC236}">
                <a16:creationId xmlns:a16="http://schemas.microsoft.com/office/drawing/2014/main" id="{5ACD37A8-1246-74F4-98E3-8D732CA7D73D}"/>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5" name="Date Placeholder 4">
            <a:extLst>
              <a:ext uri="{FF2B5EF4-FFF2-40B4-BE49-F238E27FC236}">
                <a16:creationId xmlns:a16="http://schemas.microsoft.com/office/drawing/2014/main" id="{E1A8940D-73C1-FFAE-DFC5-DDDA1AE715ED}"/>
              </a:ext>
            </a:extLst>
          </p:cNvPr>
          <p:cNvSpPr>
            <a:spLocks noGrp="1"/>
          </p:cNvSpPr>
          <p:nvPr>
            <p:ph type="dt" sz="half" idx="10"/>
          </p:nvPr>
        </p:nvSpPr>
        <p:spPr/>
        <p:txBody>
          <a:bodyPr/>
          <a:lstStyle/>
          <a:p>
            <a:fld id="{54150338-2C6B-43C6-BC7F-91A2B2D62A10}" type="datetimeFigureOut">
              <a:rPr lang="en-IN" smtClean="0"/>
              <a:t>11-06-2026</a:t>
            </a:fld>
            <a:endParaRPr lang="en-IN"/>
          </a:p>
        </p:txBody>
      </p:sp>
      <p:sp>
        <p:nvSpPr>
          <p:cNvPr id="6" name="Footer Placeholder 5">
            <a:extLst>
              <a:ext uri="{FF2B5EF4-FFF2-40B4-BE49-F238E27FC236}">
                <a16:creationId xmlns:a16="http://schemas.microsoft.com/office/drawing/2014/main" id="{9B768022-EDC9-A063-4991-7935CBB3569C}"/>
              </a:ext>
            </a:extLst>
          </p:cNvPr>
          <p:cNvSpPr>
            <a:spLocks noGrp="1"/>
          </p:cNvSpPr>
          <p:nvPr>
            <p:ph type="ftr" sz="quarter" idx="11"/>
          </p:nvPr>
        </p:nvSpPr>
        <p:spPr/>
        <p:txBody>
          <a:bodyPr/>
          <a:lstStyle/>
          <a:p>
            <a:endParaRPr lang="en-IN"/>
          </a:p>
        </p:txBody>
      </p:sp>
      <p:sp>
        <p:nvSpPr>
          <p:cNvPr id="7" name="Slide Number Placeholder 6">
            <a:extLst>
              <a:ext uri="{FF2B5EF4-FFF2-40B4-BE49-F238E27FC236}">
                <a16:creationId xmlns:a16="http://schemas.microsoft.com/office/drawing/2014/main" id="{BDD6BAF2-C58F-1D6D-38A3-08872AAC8888}"/>
              </a:ext>
            </a:extLst>
          </p:cNvPr>
          <p:cNvSpPr>
            <a:spLocks noGrp="1"/>
          </p:cNvSpPr>
          <p:nvPr>
            <p:ph type="sldNum" sz="quarter" idx="12"/>
          </p:nvPr>
        </p:nvSpPr>
        <p:spPr/>
        <p:txBody>
          <a:bodyPr/>
          <a:lstStyle/>
          <a:p>
            <a:fld id="{7C2C46AE-A7EF-474A-B19F-5BD5974C2779}" type="slidenum">
              <a:rPr lang="en-IN" smtClean="0"/>
              <a:t>‹#›</a:t>
            </a:fld>
            <a:endParaRPr lang="en-IN"/>
          </a:p>
        </p:txBody>
      </p:sp>
    </p:spTree>
    <p:extLst>
      <p:ext uri="{BB962C8B-B14F-4D97-AF65-F5344CB8AC3E}">
        <p14:creationId xmlns:p14="http://schemas.microsoft.com/office/powerpoint/2010/main" val="32003751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5FC54E6-5013-7429-A9D0-788B82F378B7}"/>
              </a:ext>
            </a:extLst>
          </p:cNvPr>
          <p:cNvSpPr>
            <a:spLocks noGrp="1"/>
          </p:cNvSpPr>
          <p:nvPr>
            <p:ph type="title"/>
          </p:nvPr>
        </p:nvSpPr>
        <p:spPr>
          <a:xfrm>
            <a:off x="839788" y="365125"/>
            <a:ext cx="10515600" cy="1325563"/>
          </a:xfrm>
        </p:spPr>
        <p:txBody>
          <a:bodyPr/>
          <a:lstStyle/>
          <a:p>
            <a:r>
              <a:rPr lang="en-US"/>
              <a:t>Click to edit Master title style</a:t>
            </a:r>
            <a:endParaRPr lang="en-IN"/>
          </a:p>
        </p:txBody>
      </p:sp>
      <p:sp>
        <p:nvSpPr>
          <p:cNvPr id="3" name="Text Placeholder 2">
            <a:extLst>
              <a:ext uri="{FF2B5EF4-FFF2-40B4-BE49-F238E27FC236}">
                <a16:creationId xmlns:a16="http://schemas.microsoft.com/office/drawing/2014/main" id="{3D83A59A-193A-B22A-54FA-9BAB0089B07C}"/>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EEF4FCCB-9AA6-5359-9B5B-315F4321E44D}"/>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5" name="Text Placeholder 4">
            <a:extLst>
              <a:ext uri="{FF2B5EF4-FFF2-40B4-BE49-F238E27FC236}">
                <a16:creationId xmlns:a16="http://schemas.microsoft.com/office/drawing/2014/main" id="{9F7E1C43-DE5D-D023-6345-DF4A11D1229C}"/>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428BAF19-248B-91DD-BF12-332677E42322}"/>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7" name="Date Placeholder 6">
            <a:extLst>
              <a:ext uri="{FF2B5EF4-FFF2-40B4-BE49-F238E27FC236}">
                <a16:creationId xmlns:a16="http://schemas.microsoft.com/office/drawing/2014/main" id="{D860DABF-6280-3E17-EE74-D50374D77CE7}"/>
              </a:ext>
            </a:extLst>
          </p:cNvPr>
          <p:cNvSpPr>
            <a:spLocks noGrp="1"/>
          </p:cNvSpPr>
          <p:nvPr>
            <p:ph type="dt" sz="half" idx="10"/>
          </p:nvPr>
        </p:nvSpPr>
        <p:spPr/>
        <p:txBody>
          <a:bodyPr/>
          <a:lstStyle/>
          <a:p>
            <a:fld id="{54150338-2C6B-43C6-BC7F-91A2B2D62A10}" type="datetimeFigureOut">
              <a:rPr lang="en-IN" smtClean="0"/>
              <a:t>11-06-2026</a:t>
            </a:fld>
            <a:endParaRPr lang="en-IN"/>
          </a:p>
        </p:txBody>
      </p:sp>
      <p:sp>
        <p:nvSpPr>
          <p:cNvPr id="8" name="Footer Placeholder 7">
            <a:extLst>
              <a:ext uri="{FF2B5EF4-FFF2-40B4-BE49-F238E27FC236}">
                <a16:creationId xmlns:a16="http://schemas.microsoft.com/office/drawing/2014/main" id="{F0F669FB-F0D4-4CEF-9D0A-40DB3301DA9A}"/>
              </a:ext>
            </a:extLst>
          </p:cNvPr>
          <p:cNvSpPr>
            <a:spLocks noGrp="1"/>
          </p:cNvSpPr>
          <p:nvPr>
            <p:ph type="ftr" sz="quarter" idx="11"/>
          </p:nvPr>
        </p:nvSpPr>
        <p:spPr/>
        <p:txBody>
          <a:bodyPr/>
          <a:lstStyle/>
          <a:p>
            <a:endParaRPr lang="en-IN"/>
          </a:p>
        </p:txBody>
      </p:sp>
      <p:sp>
        <p:nvSpPr>
          <p:cNvPr id="9" name="Slide Number Placeholder 8">
            <a:extLst>
              <a:ext uri="{FF2B5EF4-FFF2-40B4-BE49-F238E27FC236}">
                <a16:creationId xmlns:a16="http://schemas.microsoft.com/office/drawing/2014/main" id="{A71D28D3-1340-9492-7EC6-9250248B43CD}"/>
              </a:ext>
            </a:extLst>
          </p:cNvPr>
          <p:cNvSpPr>
            <a:spLocks noGrp="1"/>
          </p:cNvSpPr>
          <p:nvPr>
            <p:ph type="sldNum" sz="quarter" idx="12"/>
          </p:nvPr>
        </p:nvSpPr>
        <p:spPr/>
        <p:txBody>
          <a:bodyPr/>
          <a:lstStyle/>
          <a:p>
            <a:fld id="{7C2C46AE-A7EF-474A-B19F-5BD5974C2779}" type="slidenum">
              <a:rPr lang="en-IN" smtClean="0"/>
              <a:t>‹#›</a:t>
            </a:fld>
            <a:endParaRPr lang="en-IN"/>
          </a:p>
        </p:txBody>
      </p:sp>
    </p:spTree>
    <p:extLst>
      <p:ext uri="{BB962C8B-B14F-4D97-AF65-F5344CB8AC3E}">
        <p14:creationId xmlns:p14="http://schemas.microsoft.com/office/powerpoint/2010/main" val="183594780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07A0508-81A0-545A-F4B9-62DF64E67FB8}"/>
              </a:ext>
            </a:extLst>
          </p:cNvPr>
          <p:cNvSpPr>
            <a:spLocks noGrp="1"/>
          </p:cNvSpPr>
          <p:nvPr>
            <p:ph type="title"/>
          </p:nvPr>
        </p:nvSpPr>
        <p:spPr/>
        <p:txBody>
          <a:bodyPr/>
          <a:lstStyle/>
          <a:p>
            <a:r>
              <a:rPr lang="en-US"/>
              <a:t>Click to edit Master title style</a:t>
            </a:r>
            <a:endParaRPr lang="en-IN"/>
          </a:p>
        </p:txBody>
      </p:sp>
      <p:sp>
        <p:nvSpPr>
          <p:cNvPr id="3" name="Date Placeholder 2">
            <a:extLst>
              <a:ext uri="{FF2B5EF4-FFF2-40B4-BE49-F238E27FC236}">
                <a16:creationId xmlns:a16="http://schemas.microsoft.com/office/drawing/2014/main" id="{20E1D269-075C-C626-5F82-5C6E507A6E2B}"/>
              </a:ext>
            </a:extLst>
          </p:cNvPr>
          <p:cNvSpPr>
            <a:spLocks noGrp="1"/>
          </p:cNvSpPr>
          <p:nvPr>
            <p:ph type="dt" sz="half" idx="10"/>
          </p:nvPr>
        </p:nvSpPr>
        <p:spPr/>
        <p:txBody>
          <a:bodyPr/>
          <a:lstStyle/>
          <a:p>
            <a:fld id="{54150338-2C6B-43C6-BC7F-91A2B2D62A10}" type="datetimeFigureOut">
              <a:rPr lang="en-IN" smtClean="0"/>
              <a:t>11-06-2026</a:t>
            </a:fld>
            <a:endParaRPr lang="en-IN"/>
          </a:p>
        </p:txBody>
      </p:sp>
      <p:sp>
        <p:nvSpPr>
          <p:cNvPr id="4" name="Footer Placeholder 3">
            <a:extLst>
              <a:ext uri="{FF2B5EF4-FFF2-40B4-BE49-F238E27FC236}">
                <a16:creationId xmlns:a16="http://schemas.microsoft.com/office/drawing/2014/main" id="{B72AA3F8-E555-D725-2904-CA4D796A5A29}"/>
              </a:ext>
            </a:extLst>
          </p:cNvPr>
          <p:cNvSpPr>
            <a:spLocks noGrp="1"/>
          </p:cNvSpPr>
          <p:nvPr>
            <p:ph type="ftr" sz="quarter" idx="11"/>
          </p:nvPr>
        </p:nvSpPr>
        <p:spPr/>
        <p:txBody>
          <a:bodyPr/>
          <a:lstStyle/>
          <a:p>
            <a:endParaRPr lang="en-IN"/>
          </a:p>
        </p:txBody>
      </p:sp>
      <p:sp>
        <p:nvSpPr>
          <p:cNvPr id="5" name="Slide Number Placeholder 4">
            <a:extLst>
              <a:ext uri="{FF2B5EF4-FFF2-40B4-BE49-F238E27FC236}">
                <a16:creationId xmlns:a16="http://schemas.microsoft.com/office/drawing/2014/main" id="{0A5A83FE-7CAC-91C1-D553-E9320424A43E}"/>
              </a:ext>
            </a:extLst>
          </p:cNvPr>
          <p:cNvSpPr>
            <a:spLocks noGrp="1"/>
          </p:cNvSpPr>
          <p:nvPr>
            <p:ph type="sldNum" sz="quarter" idx="12"/>
          </p:nvPr>
        </p:nvSpPr>
        <p:spPr/>
        <p:txBody>
          <a:bodyPr/>
          <a:lstStyle/>
          <a:p>
            <a:fld id="{7C2C46AE-A7EF-474A-B19F-5BD5974C2779}" type="slidenum">
              <a:rPr lang="en-IN" smtClean="0"/>
              <a:t>‹#›</a:t>
            </a:fld>
            <a:endParaRPr lang="en-IN"/>
          </a:p>
        </p:txBody>
      </p:sp>
    </p:spTree>
    <p:extLst>
      <p:ext uri="{BB962C8B-B14F-4D97-AF65-F5344CB8AC3E}">
        <p14:creationId xmlns:p14="http://schemas.microsoft.com/office/powerpoint/2010/main" val="107620554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8B17D827-6889-FFA8-58DD-27A120B7BC63}"/>
              </a:ext>
            </a:extLst>
          </p:cNvPr>
          <p:cNvSpPr>
            <a:spLocks noGrp="1"/>
          </p:cNvSpPr>
          <p:nvPr>
            <p:ph type="dt" sz="half" idx="10"/>
          </p:nvPr>
        </p:nvSpPr>
        <p:spPr/>
        <p:txBody>
          <a:bodyPr/>
          <a:lstStyle/>
          <a:p>
            <a:fld id="{54150338-2C6B-43C6-BC7F-91A2B2D62A10}" type="datetimeFigureOut">
              <a:rPr lang="en-IN" smtClean="0"/>
              <a:t>11-06-2026</a:t>
            </a:fld>
            <a:endParaRPr lang="en-IN"/>
          </a:p>
        </p:txBody>
      </p:sp>
      <p:sp>
        <p:nvSpPr>
          <p:cNvPr id="3" name="Footer Placeholder 2">
            <a:extLst>
              <a:ext uri="{FF2B5EF4-FFF2-40B4-BE49-F238E27FC236}">
                <a16:creationId xmlns:a16="http://schemas.microsoft.com/office/drawing/2014/main" id="{5A6BD331-590F-C7B7-4935-2B4D3A54A7EE}"/>
              </a:ext>
            </a:extLst>
          </p:cNvPr>
          <p:cNvSpPr>
            <a:spLocks noGrp="1"/>
          </p:cNvSpPr>
          <p:nvPr>
            <p:ph type="ftr" sz="quarter" idx="11"/>
          </p:nvPr>
        </p:nvSpPr>
        <p:spPr/>
        <p:txBody>
          <a:bodyPr/>
          <a:lstStyle/>
          <a:p>
            <a:endParaRPr lang="en-IN"/>
          </a:p>
        </p:txBody>
      </p:sp>
      <p:sp>
        <p:nvSpPr>
          <p:cNvPr id="4" name="Slide Number Placeholder 3">
            <a:extLst>
              <a:ext uri="{FF2B5EF4-FFF2-40B4-BE49-F238E27FC236}">
                <a16:creationId xmlns:a16="http://schemas.microsoft.com/office/drawing/2014/main" id="{671F85B9-A5BD-FE15-266E-D5B1D0F64CBC}"/>
              </a:ext>
            </a:extLst>
          </p:cNvPr>
          <p:cNvSpPr>
            <a:spLocks noGrp="1"/>
          </p:cNvSpPr>
          <p:nvPr>
            <p:ph type="sldNum" sz="quarter" idx="12"/>
          </p:nvPr>
        </p:nvSpPr>
        <p:spPr/>
        <p:txBody>
          <a:bodyPr/>
          <a:lstStyle/>
          <a:p>
            <a:fld id="{7C2C46AE-A7EF-474A-B19F-5BD5974C2779}" type="slidenum">
              <a:rPr lang="en-IN" smtClean="0"/>
              <a:t>‹#›</a:t>
            </a:fld>
            <a:endParaRPr lang="en-IN"/>
          </a:p>
        </p:txBody>
      </p:sp>
    </p:spTree>
    <p:extLst>
      <p:ext uri="{BB962C8B-B14F-4D97-AF65-F5344CB8AC3E}">
        <p14:creationId xmlns:p14="http://schemas.microsoft.com/office/powerpoint/2010/main" val="168415602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49F8FB9-559F-7A6E-4039-63C8C612F2D8}"/>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IN"/>
          </a:p>
        </p:txBody>
      </p:sp>
      <p:sp>
        <p:nvSpPr>
          <p:cNvPr id="3" name="Content Placeholder 2">
            <a:extLst>
              <a:ext uri="{FF2B5EF4-FFF2-40B4-BE49-F238E27FC236}">
                <a16:creationId xmlns:a16="http://schemas.microsoft.com/office/drawing/2014/main" id="{146D26A9-98CB-C50F-6ED2-B9ED5CD0DC13}"/>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Text Placeholder 3">
            <a:extLst>
              <a:ext uri="{FF2B5EF4-FFF2-40B4-BE49-F238E27FC236}">
                <a16:creationId xmlns:a16="http://schemas.microsoft.com/office/drawing/2014/main" id="{DA10AD83-43BB-9BF4-B563-A81E48DA7F92}"/>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C8AF5216-6660-7614-82CD-A113555F38B8}"/>
              </a:ext>
            </a:extLst>
          </p:cNvPr>
          <p:cNvSpPr>
            <a:spLocks noGrp="1"/>
          </p:cNvSpPr>
          <p:nvPr>
            <p:ph type="dt" sz="half" idx="10"/>
          </p:nvPr>
        </p:nvSpPr>
        <p:spPr/>
        <p:txBody>
          <a:bodyPr/>
          <a:lstStyle/>
          <a:p>
            <a:fld id="{54150338-2C6B-43C6-BC7F-91A2B2D62A10}" type="datetimeFigureOut">
              <a:rPr lang="en-IN" smtClean="0"/>
              <a:t>11-06-2026</a:t>
            </a:fld>
            <a:endParaRPr lang="en-IN"/>
          </a:p>
        </p:txBody>
      </p:sp>
      <p:sp>
        <p:nvSpPr>
          <p:cNvPr id="6" name="Footer Placeholder 5">
            <a:extLst>
              <a:ext uri="{FF2B5EF4-FFF2-40B4-BE49-F238E27FC236}">
                <a16:creationId xmlns:a16="http://schemas.microsoft.com/office/drawing/2014/main" id="{73A9D376-C1CA-F624-AD9E-46F8210EAA1C}"/>
              </a:ext>
            </a:extLst>
          </p:cNvPr>
          <p:cNvSpPr>
            <a:spLocks noGrp="1"/>
          </p:cNvSpPr>
          <p:nvPr>
            <p:ph type="ftr" sz="quarter" idx="11"/>
          </p:nvPr>
        </p:nvSpPr>
        <p:spPr/>
        <p:txBody>
          <a:bodyPr/>
          <a:lstStyle/>
          <a:p>
            <a:endParaRPr lang="en-IN"/>
          </a:p>
        </p:txBody>
      </p:sp>
      <p:sp>
        <p:nvSpPr>
          <p:cNvPr id="7" name="Slide Number Placeholder 6">
            <a:extLst>
              <a:ext uri="{FF2B5EF4-FFF2-40B4-BE49-F238E27FC236}">
                <a16:creationId xmlns:a16="http://schemas.microsoft.com/office/drawing/2014/main" id="{9634388F-4634-E57B-A817-B6554FFEC61B}"/>
              </a:ext>
            </a:extLst>
          </p:cNvPr>
          <p:cNvSpPr>
            <a:spLocks noGrp="1"/>
          </p:cNvSpPr>
          <p:nvPr>
            <p:ph type="sldNum" sz="quarter" idx="12"/>
          </p:nvPr>
        </p:nvSpPr>
        <p:spPr/>
        <p:txBody>
          <a:bodyPr/>
          <a:lstStyle/>
          <a:p>
            <a:fld id="{7C2C46AE-A7EF-474A-B19F-5BD5974C2779}" type="slidenum">
              <a:rPr lang="en-IN" smtClean="0"/>
              <a:t>‹#›</a:t>
            </a:fld>
            <a:endParaRPr lang="en-IN"/>
          </a:p>
        </p:txBody>
      </p:sp>
    </p:spTree>
    <p:extLst>
      <p:ext uri="{BB962C8B-B14F-4D97-AF65-F5344CB8AC3E}">
        <p14:creationId xmlns:p14="http://schemas.microsoft.com/office/powerpoint/2010/main" val="249482562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E978ED8-78FE-CDFE-36B6-48B79A1B47C2}"/>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IN"/>
          </a:p>
        </p:txBody>
      </p:sp>
      <p:sp>
        <p:nvSpPr>
          <p:cNvPr id="3" name="Picture Placeholder 2">
            <a:extLst>
              <a:ext uri="{FF2B5EF4-FFF2-40B4-BE49-F238E27FC236}">
                <a16:creationId xmlns:a16="http://schemas.microsoft.com/office/drawing/2014/main" id="{12354B2C-1353-C76C-AE41-9770E9D9E6F4}"/>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IN"/>
          </a:p>
        </p:txBody>
      </p:sp>
      <p:sp>
        <p:nvSpPr>
          <p:cNvPr id="4" name="Text Placeholder 3">
            <a:extLst>
              <a:ext uri="{FF2B5EF4-FFF2-40B4-BE49-F238E27FC236}">
                <a16:creationId xmlns:a16="http://schemas.microsoft.com/office/drawing/2014/main" id="{978CCB91-A37A-019B-7F94-52D4B1BA80B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D782AFAD-A19D-18FF-37BD-53963E5BFE74}"/>
              </a:ext>
            </a:extLst>
          </p:cNvPr>
          <p:cNvSpPr>
            <a:spLocks noGrp="1"/>
          </p:cNvSpPr>
          <p:nvPr>
            <p:ph type="dt" sz="half" idx="10"/>
          </p:nvPr>
        </p:nvSpPr>
        <p:spPr/>
        <p:txBody>
          <a:bodyPr/>
          <a:lstStyle/>
          <a:p>
            <a:fld id="{54150338-2C6B-43C6-BC7F-91A2B2D62A10}" type="datetimeFigureOut">
              <a:rPr lang="en-IN" smtClean="0"/>
              <a:t>11-06-2026</a:t>
            </a:fld>
            <a:endParaRPr lang="en-IN"/>
          </a:p>
        </p:txBody>
      </p:sp>
      <p:sp>
        <p:nvSpPr>
          <p:cNvPr id="6" name="Footer Placeholder 5">
            <a:extLst>
              <a:ext uri="{FF2B5EF4-FFF2-40B4-BE49-F238E27FC236}">
                <a16:creationId xmlns:a16="http://schemas.microsoft.com/office/drawing/2014/main" id="{257EAD33-A2E2-8926-3E6D-280E02F4E573}"/>
              </a:ext>
            </a:extLst>
          </p:cNvPr>
          <p:cNvSpPr>
            <a:spLocks noGrp="1"/>
          </p:cNvSpPr>
          <p:nvPr>
            <p:ph type="ftr" sz="quarter" idx="11"/>
          </p:nvPr>
        </p:nvSpPr>
        <p:spPr/>
        <p:txBody>
          <a:bodyPr/>
          <a:lstStyle/>
          <a:p>
            <a:endParaRPr lang="en-IN"/>
          </a:p>
        </p:txBody>
      </p:sp>
      <p:sp>
        <p:nvSpPr>
          <p:cNvPr id="7" name="Slide Number Placeholder 6">
            <a:extLst>
              <a:ext uri="{FF2B5EF4-FFF2-40B4-BE49-F238E27FC236}">
                <a16:creationId xmlns:a16="http://schemas.microsoft.com/office/drawing/2014/main" id="{987621CD-9E72-68F8-6543-3554E3ACED96}"/>
              </a:ext>
            </a:extLst>
          </p:cNvPr>
          <p:cNvSpPr>
            <a:spLocks noGrp="1"/>
          </p:cNvSpPr>
          <p:nvPr>
            <p:ph type="sldNum" sz="quarter" idx="12"/>
          </p:nvPr>
        </p:nvSpPr>
        <p:spPr/>
        <p:txBody>
          <a:bodyPr/>
          <a:lstStyle/>
          <a:p>
            <a:fld id="{7C2C46AE-A7EF-474A-B19F-5BD5974C2779}" type="slidenum">
              <a:rPr lang="en-IN" smtClean="0"/>
              <a:t>‹#›</a:t>
            </a:fld>
            <a:endParaRPr lang="en-IN"/>
          </a:p>
        </p:txBody>
      </p:sp>
    </p:spTree>
    <p:extLst>
      <p:ext uri="{BB962C8B-B14F-4D97-AF65-F5344CB8AC3E}">
        <p14:creationId xmlns:p14="http://schemas.microsoft.com/office/powerpoint/2010/main" val="144272241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EAE8527-656A-89D9-17EF-614EF2998199}"/>
              </a:ext>
            </a:extLst>
          </p:cNvPr>
          <p:cNvSpPr>
            <a:spLocks noGrp="1"/>
          </p:cNvSpPr>
          <p:nvPr>
            <p:ph type="title"/>
          </p:nvPr>
        </p:nvSpPr>
        <p:spPr/>
        <p:txBody>
          <a:bodyPr/>
          <a:lstStyle/>
          <a:p>
            <a:r>
              <a:rPr lang="en-US"/>
              <a:t>Click to edit Master title style</a:t>
            </a:r>
            <a:endParaRPr lang="en-IN"/>
          </a:p>
        </p:txBody>
      </p:sp>
      <p:sp>
        <p:nvSpPr>
          <p:cNvPr id="3" name="Vertical Text Placeholder 2">
            <a:extLst>
              <a:ext uri="{FF2B5EF4-FFF2-40B4-BE49-F238E27FC236}">
                <a16:creationId xmlns:a16="http://schemas.microsoft.com/office/drawing/2014/main" id="{66E8D020-DFD9-934C-84FA-92BCA7D592D8}"/>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15592FF6-9AE5-7B37-08F5-568CEB384993}"/>
              </a:ext>
            </a:extLst>
          </p:cNvPr>
          <p:cNvSpPr>
            <a:spLocks noGrp="1"/>
          </p:cNvSpPr>
          <p:nvPr>
            <p:ph type="dt" sz="half" idx="10"/>
          </p:nvPr>
        </p:nvSpPr>
        <p:spPr/>
        <p:txBody>
          <a:bodyPr/>
          <a:lstStyle/>
          <a:p>
            <a:fld id="{54150338-2C6B-43C6-BC7F-91A2B2D62A10}" type="datetimeFigureOut">
              <a:rPr lang="en-IN" smtClean="0"/>
              <a:t>11-06-2026</a:t>
            </a:fld>
            <a:endParaRPr lang="en-IN"/>
          </a:p>
        </p:txBody>
      </p:sp>
      <p:sp>
        <p:nvSpPr>
          <p:cNvPr id="5" name="Footer Placeholder 4">
            <a:extLst>
              <a:ext uri="{FF2B5EF4-FFF2-40B4-BE49-F238E27FC236}">
                <a16:creationId xmlns:a16="http://schemas.microsoft.com/office/drawing/2014/main" id="{3A7CEDC6-CA2A-C360-36C4-FB0EF1FEC986}"/>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1769556D-3B6C-B093-9622-A3F15D1152B5}"/>
              </a:ext>
            </a:extLst>
          </p:cNvPr>
          <p:cNvSpPr>
            <a:spLocks noGrp="1"/>
          </p:cNvSpPr>
          <p:nvPr>
            <p:ph type="sldNum" sz="quarter" idx="12"/>
          </p:nvPr>
        </p:nvSpPr>
        <p:spPr/>
        <p:txBody>
          <a:bodyPr/>
          <a:lstStyle/>
          <a:p>
            <a:fld id="{7C2C46AE-A7EF-474A-B19F-5BD5974C2779}" type="slidenum">
              <a:rPr lang="en-IN" smtClean="0"/>
              <a:t>‹#›</a:t>
            </a:fld>
            <a:endParaRPr lang="en-IN"/>
          </a:p>
        </p:txBody>
      </p:sp>
    </p:spTree>
    <p:extLst>
      <p:ext uri="{BB962C8B-B14F-4D97-AF65-F5344CB8AC3E}">
        <p14:creationId xmlns:p14="http://schemas.microsoft.com/office/powerpoint/2010/main" val="215166210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E8B5A693-2EDC-78CF-B468-8D356C1DD7A0}"/>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IN"/>
          </a:p>
        </p:txBody>
      </p:sp>
      <p:sp>
        <p:nvSpPr>
          <p:cNvPr id="3" name="Vertical Text Placeholder 2">
            <a:extLst>
              <a:ext uri="{FF2B5EF4-FFF2-40B4-BE49-F238E27FC236}">
                <a16:creationId xmlns:a16="http://schemas.microsoft.com/office/drawing/2014/main" id="{E22EEFC8-33B9-A2C0-62C1-977731175D5C}"/>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72C02CD4-A13A-E51D-C9E5-329E4574A3C9}"/>
              </a:ext>
            </a:extLst>
          </p:cNvPr>
          <p:cNvSpPr>
            <a:spLocks noGrp="1"/>
          </p:cNvSpPr>
          <p:nvPr>
            <p:ph type="dt" sz="half" idx="10"/>
          </p:nvPr>
        </p:nvSpPr>
        <p:spPr/>
        <p:txBody>
          <a:bodyPr/>
          <a:lstStyle/>
          <a:p>
            <a:fld id="{54150338-2C6B-43C6-BC7F-91A2B2D62A10}" type="datetimeFigureOut">
              <a:rPr lang="en-IN" smtClean="0"/>
              <a:t>11-06-2026</a:t>
            </a:fld>
            <a:endParaRPr lang="en-IN"/>
          </a:p>
        </p:txBody>
      </p:sp>
      <p:sp>
        <p:nvSpPr>
          <p:cNvPr id="5" name="Footer Placeholder 4">
            <a:extLst>
              <a:ext uri="{FF2B5EF4-FFF2-40B4-BE49-F238E27FC236}">
                <a16:creationId xmlns:a16="http://schemas.microsoft.com/office/drawing/2014/main" id="{D42A4101-4D2D-5ED4-7CEC-F7942C275FDD}"/>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E4A5CD6F-7E1A-7080-36C8-390695ABB4EB}"/>
              </a:ext>
            </a:extLst>
          </p:cNvPr>
          <p:cNvSpPr>
            <a:spLocks noGrp="1"/>
          </p:cNvSpPr>
          <p:nvPr>
            <p:ph type="sldNum" sz="quarter" idx="12"/>
          </p:nvPr>
        </p:nvSpPr>
        <p:spPr/>
        <p:txBody>
          <a:bodyPr/>
          <a:lstStyle/>
          <a:p>
            <a:fld id="{7C2C46AE-A7EF-474A-B19F-5BD5974C2779}" type="slidenum">
              <a:rPr lang="en-IN" smtClean="0"/>
              <a:t>‹#›</a:t>
            </a:fld>
            <a:endParaRPr lang="en-IN"/>
          </a:p>
        </p:txBody>
      </p:sp>
    </p:spTree>
    <p:extLst>
      <p:ext uri="{BB962C8B-B14F-4D97-AF65-F5344CB8AC3E}">
        <p14:creationId xmlns:p14="http://schemas.microsoft.com/office/powerpoint/2010/main" val="100133291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F327EE9-A30D-8165-E2B7-AFC4A44B2B34}"/>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IN"/>
          </a:p>
        </p:txBody>
      </p:sp>
      <p:sp>
        <p:nvSpPr>
          <p:cNvPr id="3" name="Text Placeholder 2">
            <a:extLst>
              <a:ext uri="{FF2B5EF4-FFF2-40B4-BE49-F238E27FC236}">
                <a16:creationId xmlns:a16="http://schemas.microsoft.com/office/drawing/2014/main" id="{9BFCE633-913D-279D-3814-A16C9BA38FA4}"/>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8A4AA69B-0189-D477-6C84-0A1BF4A3B6CC}"/>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54150338-2C6B-43C6-BC7F-91A2B2D62A10}" type="datetimeFigureOut">
              <a:rPr lang="en-IN" smtClean="0"/>
              <a:t>11-06-2026</a:t>
            </a:fld>
            <a:endParaRPr lang="en-IN"/>
          </a:p>
        </p:txBody>
      </p:sp>
      <p:sp>
        <p:nvSpPr>
          <p:cNvPr id="5" name="Footer Placeholder 4">
            <a:extLst>
              <a:ext uri="{FF2B5EF4-FFF2-40B4-BE49-F238E27FC236}">
                <a16:creationId xmlns:a16="http://schemas.microsoft.com/office/drawing/2014/main" id="{660FEDF3-5F6E-8F19-F77C-CF97D7D7F972}"/>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IN"/>
          </a:p>
        </p:txBody>
      </p:sp>
      <p:sp>
        <p:nvSpPr>
          <p:cNvPr id="6" name="Slide Number Placeholder 5">
            <a:extLst>
              <a:ext uri="{FF2B5EF4-FFF2-40B4-BE49-F238E27FC236}">
                <a16:creationId xmlns:a16="http://schemas.microsoft.com/office/drawing/2014/main" id="{C32B5DDD-1834-EE37-450A-5AA59A890687}"/>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7C2C46AE-A7EF-474A-B19F-5BD5974C2779}" type="slidenum">
              <a:rPr lang="en-IN" smtClean="0"/>
              <a:t>‹#›</a:t>
            </a:fld>
            <a:endParaRPr lang="en-IN"/>
          </a:p>
        </p:txBody>
      </p:sp>
    </p:spTree>
    <p:extLst>
      <p:ext uri="{BB962C8B-B14F-4D97-AF65-F5344CB8AC3E}">
        <p14:creationId xmlns:p14="http://schemas.microsoft.com/office/powerpoint/2010/main" val="3336273635"/>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image" Target="../media/image9.svg"/><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2" Type="http://schemas.openxmlformats.org/officeDocument/2006/relationships/image" Target="../media/image9.svg"/><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2" Type="http://schemas.openxmlformats.org/officeDocument/2006/relationships/image" Target="../media/image9.svg"/><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2" Type="http://schemas.openxmlformats.org/officeDocument/2006/relationships/image" Target="../media/image9.svg"/><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EFA9B6C6-A247-48A8-9A1C-1E36FA9456B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gradFill flip="none" rotWithShape="1">
            <a:gsLst>
              <a:gs pos="0">
                <a:schemeClr val="accent1"/>
              </a:gs>
              <a:gs pos="100000">
                <a:schemeClr val="accent2"/>
              </a:gs>
            </a:gsLst>
            <a:lin ang="27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FFFFFF"/>
              </a:solidFill>
            </a:endParaRPr>
          </a:p>
        </p:txBody>
      </p:sp>
      <p:sp>
        <p:nvSpPr>
          <p:cNvPr id="2" name="Title 1">
            <a:extLst>
              <a:ext uri="{FF2B5EF4-FFF2-40B4-BE49-F238E27FC236}">
                <a16:creationId xmlns:a16="http://schemas.microsoft.com/office/drawing/2014/main" id="{956489F1-8ED5-2390-3E62-EFB20EC9AEDB}"/>
              </a:ext>
            </a:extLst>
          </p:cNvPr>
          <p:cNvSpPr>
            <a:spLocks noGrp="1"/>
          </p:cNvSpPr>
          <p:nvPr>
            <p:ph type="ctrTitle"/>
          </p:nvPr>
        </p:nvSpPr>
        <p:spPr>
          <a:xfrm>
            <a:off x="1301261" y="590062"/>
            <a:ext cx="5409655" cy="2838938"/>
          </a:xfrm>
        </p:spPr>
        <p:txBody>
          <a:bodyPr>
            <a:normAutofit/>
          </a:bodyPr>
          <a:lstStyle/>
          <a:p>
            <a:pPr algn="l"/>
            <a:r>
              <a:rPr lang="en-US" sz="5600" dirty="0">
                <a:solidFill>
                  <a:srgbClr val="FFFFFF"/>
                </a:solidFill>
              </a:rPr>
              <a:t>Agentic Workflows</a:t>
            </a:r>
            <a:endParaRPr lang="en-IN" sz="5600" dirty="0">
              <a:solidFill>
                <a:srgbClr val="FFFFFF"/>
              </a:solidFill>
            </a:endParaRPr>
          </a:p>
        </p:txBody>
      </p:sp>
      <p:sp>
        <p:nvSpPr>
          <p:cNvPr id="3" name="Subtitle 2">
            <a:extLst>
              <a:ext uri="{FF2B5EF4-FFF2-40B4-BE49-F238E27FC236}">
                <a16:creationId xmlns:a16="http://schemas.microsoft.com/office/drawing/2014/main" id="{53260258-0AFF-8D60-99FB-2160B330B9A8}"/>
              </a:ext>
            </a:extLst>
          </p:cNvPr>
          <p:cNvSpPr>
            <a:spLocks noGrp="1"/>
          </p:cNvSpPr>
          <p:nvPr>
            <p:ph type="subTitle" idx="1"/>
          </p:nvPr>
        </p:nvSpPr>
        <p:spPr>
          <a:xfrm>
            <a:off x="5642044" y="4698614"/>
            <a:ext cx="5088650" cy="1198120"/>
          </a:xfrm>
        </p:spPr>
        <p:txBody>
          <a:bodyPr>
            <a:normAutofit/>
          </a:bodyPr>
          <a:lstStyle/>
          <a:p>
            <a:pPr algn="r"/>
            <a:r>
              <a:rPr lang="en-US" sz="2000">
                <a:solidFill>
                  <a:srgbClr val="FFFFFF"/>
                </a:solidFill>
              </a:rPr>
              <a:t>Ajay Singala</a:t>
            </a:r>
            <a:endParaRPr lang="en-IN" sz="2000">
              <a:solidFill>
                <a:srgbClr val="FFFFFF"/>
              </a:solidFill>
            </a:endParaRPr>
          </a:p>
        </p:txBody>
      </p:sp>
      <p:sp>
        <p:nvSpPr>
          <p:cNvPr id="10" name="Graphic 13">
            <a:extLst>
              <a:ext uri="{FF2B5EF4-FFF2-40B4-BE49-F238E27FC236}">
                <a16:creationId xmlns:a16="http://schemas.microsoft.com/office/drawing/2014/main" id="{C5CB530E-515E-412C-9DF1-5F8FFBD6F38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817602" y="2744546"/>
            <a:ext cx="139038" cy="139038"/>
          </a:xfrm>
          <a:custGeom>
            <a:avLst/>
            <a:gdLst>
              <a:gd name="connsiteX0" fmla="*/ 129601 w 139038"/>
              <a:gd name="connsiteY0" fmla="*/ 60082 h 139038"/>
              <a:gd name="connsiteX1" fmla="*/ 78956 w 139038"/>
              <a:gd name="connsiteY1" fmla="*/ 60082 h 139038"/>
              <a:gd name="connsiteX2" fmla="*/ 78956 w 139038"/>
              <a:gd name="connsiteY2" fmla="*/ 9437 h 139038"/>
              <a:gd name="connsiteX3" fmla="*/ 69519 w 139038"/>
              <a:gd name="connsiteY3" fmla="*/ 0 h 139038"/>
              <a:gd name="connsiteX4" fmla="*/ 60082 w 139038"/>
              <a:gd name="connsiteY4" fmla="*/ 9437 h 139038"/>
              <a:gd name="connsiteX5" fmla="*/ 60082 w 139038"/>
              <a:gd name="connsiteY5" fmla="*/ 60082 h 139038"/>
              <a:gd name="connsiteX6" fmla="*/ 9437 w 139038"/>
              <a:gd name="connsiteY6" fmla="*/ 60082 h 139038"/>
              <a:gd name="connsiteX7" fmla="*/ 0 w 139038"/>
              <a:gd name="connsiteY7" fmla="*/ 69519 h 139038"/>
              <a:gd name="connsiteX8" fmla="*/ 9437 w 139038"/>
              <a:gd name="connsiteY8" fmla="*/ 78956 h 139038"/>
              <a:gd name="connsiteX9" fmla="*/ 60082 w 139038"/>
              <a:gd name="connsiteY9" fmla="*/ 78956 h 139038"/>
              <a:gd name="connsiteX10" fmla="*/ 60082 w 139038"/>
              <a:gd name="connsiteY10" fmla="*/ 129601 h 139038"/>
              <a:gd name="connsiteX11" fmla="*/ 69519 w 139038"/>
              <a:gd name="connsiteY11" fmla="*/ 139038 h 139038"/>
              <a:gd name="connsiteX12" fmla="*/ 78956 w 139038"/>
              <a:gd name="connsiteY12" fmla="*/ 129601 h 139038"/>
              <a:gd name="connsiteX13" fmla="*/ 78956 w 139038"/>
              <a:gd name="connsiteY13" fmla="*/ 78956 h 139038"/>
              <a:gd name="connsiteX14" fmla="*/ 129601 w 139038"/>
              <a:gd name="connsiteY14" fmla="*/ 78956 h 139038"/>
              <a:gd name="connsiteX15" fmla="*/ 139038 w 139038"/>
              <a:gd name="connsiteY15" fmla="*/ 69519 h 139038"/>
              <a:gd name="connsiteX16" fmla="*/ 129601 w 139038"/>
              <a:gd name="connsiteY16" fmla="*/ 60082 h 13903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39038" h="139038">
                <a:moveTo>
                  <a:pt x="129601" y="60082"/>
                </a:moveTo>
                <a:lnTo>
                  <a:pt x="78956" y="60082"/>
                </a:lnTo>
                <a:lnTo>
                  <a:pt x="78956" y="9437"/>
                </a:lnTo>
                <a:cubicBezTo>
                  <a:pt x="78956" y="4225"/>
                  <a:pt x="74731" y="0"/>
                  <a:pt x="69519" y="0"/>
                </a:cubicBezTo>
                <a:cubicBezTo>
                  <a:pt x="64307" y="0"/>
                  <a:pt x="60082" y="4225"/>
                  <a:pt x="60082" y="9437"/>
                </a:cubicBezTo>
                <a:lnTo>
                  <a:pt x="60082" y="60082"/>
                </a:lnTo>
                <a:lnTo>
                  <a:pt x="9437" y="60082"/>
                </a:lnTo>
                <a:cubicBezTo>
                  <a:pt x="4225" y="60082"/>
                  <a:pt x="0" y="64307"/>
                  <a:pt x="0" y="69519"/>
                </a:cubicBezTo>
                <a:cubicBezTo>
                  <a:pt x="0" y="74731"/>
                  <a:pt x="4225" y="78956"/>
                  <a:pt x="9437" y="78956"/>
                </a:cubicBezTo>
                <a:lnTo>
                  <a:pt x="60082" y="78956"/>
                </a:lnTo>
                <a:lnTo>
                  <a:pt x="60082" y="129601"/>
                </a:lnTo>
                <a:cubicBezTo>
                  <a:pt x="60082" y="134813"/>
                  <a:pt x="64307" y="139038"/>
                  <a:pt x="69519" y="139038"/>
                </a:cubicBezTo>
                <a:cubicBezTo>
                  <a:pt x="74731" y="139038"/>
                  <a:pt x="78956" y="134813"/>
                  <a:pt x="78956" y="129601"/>
                </a:cubicBezTo>
                <a:lnTo>
                  <a:pt x="78956" y="78956"/>
                </a:lnTo>
                <a:lnTo>
                  <a:pt x="129601" y="78956"/>
                </a:lnTo>
                <a:cubicBezTo>
                  <a:pt x="134813" y="78956"/>
                  <a:pt x="139038" y="74731"/>
                  <a:pt x="139038" y="69519"/>
                </a:cubicBezTo>
                <a:cubicBezTo>
                  <a:pt x="139038" y="64307"/>
                  <a:pt x="134813" y="60082"/>
                  <a:pt x="129601" y="60082"/>
                </a:cubicBezTo>
                <a:close/>
              </a:path>
            </a:pathLst>
          </a:custGeom>
          <a:solidFill>
            <a:srgbClr val="FFFFFF"/>
          </a:solidFill>
          <a:ln w="603" cap="flat">
            <a:noFill/>
            <a:prstDash val="solid"/>
            <a:miter/>
          </a:ln>
        </p:spPr>
        <p:txBody>
          <a:bodyPr rtlCol="0" anchor="ctr"/>
          <a:lstStyle/>
          <a:p>
            <a:endParaRPr lang="en-US">
              <a:solidFill>
                <a:srgbClr val="FFFFFF"/>
              </a:solidFill>
            </a:endParaRPr>
          </a:p>
        </p:txBody>
      </p:sp>
      <p:sp>
        <p:nvSpPr>
          <p:cNvPr id="12" name="Graphic 12">
            <a:extLst>
              <a:ext uri="{FF2B5EF4-FFF2-40B4-BE49-F238E27FC236}">
                <a16:creationId xmlns:a16="http://schemas.microsoft.com/office/drawing/2014/main" id="{712D4376-A578-4FF1-94FC-245E7A6A489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7176380" y="2973840"/>
            <a:ext cx="91138" cy="91138"/>
          </a:xfrm>
          <a:custGeom>
            <a:avLst/>
            <a:gdLst>
              <a:gd name="connsiteX0" fmla="*/ 91138 w 91138"/>
              <a:gd name="connsiteY0" fmla="*/ 45569 h 91138"/>
              <a:gd name="connsiteX1" fmla="*/ 45569 w 91138"/>
              <a:gd name="connsiteY1" fmla="*/ 91138 h 91138"/>
              <a:gd name="connsiteX2" fmla="*/ 0 w 91138"/>
              <a:gd name="connsiteY2" fmla="*/ 45569 h 91138"/>
              <a:gd name="connsiteX3" fmla="*/ 45569 w 91138"/>
              <a:gd name="connsiteY3" fmla="*/ 0 h 91138"/>
              <a:gd name="connsiteX4" fmla="*/ 91138 w 91138"/>
              <a:gd name="connsiteY4" fmla="*/ 45569 h 911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1138" h="91138">
                <a:moveTo>
                  <a:pt x="91138" y="45569"/>
                </a:moveTo>
                <a:cubicBezTo>
                  <a:pt x="91138" y="70736"/>
                  <a:pt x="70736" y="91138"/>
                  <a:pt x="45569" y="91138"/>
                </a:cubicBezTo>
                <a:cubicBezTo>
                  <a:pt x="20402" y="91138"/>
                  <a:pt x="0" y="70736"/>
                  <a:pt x="0" y="45569"/>
                </a:cubicBezTo>
                <a:cubicBezTo>
                  <a:pt x="0" y="20402"/>
                  <a:pt x="20402" y="0"/>
                  <a:pt x="45569" y="0"/>
                </a:cubicBezTo>
                <a:cubicBezTo>
                  <a:pt x="70736" y="0"/>
                  <a:pt x="91138" y="20402"/>
                  <a:pt x="91138" y="45569"/>
                </a:cubicBezTo>
                <a:close/>
              </a:path>
            </a:pathLst>
          </a:custGeom>
          <a:solidFill>
            <a:srgbClr val="FFFFFF"/>
          </a:solidFill>
          <a:ln w="422" cap="flat">
            <a:noFill/>
            <a:prstDash val="solid"/>
            <a:miter/>
          </a:ln>
        </p:spPr>
        <p:txBody>
          <a:bodyPr rtlCol="0" anchor="ctr"/>
          <a:lstStyle/>
          <a:p>
            <a:endParaRPr lang="en-US">
              <a:solidFill>
                <a:srgbClr val="FFFFFF"/>
              </a:solidFill>
            </a:endParaRPr>
          </a:p>
        </p:txBody>
      </p:sp>
      <p:sp>
        <p:nvSpPr>
          <p:cNvPr id="14" name="Graphic 15">
            <a:extLst>
              <a:ext uri="{FF2B5EF4-FFF2-40B4-BE49-F238E27FC236}">
                <a16:creationId xmlns:a16="http://schemas.microsoft.com/office/drawing/2014/main" id="{AEA7509D-F04F-40CB-A0B3-EEF16499CC9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802062" y="3198265"/>
            <a:ext cx="127713" cy="127713"/>
          </a:xfrm>
          <a:custGeom>
            <a:avLst/>
            <a:gdLst>
              <a:gd name="connsiteX0" fmla="*/ 63857 w 127713"/>
              <a:gd name="connsiteY0" fmla="*/ 18874 h 127713"/>
              <a:gd name="connsiteX1" fmla="*/ 108839 w 127713"/>
              <a:gd name="connsiteY1" fmla="*/ 63857 h 127713"/>
              <a:gd name="connsiteX2" fmla="*/ 63857 w 127713"/>
              <a:gd name="connsiteY2" fmla="*/ 108839 h 127713"/>
              <a:gd name="connsiteX3" fmla="*/ 18874 w 127713"/>
              <a:gd name="connsiteY3" fmla="*/ 63857 h 127713"/>
              <a:gd name="connsiteX4" fmla="*/ 63857 w 127713"/>
              <a:gd name="connsiteY4" fmla="*/ 18874 h 127713"/>
              <a:gd name="connsiteX5" fmla="*/ 63857 w 127713"/>
              <a:gd name="connsiteY5" fmla="*/ 0 h 127713"/>
              <a:gd name="connsiteX6" fmla="*/ 0 w 127713"/>
              <a:gd name="connsiteY6" fmla="*/ 63857 h 127713"/>
              <a:gd name="connsiteX7" fmla="*/ 63857 w 127713"/>
              <a:gd name="connsiteY7" fmla="*/ 127713 h 127713"/>
              <a:gd name="connsiteX8" fmla="*/ 127713 w 127713"/>
              <a:gd name="connsiteY8" fmla="*/ 63857 h 127713"/>
              <a:gd name="connsiteX9" fmla="*/ 63857 w 127713"/>
              <a:gd name="connsiteY9" fmla="*/ 0 h 12771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27713" h="127713">
                <a:moveTo>
                  <a:pt x="63857" y="18874"/>
                </a:moveTo>
                <a:cubicBezTo>
                  <a:pt x="88700" y="18874"/>
                  <a:pt x="108839" y="39013"/>
                  <a:pt x="108839" y="63857"/>
                </a:cubicBezTo>
                <a:cubicBezTo>
                  <a:pt x="108839" y="88700"/>
                  <a:pt x="88700" y="108839"/>
                  <a:pt x="63857" y="108839"/>
                </a:cubicBezTo>
                <a:cubicBezTo>
                  <a:pt x="39013" y="108839"/>
                  <a:pt x="18874" y="88700"/>
                  <a:pt x="18874" y="63857"/>
                </a:cubicBezTo>
                <a:cubicBezTo>
                  <a:pt x="18898" y="39023"/>
                  <a:pt x="39023" y="18898"/>
                  <a:pt x="63857" y="18874"/>
                </a:cubicBezTo>
                <a:moveTo>
                  <a:pt x="63857" y="0"/>
                </a:moveTo>
                <a:cubicBezTo>
                  <a:pt x="28590" y="0"/>
                  <a:pt x="0" y="28590"/>
                  <a:pt x="0" y="63857"/>
                </a:cubicBezTo>
                <a:cubicBezTo>
                  <a:pt x="0" y="99124"/>
                  <a:pt x="28590" y="127713"/>
                  <a:pt x="63857" y="127713"/>
                </a:cubicBezTo>
                <a:cubicBezTo>
                  <a:pt x="99124" y="127713"/>
                  <a:pt x="127713" y="99124"/>
                  <a:pt x="127713" y="63857"/>
                </a:cubicBezTo>
                <a:cubicBezTo>
                  <a:pt x="127713" y="28590"/>
                  <a:pt x="99124" y="0"/>
                  <a:pt x="63857" y="0"/>
                </a:cubicBezTo>
                <a:close/>
              </a:path>
            </a:pathLst>
          </a:custGeom>
          <a:solidFill>
            <a:srgbClr val="FFFFFF"/>
          </a:solidFill>
          <a:ln w="610" cap="flat">
            <a:noFill/>
            <a:prstDash val="solid"/>
            <a:miter/>
          </a:ln>
        </p:spPr>
        <p:txBody>
          <a:bodyPr rtlCol="0" anchor="ctr"/>
          <a:lstStyle/>
          <a:p>
            <a:endParaRPr lang="en-US">
              <a:solidFill>
                <a:srgbClr val="FFFFFF"/>
              </a:solidFill>
            </a:endParaRPr>
          </a:p>
        </p:txBody>
      </p:sp>
      <p:cxnSp>
        <p:nvCxnSpPr>
          <p:cNvPr id="16" name="Straight Connector 15">
            <a:extLst>
              <a:ext uri="{FF2B5EF4-FFF2-40B4-BE49-F238E27FC236}">
                <a16:creationId xmlns:a16="http://schemas.microsoft.com/office/drawing/2014/main" id="{56020367-4FD5-4596-8E10-C5F095CD8DBF}"/>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1301262" y="3496322"/>
            <a:ext cx="0" cy="3352800"/>
          </a:xfrm>
          <a:prstGeom prst="line">
            <a:avLst/>
          </a:prstGeom>
          <a:ln w="25400" cap="sq">
            <a:solidFill>
              <a:srgbClr val="FFFFFF"/>
            </a:solidFill>
            <a:beve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81721196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C9271D5F-0C06-8D82-0358-546674BE9B20}"/>
            </a:ext>
          </a:extLst>
        </p:cNvPr>
        <p:cNvGrpSpPr/>
        <p:nvPr/>
      </p:nvGrpSpPr>
      <p:grpSpPr>
        <a:xfrm>
          <a:off x="0" y="0"/>
          <a:ext cx="0" cy="0"/>
          <a:chOff x="0" y="0"/>
          <a:chExt cx="0" cy="0"/>
        </a:xfrm>
      </p:grpSpPr>
      <p:sp>
        <p:nvSpPr>
          <p:cNvPr id="8" name="Rectangle 7">
            <a:extLst>
              <a:ext uri="{FF2B5EF4-FFF2-40B4-BE49-F238E27FC236}">
                <a16:creationId xmlns:a16="http://schemas.microsoft.com/office/drawing/2014/main" id="{EED55CD6-3B77-9F6A-06DC-CE9C026D157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gradFill flip="none" rotWithShape="1">
            <a:gsLst>
              <a:gs pos="0">
                <a:schemeClr val="accent1"/>
              </a:gs>
              <a:gs pos="100000">
                <a:schemeClr val="accent2"/>
              </a:gs>
            </a:gsLst>
            <a:lin ang="81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72EE1475-AEEE-AC73-4841-46941E68718B}"/>
              </a:ext>
            </a:extLst>
          </p:cNvPr>
          <p:cNvSpPr>
            <a:spLocks noGrp="1"/>
          </p:cNvSpPr>
          <p:nvPr>
            <p:ph type="title"/>
          </p:nvPr>
        </p:nvSpPr>
        <p:spPr>
          <a:xfrm>
            <a:off x="3880430" y="583345"/>
            <a:ext cx="7160357" cy="4164820"/>
          </a:xfrm>
        </p:spPr>
        <p:txBody>
          <a:bodyPr vert="horz" lIns="91440" tIns="45720" rIns="91440" bIns="45720" rtlCol="0" anchor="t">
            <a:normAutofit/>
          </a:bodyPr>
          <a:lstStyle/>
          <a:p>
            <a:pPr algn="r"/>
            <a:r>
              <a:rPr lang="en-US" sz="8000" kern="1200" dirty="0">
                <a:solidFill>
                  <a:srgbClr val="FFFFFF"/>
                </a:solidFill>
                <a:latin typeface="+mj-lt"/>
                <a:ea typeface="+mj-ea"/>
                <a:cs typeface="+mj-cs"/>
              </a:rPr>
              <a:t>Agent </a:t>
            </a:r>
            <a:br>
              <a:rPr lang="en-US" sz="8000" kern="1200" dirty="0">
                <a:solidFill>
                  <a:srgbClr val="FFFFFF"/>
                </a:solidFill>
                <a:latin typeface="+mj-lt"/>
                <a:ea typeface="+mj-ea"/>
                <a:cs typeface="+mj-cs"/>
              </a:rPr>
            </a:br>
            <a:r>
              <a:rPr lang="en-US" sz="8000" kern="1200" dirty="0">
                <a:solidFill>
                  <a:srgbClr val="FFFFFF"/>
                </a:solidFill>
                <a:latin typeface="+mj-lt"/>
                <a:ea typeface="+mj-ea"/>
                <a:cs typeface="+mj-cs"/>
              </a:rPr>
              <a:t>vs </a:t>
            </a:r>
            <a:br>
              <a:rPr lang="en-US" sz="8000" kern="1200" dirty="0">
                <a:solidFill>
                  <a:srgbClr val="FFFFFF"/>
                </a:solidFill>
                <a:latin typeface="+mj-lt"/>
                <a:ea typeface="+mj-ea"/>
                <a:cs typeface="+mj-cs"/>
              </a:rPr>
            </a:br>
            <a:r>
              <a:rPr lang="en-US" sz="8000" kern="1200" dirty="0">
                <a:solidFill>
                  <a:srgbClr val="FFFFFF"/>
                </a:solidFill>
                <a:latin typeface="+mj-lt"/>
                <a:ea typeface="+mj-ea"/>
                <a:cs typeface="+mj-cs"/>
              </a:rPr>
              <a:t>Agentic AI</a:t>
            </a:r>
          </a:p>
        </p:txBody>
      </p:sp>
      <p:sp>
        <p:nvSpPr>
          <p:cNvPr id="10" name="Graphic 13">
            <a:extLst>
              <a:ext uri="{FF2B5EF4-FFF2-40B4-BE49-F238E27FC236}">
                <a16:creationId xmlns:a16="http://schemas.microsoft.com/office/drawing/2014/main" id="{714E397F-B903-ABF1-A33A-98BDEF6ACA2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474359" y="583345"/>
            <a:ext cx="139039" cy="139039"/>
          </a:xfrm>
          <a:custGeom>
            <a:avLst/>
            <a:gdLst>
              <a:gd name="connsiteX0" fmla="*/ 129602 w 139039"/>
              <a:gd name="connsiteY0" fmla="*/ 60082 h 139039"/>
              <a:gd name="connsiteX1" fmla="*/ 78957 w 139039"/>
              <a:gd name="connsiteY1" fmla="*/ 60082 h 139039"/>
              <a:gd name="connsiteX2" fmla="*/ 78957 w 139039"/>
              <a:gd name="connsiteY2" fmla="*/ 9437 h 139039"/>
              <a:gd name="connsiteX3" fmla="*/ 69520 w 139039"/>
              <a:gd name="connsiteY3" fmla="*/ 0 h 139039"/>
              <a:gd name="connsiteX4" fmla="*/ 60082 w 139039"/>
              <a:gd name="connsiteY4" fmla="*/ 9437 h 139039"/>
              <a:gd name="connsiteX5" fmla="*/ 60082 w 139039"/>
              <a:gd name="connsiteY5" fmla="*/ 60082 h 139039"/>
              <a:gd name="connsiteX6" fmla="*/ 9437 w 139039"/>
              <a:gd name="connsiteY6" fmla="*/ 60082 h 139039"/>
              <a:gd name="connsiteX7" fmla="*/ 0 w 139039"/>
              <a:gd name="connsiteY7" fmla="*/ 69520 h 139039"/>
              <a:gd name="connsiteX8" fmla="*/ 9437 w 139039"/>
              <a:gd name="connsiteY8" fmla="*/ 78957 h 139039"/>
              <a:gd name="connsiteX9" fmla="*/ 60082 w 139039"/>
              <a:gd name="connsiteY9" fmla="*/ 78957 h 139039"/>
              <a:gd name="connsiteX10" fmla="*/ 60082 w 139039"/>
              <a:gd name="connsiteY10" fmla="*/ 129602 h 139039"/>
              <a:gd name="connsiteX11" fmla="*/ 69520 w 139039"/>
              <a:gd name="connsiteY11" fmla="*/ 139039 h 139039"/>
              <a:gd name="connsiteX12" fmla="*/ 78957 w 139039"/>
              <a:gd name="connsiteY12" fmla="*/ 129602 h 139039"/>
              <a:gd name="connsiteX13" fmla="*/ 78957 w 139039"/>
              <a:gd name="connsiteY13" fmla="*/ 78957 h 139039"/>
              <a:gd name="connsiteX14" fmla="*/ 129602 w 139039"/>
              <a:gd name="connsiteY14" fmla="*/ 78957 h 139039"/>
              <a:gd name="connsiteX15" fmla="*/ 139039 w 139039"/>
              <a:gd name="connsiteY15" fmla="*/ 69520 h 139039"/>
              <a:gd name="connsiteX16" fmla="*/ 129602 w 139039"/>
              <a:gd name="connsiteY16" fmla="*/ 60082 h 1390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39039" h="139039">
                <a:moveTo>
                  <a:pt x="129602" y="60082"/>
                </a:moveTo>
                <a:lnTo>
                  <a:pt x="78957" y="60082"/>
                </a:lnTo>
                <a:lnTo>
                  <a:pt x="78957" y="9437"/>
                </a:lnTo>
                <a:cubicBezTo>
                  <a:pt x="78957" y="4225"/>
                  <a:pt x="74731" y="0"/>
                  <a:pt x="69520" y="0"/>
                </a:cubicBezTo>
                <a:cubicBezTo>
                  <a:pt x="64308" y="0"/>
                  <a:pt x="60082" y="4225"/>
                  <a:pt x="60082" y="9437"/>
                </a:cubicBezTo>
                <a:lnTo>
                  <a:pt x="60082" y="60082"/>
                </a:lnTo>
                <a:lnTo>
                  <a:pt x="9437" y="60082"/>
                </a:lnTo>
                <a:cubicBezTo>
                  <a:pt x="4225" y="60082"/>
                  <a:pt x="0" y="64308"/>
                  <a:pt x="0" y="69520"/>
                </a:cubicBezTo>
                <a:cubicBezTo>
                  <a:pt x="0" y="74731"/>
                  <a:pt x="4225" y="78957"/>
                  <a:pt x="9437" y="78957"/>
                </a:cubicBezTo>
                <a:lnTo>
                  <a:pt x="60082" y="78957"/>
                </a:lnTo>
                <a:lnTo>
                  <a:pt x="60082" y="129602"/>
                </a:lnTo>
                <a:cubicBezTo>
                  <a:pt x="60082" y="134814"/>
                  <a:pt x="64308" y="139039"/>
                  <a:pt x="69520" y="139039"/>
                </a:cubicBezTo>
                <a:cubicBezTo>
                  <a:pt x="74731" y="139039"/>
                  <a:pt x="78957" y="134814"/>
                  <a:pt x="78957" y="129602"/>
                </a:cubicBezTo>
                <a:lnTo>
                  <a:pt x="78957" y="78957"/>
                </a:lnTo>
                <a:lnTo>
                  <a:pt x="129602" y="78957"/>
                </a:lnTo>
                <a:cubicBezTo>
                  <a:pt x="134814" y="78957"/>
                  <a:pt x="139039" y="74731"/>
                  <a:pt x="139039" y="69520"/>
                </a:cubicBezTo>
                <a:cubicBezTo>
                  <a:pt x="139039" y="64308"/>
                  <a:pt x="134814" y="60082"/>
                  <a:pt x="129602" y="60082"/>
                </a:cubicBezTo>
                <a:close/>
              </a:path>
            </a:pathLst>
          </a:custGeom>
          <a:solidFill>
            <a:srgbClr val="FFFFFF"/>
          </a:solidFill>
          <a:ln w="60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Aptos" panose="02110004020202020204"/>
              <a:ea typeface="+mn-ea"/>
              <a:cs typeface="+mn-cs"/>
            </a:endParaRPr>
          </a:p>
        </p:txBody>
      </p:sp>
      <p:sp>
        <p:nvSpPr>
          <p:cNvPr id="12" name="Graphic 12">
            <a:extLst>
              <a:ext uri="{FF2B5EF4-FFF2-40B4-BE49-F238E27FC236}">
                <a16:creationId xmlns:a16="http://schemas.microsoft.com/office/drawing/2014/main" id="{C7FAEF74-2AA4-5A9A-7682-186FDECA28F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833139" y="812640"/>
            <a:ext cx="91138" cy="91138"/>
          </a:xfrm>
          <a:custGeom>
            <a:avLst/>
            <a:gdLst>
              <a:gd name="connsiteX0" fmla="*/ 91138 w 91138"/>
              <a:gd name="connsiteY0" fmla="*/ 45569 h 91138"/>
              <a:gd name="connsiteX1" fmla="*/ 45569 w 91138"/>
              <a:gd name="connsiteY1" fmla="*/ 91138 h 91138"/>
              <a:gd name="connsiteX2" fmla="*/ 0 w 91138"/>
              <a:gd name="connsiteY2" fmla="*/ 45569 h 91138"/>
              <a:gd name="connsiteX3" fmla="*/ 45569 w 91138"/>
              <a:gd name="connsiteY3" fmla="*/ 0 h 91138"/>
              <a:gd name="connsiteX4" fmla="*/ 91138 w 91138"/>
              <a:gd name="connsiteY4" fmla="*/ 45569 h 911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1138" h="91138">
                <a:moveTo>
                  <a:pt x="91138" y="45569"/>
                </a:moveTo>
                <a:cubicBezTo>
                  <a:pt x="91138" y="70736"/>
                  <a:pt x="70736" y="91138"/>
                  <a:pt x="45569" y="91138"/>
                </a:cubicBezTo>
                <a:cubicBezTo>
                  <a:pt x="20402" y="91138"/>
                  <a:pt x="0" y="70736"/>
                  <a:pt x="0" y="45569"/>
                </a:cubicBezTo>
                <a:cubicBezTo>
                  <a:pt x="0" y="20402"/>
                  <a:pt x="20402" y="0"/>
                  <a:pt x="45569" y="0"/>
                </a:cubicBezTo>
                <a:cubicBezTo>
                  <a:pt x="70736" y="0"/>
                  <a:pt x="91138" y="20402"/>
                  <a:pt x="91138" y="45569"/>
                </a:cubicBezTo>
                <a:close/>
              </a:path>
            </a:pathLst>
          </a:custGeom>
          <a:solidFill>
            <a:srgbClr val="FFFFFF"/>
          </a:solidFill>
          <a:ln w="422"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Aptos" panose="02110004020202020204"/>
              <a:ea typeface="+mn-ea"/>
              <a:cs typeface="+mn-cs"/>
            </a:endParaRPr>
          </a:p>
        </p:txBody>
      </p:sp>
      <p:sp>
        <p:nvSpPr>
          <p:cNvPr id="14" name="Graphic 15">
            <a:extLst>
              <a:ext uri="{FF2B5EF4-FFF2-40B4-BE49-F238E27FC236}">
                <a16:creationId xmlns:a16="http://schemas.microsoft.com/office/drawing/2014/main" id="{7648AC55-7A54-5A2E-B86A-E3EBA8EFB98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458819" y="1037066"/>
            <a:ext cx="127714" cy="127714"/>
          </a:xfrm>
          <a:custGeom>
            <a:avLst/>
            <a:gdLst>
              <a:gd name="connsiteX0" fmla="*/ 63857 w 127714"/>
              <a:gd name="connsiteY0" fmla="*/ 18874 h 127714"/>
              <a:gd name="connsiteX1" fmla="*/ 108840 w 127714"/>
              <a:gd name="connsiteY1" fmla="*/ 63857 h 127714"/>
              <a:gd name="connsiteX2" fmla="*/ 63857 w 127714"/>
              <a:gd name="connsiteY2" fmla="*/ 108840 h 127714"/>
              <a:gd name="connsiteX3" fmla="*/ 18874 w 127714"/>
              <a:gd name="connsiteY3" fmla="*/ 63857 h 127714"/>
              <a:gd name="connsiteX4" fmla="*/ 63857 w 127714"/>
              <a:gd name="connsiteY4" fmla="*/ 18874 h 127714"/>
              <a:gd name="connsiteX5" fmla="*/ 63857 w 127714"/>
              <a:gd name="connsiteY5" fmla="*/ 0 h 127714"/>
              <a:gd name="connsiteX6" fmla="*/ 0 w 127714"/>
              <a:gd name="connsiteY6" fmla="*/ 63857 h 127714"/>
              <a:gd name="connsiteX7" fmla="*/ 63857 w 127714"/>
              <a:gd name="connsiteY7" fmla="*/ 127714 h 127714"/>
              <a:gd name="connsiteX8" fmla="*/ 127714 w 127714"/>
              <a:gd name="connsiteY8" fmla="*/ 63857 h 127714"/>
              <a:gd name="connsiteX9" fmla="*/ 63857 w 127714"/>
              <a:gd name="connsiteY9" fmla="*/ 0 h 1277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27714" h="127714">
                <a:moveTo>
                  <a:pt x="63857" y="18874"/>
                </a:moveTo>
                <a:cubicBezTo>
                  <a:pt x="88700" y="18874"/>
                  <a:pt x="108840" y="39014"/>
                  <a:pt x="108840" y="63857"/>
                </a:cubicBezTo>
                <a:cubicBezTo>
                  <a:pt x="108840" y="88700"/>
                  <a:pt x="88700" y="108840"/>
                  <a:pt x="63857" y="108840"/>
                </a:cubicBezTo>
                <a:cubicBezTo>
                  <a:pt x="39014" y="108840"/>
                  <a:pt x="18874" y="88700"/>
                  <a:pt x="18874" y="63857"/>
                </a:cubicBezTo>
                <a:cubicBezTo>
                  <a:pt x="18898" y="39024"/>
                  <a:pt x="39024" y="18898"/>
                  <a:pt x="63857" y="18874"/>
                </a:cubicBezTo>
                <a:moveTo>
                  <a:pt x="63857" y="0"/>
                </a:moveTo>
                <a:cubicBezTo>
                  <a:pt x="28590" y="0"/>
                  <a:pt x="0" y="28590"/>
                  <a:pt x="0" y="63857"/>
                </a:cubicBezTo>
                <a:cubicBezTo>
                  <a:pt x="0" y="99124"/>
                  <a:pt x="28590" y="127714"/>
                  <a:pt x="63857" y="127714"/>
                </a:cubicBezTo>
                <a:cubicBezTo>
                  <a:pt x="99124" y="127714"/>
                  <a:pt x="127714" y="99124"/>
                  <a:pt x="127714" y="63857"/>
                </a:cubicBezTo>
                <a:cubicBezTo>
                  <a:pt x="127714" y="28590"/>
                  <a:pt x="99124" y="0"/>
                  <a:pt x="63857" y="0"/>
                </a:cubicBezTo>
                <a:close/>
              </a:path>
            </a:pathLst>
          </a:custGeom>
          <a:solidFill>
            <a:srgbClr val="FFFFFF"/>
          </a:solidFill>
          <a:ln w="610"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Aptos" panose="02110004020202020204"/>
              <a:ea typeface="+mn-ea"/>
              <a:cs typeface="+mn-cs"/>
            </a:endParaRPr>
          </a:p>
        </p:txBody>
      </p:sp>
      <p:cxnSp>
        <p:nvCxnSpPr>
          <p:cNvPr id="16" name="Straight Connector 15">
            <a:extLst>
              <a:ext uri="{FF2B5EF4-FFF2-40B4-BE49-F238E27FC236}">
                <a16:creationId xmlns:a16="http://schemas.microsoft.com/office/drawing/2014/main" id="{A11A87E6-0835-ACBD-5012-1892CC0D408C}"/>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856114" y="3503032"/>
            <a:ext cx="0" cy="3346090"/>
          </a:xfrm>
          <a:prstGeom prst="line">
            <a:avLst/>
          </a:prstGeom>
          <a:ln w="25400" cap="sq">
            <a:solidFill>
              <a:srgbClr val="FFFFFF"/>
            </a:solidFill>
            <a:bevel/>
          </a:ln>
        </p:spPr>
        <p:style>
          <a:lnRef idx="1">
            <a:schemeClr val="accent1"/>
          </a:lnRef>
          <a:fillRef idx="0">
            <a:schemeClr val="accent1"/>
          </a:fillRef>
          <a:effectRef idx="0">
            <a:schemeClr val="accent1"/>
          </a:effectRef>
          <a:fontRef idx="minor">
            <a:schemeClr val="tx1"/>
          </a:fontRef>
        </p:style>
      </p:cxnSp>
      <p:sp>
        <p:nvSpPr>
          <p:cNvPr id="18" name="Graphic 22">
            <a:extLst>
              <a:ext uri="{FF2B5EF4-FFF2-40B4-BE49-F238E27FC236}">
                <a16:creationId xmlns:a16="http://schemas.microsoft.com/office/drawing/2014/main" id="{54B0F391-35CE-5D82-632A-B836694D7E4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0836425" y="5636680"/>
            <a:ext cx="151536" cy="151536"/>
          </a:xfrm>
          <a:custGeom>
            <a:avLst/>
            <a:gdLst>
              <a:gd name="connsiteX0" fmla="*/ 141251 w 151536"/>
              <a:gd name="connsiteY0" fmla="*/ 65483 h 151536"/>
              <a:gd name="connsiteX1" fmla="*/ 86053 w 151536"/>
              <a:gd name="connsiteY1" fmla="*/ 65483 h 151536"/>
              <a:gd name="connsiteX2" fmla="*/ 86053 w 151536"/>
              <a:gd name="connsiteY2" fmla="*/ 10285 h 151536"/>
              <a:gd name="connsiteX3" fmla="*/ 75768 w 151536"/>
              <a:gd name="connsiteY3" fmla="*/ 0 h 151536"/>
              <a:gd name="connsiteX4" fmla="*/ 65483 w 151536"/>
              <a:gd name="connsiteY4" fmla="*/ 10285 h 151536"/>
              <a:gd name="connsiteX5" fmla="*/ 65483 w 151536"/>
              <a:gd name="connsiteY5" fmla="*/ 65483 h 151536"/>
              <a:gd name="connsiteX6" fmla="*/ 10285 w 151536"/>
              <a:gd name="connsiteY6" fmla="*/ 65483 h 151536"/>
              <a:gd name="connsiteX7" fmla="*/ 0 w 151536"/>
              <a:gd name="connsiteY7" fmla="*/ 75768 h 151536"/>
              <a:gd name="connsiteX8" fmla="*/ 10285 w 151536"/>
              <a:gd name="connsiteY8" fmla="*/ 86053 h 151536"/>
              <a:gd name="connsiteX9" fmla="*/ 65483 w 151536"/>
              <a:gd name="connsiteY9" fmla="*/ 86053 h 151536"/>
              <a:gd name="connsiteX10" fmla="*/ 65483 w 151536"/>
              <a:gd name="connsiteY10" fmla="*/ 141251 h 151536"/>
              <a:gd name="connsiteX11" fmla="*/ 75768 w 151536"/>
              <a:gd name="connsiteY11" fmla="*/ 151536 h 151536"/>
              <a:gd name="connsiteX12" fmla="*/ 86053 w 151536"/>
              <a:gd name="connsiteY12" fmla="*/ 141251 h 151536"/>
              <a:gd name="connsiteX13" fmla="*/ 86053 w 151536"/>
              <a:gd name="connsiteY13" fmla="*/ 86053 h 151536"/>
              <a:gd name="connsiteX14" fmla="*/ 141251 w 151536"/>
              <a:gd name="connsiteY14" fmla="*/ 86053 h 151536"/>
              <a:gd name="connsiteX15" fmla="*/ 151536 w 151536"/>
              <a:gd name="connsiteY15" fmla="*/ 75768 h 151536"/>
              <a:gd name="connsiteX16" fmla="*/ 141251 w 151536"/>
              <a:gd name="connsiteY16" fmla="*/ 65483 h 1515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51536" h="151536">
                <a:moveTo>
                  <a:pt x="141251" y="65483"/>
                </a:moveTo>
                <a:lnTo>
                  <a:pt x="86053" y="65483"/>
                </a:lnTo>
                <a:lnTo>
                  <a:pt x="86053" y="10285"/>
                </a:lnTo>
                <a:cubicBezTo>
                  <a:pt x="86053" y="4605"/>
                  <a:pt x="81448" y="0"/>
                  <a:pt x="75768" y="0"/>
                </a:cubicBezTo>
                <a:cubicBezTo>
                  <a:pt x="70088" y="0"/>
                  <a:pt x="65483" y="4605"/>
                  <a:pt x="65483" y="10285"/>
                </a:cubicBezTo>
                <a:lnTo>
                  <a:pt x="65483" y="65483"/>
                </a:lnTo>
                <a:lnTo>
                  <a:pt x="10285" y="65483"/>
                </a:lnTo>
                <a:cubicBezTo>
                  <a:pt x="4605" y="65483"/>
                  <a:pt x="0" y="70088"/>
                  <a:pt x="0" y="75768"/>
                </a:cubicBezTo>
                <a:cubicBezTo>
                  <a:pt x="0" y="81448"/>
                  <a:pt x="4605" y="86053"/>
                  <a:pt x="10285" y="86053"/>
                </a:cubicBezTo>
                <a:lnTo>
                  <a:pt x="65483" y="86053"/>
                </a:lnTo>
                <a:lnTo>
                  <a:pt x="65483" y="141251"/>
                </a:lnTo>
                <a:cubicBezTo>
                  <a:pt x="65483" y="146931"/>
                  <a:pt x="70088" y="151536"/>
                  <a:pt x="75768" y="151536"/>
                </a:cubicBezTo>
                <a:cubicBezTo>
                  <a:pt x="81448" y="151536"/>
                  <a:pt x="86053" y="146931"/>
                  <a:pt x="86053" y="141251"/>
                </a:cubicBezTo>
                <a:lnTo>
                  <a:pt x="86053" y="86053"/>
                </a:lnTo>
                <a:lnTo>
                  <a:pt x="141251" y="86053"/>
                </a:lnTo>
                <a:cubicBezTo>
                  <a:pt x="146931" y="86053"/>
                  <a:pt x="151536" y="81448"/>
                  <a:pt x="151536" y="75768"/>
                </a:cubicBezTo>
                <a:cubicBezTo>
                  <a:pt x="151536" y="70088"/>
                  <a:pt x="146931" y="65483"/>
                  <a:pt x="141251" y="65483"/>
                </a:cubicBezTo>
                <a:close/>
              </a:path>
            </a:pathLst>
          </a:custGeom>
          <a:solidFill>
            <a:srgbClr val="FFFFFF"/>
          </a:solidFill>
          <a:ln w="646"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Aptos" panose="02110004020202020204"/>
              <a:ea typeface="+mn-ea"/>
              <a:cs typeface="+mn-cs"/>
            </a:endParaRPr>
          </a:p>
        </p:txBody>
      </p:sp>
      <p:sp>
        <p:nvSpPr>
          <p:cNvPr id="20" name="Graphic 23">
            <a:extLst>
              <a:ext uri="{FF2B5EF4-FFF2-40B4-BE49-F238E27FC236}">
                <a16:creationId xmlns:a16="http://schemas.microsoft.com/office/drawing/2014/main" id="{295BB132-BCBC-BAC7-C722-5E288CD6C16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1245175" y="6096759"/>
            <a:ext cx="108625" cy="108625"/>
          </a:xfrm>
          <a:custGeom>
            <a:avLst/>
            <a:gdLst>
              <a:gd name="connsiteX0" fmla="*/ 54313 w 108625"/>
              <a:gd name="connsiteY0" fmla="*/ 16053 h 108625"/>
              <a:gd name="connsiteX1" fmla="*/ 92572 w 108625"/>
              <a:gd name="connsiteY1" fmla="*/ 54313 h 108625"/>
              <a:gd name="connsiteX2" fmla="*/ 54313 w 108625"/>
              <a:gd name="connsiteY2" fmla="*/ 92572 h 108625"/>
              <a:gd name="connsiteX3" fmla="*/ 16053 w 108625"/>
              <a:gd name="connsiteY3" fmla="*/ 54313 h 108625"/>
              <a:gd name="connsiteX4" fmla="*/ 54313 w 108625"/>
              <a:gd name="connsiteY4" fmla="*/ 16053 h 108625"/>
              <a:gd name="connsiteX5" fmla="*/ 54313 w 108625"/>
              <a:gd name="connsiteY5" fmla="*/ 0 h 108625"/>
              <a:gd name="connsiteX6" fmla="*/ 0 w 108625"/>
              <a:gd name="connsiteY6" fmla="*/ 54313 h 108625"/>
              <a:gd name="connsiteX7" fmla="*/ 54313 w 108625"/>
              <a:gd name="connsiteY7" fmla="*/ 108625 h 108625"/>
              <a:gd name="connsiteX8" fmla="*/ 108625 w 108625"/>
              <a:gd name="connsiteY8" fmla="*/ 54313 h 108625"/>
              <a:gd name="connsiteX9" fmla="*/ 54313 w 108625"/>
              <a:gd name="connsiteY9" fmla="*/ 0 h 1086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08625" h="108625">
                <a:moveTo>
                  <a:pt x="54313" y="16053"/>
                </a:moveTo>
                <a:cubicBezTo>
                  <a:pt x="75442" y="16053"/>
                  <a:pt x="92572" y="33182"/>
                  <a:pt x="92572" y="54313"/>
                </a:cubicBezTo>
                <a:cubicBezTo>
                  <a:pt x="92572" y="75442"/>
                  <a:pt x="75442" y="92572"/>
                  <a:pt x="54313" y="92572"/>
                </a:cubicBezTo>
                <a:cubicBezTo>
                  <a:pt x="33182" y="92572"/>
                  <a:pt x="16053" y="75442"/>
                  <a:pt x="16053" y="54313"/>
                </a:cubicBezTo>
                <a:cubicBezTo>
                  <a:pt x="16074" y="33191"/>
                  <a:pt x="33191" y="16074"/>
                  <a:pt x="54313" y="16053"/>
                </a:cubicBezTo>
                <a:moveTo>
                  <a:pt x="54313" y="0"/>
                </a:moveTo>
                <a:cubicBezTo>
                  <a:pt x="24317" y="0"/>
                  <a:pt x="0" y="24317"/>
                  <a:pt x="0" y="54313"/>
                </a:cubicBezTo>
                <a:cubicBezTo>
                  <a:pt x="0" y="84309"/>
                  <a:pt x="24317" y="108625"/>
                  <a:pt x="54313" y="108625"/>
                </a:cubicBezTo>
                <a:cubicBezTo>
                  <a:pt x="84309" y="108625"/>
                  <a:pt x="108625" y="84309"/>
                  <a:pt x="108625" y="54313"/>
                </a:cubicBezTo>
                <a:cubicBezTo>
                  <a:pt x="108625" y="24317"/>
                  <a:pt x="84309" y="0"/>
                  <a:pt x="54313" y="0"/>
                </a:cubicBezTo>
                <a:close/>
              </a:path>
            </a:pathLst>
          </a:custGeom>
          <a:solidFill>
            <a:srgbClr val="FFFFFF"/>
          </a:solidFill>
          <a:ln w="516"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Aptos" panose="02110004020202020204"/>
              <a:ea typeface="+mn-ea"/>
              <a:cs typeface="+mn-cs"/>
            </a:endParaRPr>
          </a:p>
        </p:txBody>
      </p:sp>
      <p:sp>
        <p:nvSpPr>
          <p:cNvPr id="22" name="Graphic 21">
            <a:extLst>
              <a:ext uri="{FF2B5EF4-FFF2-40B4-BE49-F238E27FC236}">
                <a16:creationId xmlns:a16="http://schemas.microsoft.com/office/drawing/2014/main" id="{4B974AE7-E8FE-08BE-EC5D-EE035AA5EE3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0554288" y="6238029"/>
            <a:ext cx="95759" cy="95759"/>
          </a:xfrm>
          <a:custGeom>
            <a:avLst/>
            <a:gdLst>
              <a:gd name="connsiteX0" fmla="*/ 95759 w 95759"/>
              <a:gd name="connsiteY0" fmla="*/ 47880 h 95759"/>
              <a:gd name="connsiteX1" fmla="*/ 47880 w 95759"/>
              <a:gd name="connsiteY1" fmla="*/ 95759 h 95759"/>
              <a:gd name="connsiteX2" fmla="*/ 0 w 95759"/>
              <a:gd name="connsiteY2" fmla="*/ 47880 h 95759"/>
              <a:gd name="connsiteX3" fmla="*/ 47880 w 95759"/>
              <a:gd name="connsiteY3" fmla="*/ 0 h 95759"/>
              <a:gd name="connsiteX4" fmla="*/ 95759 w 95759"/>
              <a:gd name="connsiteY4" fmla="*/ 47880 h 9575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5759" h="95759">
                <a:moveTo>
                  <a:pt x="95759" y="47880"/>
                </a:moveTo>
                <a:cubicBezTo>
                  <a:pt x="95759" y="74323"/>
                  <a:pt x="74323" y="95759"/>
                  <a:pt x="47880" y="95759"/>
                </a:cubicBezTo>
                <a:cubicBezTo>
                  <a:pt x="21436" y="95759"/>
                  <a:pt x="0" y="74323"/>
                  <a:pt x="0" y="47880"/>
                </a:cubicBezTo>
                <a:cubicBezTo>
                  <a:pt x="0" y="21436"/>
                  <a:pt x="21436" y="0"/>
                  <a:pt x="47880" y="0"/>
                </a:cubicBezTo>
                <a:cubicBezTo>
                  <a:pt x="74323" y="0"/>
                  <a:pt x="95759" y="21436"/>
                  <a:pt x="95759" y="47880"/>
                </a:cubicBezTo>
                <a:close/>
              </a:path>
            </a:pathLst>
          </a:custGeom>
          <a:solidFill>
            <a:srgbClr val="FFFFFF"/>
          </a:solidFill>
          <a:ln w="469"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Aptos" panose="02110004020202020204"/>
              <a:ea typeface="+mn-ea"/>
              <a:cs typeface="+mn-cs"/>
            </a:endParaRPr>
          </a:p>
        </p:txBody>
      </p:sp>
    </p:spTree>
    <p:extLst>
      <p:ext uri="{BB962C8B-B14F-4D97-AF65-F5344CB8AC3E}">
        <p14:creationId xmlns:p14="http://schemas.microsoft.com/office/powerpoint/2010/main" val="326877935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B9D205D-F61A-BDC7-62F5-BED4AEFBEFE0}"/>
              </a:ext>
            </a:extLst>
          </p:cNvPr>
          <p:cNvSpPr>
            <a:spLocks noGrp="1"/>
          </p:cNvSpPr>
          <p:nvPr>
            <p:ph type="title"/>
          </p:nvPr>
        </p:nvSpPr>
        <p:spPr/>
        <p:txBody>
          <a:bodyPr/>
          <a:lstStyle/>
          <a:p>
            <a:r>
              <a:rPr lang="en-US" dirty="0"/>
              <a:t>Agent vs Agentic AI</a:t>
            </a:r>
            <a:endParaRPr lang="en-IN" dirty="0"/>
          </a:p>
        </p:txBody>
      </p:sp>
      <p:sp>
        <p:nvSpPr>
          <p:cNvPr id="3" name="Content Placeholder 2">
            <a:extLst>
              <a:ext uri="{FF2B5EF4-FFF2-40B4-BE49-F238E27FC236}">
                <a16:creationId xmlns:a16="http://schemas.microsoft.com/office/drawing/2014/main" id="{4E086F2A-8AED-FF6E-4930-27D6B2E4DFBB}"/>
              </a:ext>
            </a:extLst>
          </p:cNvPr>
          <p:cNvSpPr>
            <a:spLocks noGrp="1"/>
          </p:cNvSpPr>
          <p:nvPr>
            <p:ph idx="1"/>
          </p:nvPr>
        </p:nvSpPr>
        <p:spPr/>
        <p:txBody>
          <a:bodyPr/>
          <a:lstStyle/>
          <a:p>
            <a:r>
              <a:rPr lang="en-IN" b="1" dirty="0"/>
              <a:t>Agents</a:t>
            </a:r>
            <a:r>
              <a:rPr lang="en-IN" dirty="0"/>
              <a:t> are </a:t>
            </a:r>
            <a:r>
              <a:rPr lang="en-IN" i="1" dirty="0"/>
              <a:t>systems that follow predefined goals and rules</a:t>
            </a:r>
            <a:r>
              <a:rPr lang="en-IN" dirty="0"/>
              <a:t>.</a:t>
            </a:r>
          </a:p>
          <a:p>
            <a:r>
              <a:rPr lang="en-IN" b="1" dirty="0"/>
              <a:t>Agentic AI</a:t>
            </a:r>
            <a:r>
              <a:rPr lang="en-IN" dirty="0"/>
              <a:t> is </a:t>
            </a:r>
            <a:r>
              <a:rPr lang="en-IN" i="1" dirty="0"/>
              <a:t>AI that can reason, plan, and act autonomously across multiple steps</a:t>
            </a:r>
            <a:r>
              <a:rPr lang="en-IN" dirty="0"/>
              <a:t>, often coordinating multiple agents.</a:t>
            </a:r>
          </a:p>
          <a:p>
            <a:endParaRPr lang="en-IN" dirty="0"/>
          </a:p>
          <a:p>
            <a:r>
              <a:rPr lang="en-IN" dirty="0"/>
              <a:t>Think of </a:t>
            </a:r>
            <a:r>
              <a:rPr lang="en-IN" b="1" dirty="0"/>
              <a:t>agents</a:t>
            </a:r>
            <a:r>
              <a:rPr lang="en-IN" dirty="0"/>
              <a:t> as </a:t>
            </a:r>
            <a:r>
              <a:rPr lang="en-IN" i="1" dirty="0"/>
              <a:t>workers</a:t>
            </a:r>
            <a:r>
              <a:rPr lang="en-IN" dirty="0"/>
              <a:t> and </a:t>
            </a:r>
            <a:r>
              <a:rPr lang="en-IN" b="1" dirty="0"/>
              <a:t>agentic AI</a:t>
            </a:r>
            <a:r>
              <a:rPr lang="en-IN" dirty="0"/>
              <a:t> as the </a:t>
            </a:r>
            <a:r>
              <a:rPr lang="en-IN" i="1" dirty="0"/>
              <a:t>manager who decides what needs to be done, in what order, and why</a:t>
            </a:r>
            <a:r>
              <a:rPr lang="en-IN" dirty="0"/>
              <a:t>.</a:t>
            </a:r>
          </a:p>
          <a:p>
            <a:endParaRPr lang="en-IN" dirty="0"/>
          </a:p>
        </p:txBody>
      </p:sp>
    </p:spTree>
    <p:extLst>
      <p:ext uri="{BB962C8B-B14F-4D97-AF65-F5344CB8AC3E}">
        <p14:creationId xmlns:p14="http://schemas.microsoft.com/office/powerpoint/2010/main" val="4258949198"/>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AD56020-D293-3F7E-FBA6-1708037DB347}"/>
              </a:ext>
            </a:extLst>
          </p:cNvPr>
          <p:cNvSpPr>
            <a:spLocks noGrp="1"/>
          </p:cNvSpPr>
          <p:nvPr>
            <p:ph type="title"/>
          </p:nvPr>
        </p:nvSpPr>
        <p:spPr/>
        <p:txBody>
          <a:bodyPr/>
          <a:lstStyle/>
          <a:p>
            <a:r>
              <a:rPr lang="en-US" dirty="0"/>
              <a:t>What are Agents?</a:t>
            </a:r>
            <a:endParaRPr lang="en-IN" dirty="0"/>
          </a:p>
        </p:txBody>
      </p:sp>
      <p:sp>
        <p:nvSpPr>
          <p:cNvPr id="3" name="Content Placeholder 2">
            <a:extLst>
              <a:ext uri="{FF2B5EF4-FFF2-40B4-BE49-F238E27FC236}">
                <a16:creationId xmlns:a16="http://schemas.microsoft.com/office/drawing/2014/main" id="{CA87CFEE-4A14-27A3-BC35-15A14A21E226}"/>
              </a:ext>
            </a:extLst>
          </p:cNvPr>
          <p:cNvSpPr>
            <a:spLocks noGrp="1"/>
          </p:cNvSpPr>
          <p:nvPr>
            <p:ph idx="1"/>
          </p:nvPr>
        </p:nvSpPr>
        <p:spPr/>
        <p:txBody>
          <a:bodyPr>
            <a:normAutofit fontScale="85000" lnSpcReduction="20000"/>
          </a:bodyPr>
          <a:lstStyle/>
          <a:p>
            <a:r>
              <a:rPr lang="en-IN" dirty="0"/>
              <a:t>Agents are </a:t>
            </a:r>
            <a:r>
              <a:rPr lang="en-IN" b="1" dirty="0"/>
              <a:t>software entities that perform tasks autonomously</a:t>
            </a:r>
            <a:r>
              <a:rPr lang="en-IN" dirty="0"/>
              <a:t> within a defined scope.</a:t>
            </a:r>
          </a:p>
          <a:p>
            <a:endParaRPr lang="en-IN" dirty="0"/>
          </a:p>
          <a:p>
            <a:r>
              <a:rPr lang="en-IN" b="1" dirty="0"/>
              <a:t>Core Characteristics</a:t>
            </a:r>
          </a:p>
          <a:p>
            <a:pPr lvl="1"/>
            <a:r>
              <a:rPr lang="en-IN" b="1" dirty="0"/>
              <a:t>Goal-driven</a:t>
            </a:r>
            <a:r>
              <a:rPr lang="en-IN" dirty="0"/>
              <a:t> – They execute tasks toward a specific objective.</a:t>
            </a:r>
          </a:p>
          <a:p>
            <a:pPr lvl="1"/>
            <a:r>
              <a:rPr lang="en-IN" b="1" dirty="0"/>
              <a:t>Rule-bound</a:t>
            </a:r>
            <a:r>
              <a:rPr lang="en-IN" dirty="0"/>
              <a:t> – They operate within constraints or programmed logic.</a:t>
            </a:r>
          </a:p>
          <a:p>
            <a:pPr lvl="1"/>
            <a:r>
              <a:rPr lang="en-IN" b="1" dirty="0"/>
              <a:t>Environment-aware</a:t>
            </a:r>
            <a:r>
              <a:rPr lang="en-IN" dirty="0"/>
              <a:t> They- sense inputs and act accordingly.</a:t>
            </a:r>
          </a:p>
          <a:p>
            <a:pPr lvl="1"/>
            <a:r>
              <a:rPr lang="en-IN" b="1" dirty="0"/>
              <a:t>Single-task oriented</a:t>
            </a:r>
            <a:r>
              <a:rPr lang="en-IN" dirty="0"/>
              <a:t> – Typically optimized for one domain.</a:t>
            </a:r>
          </a:p>
          <a:p>
            <a:pPr lvl="1"/>
            <a:endParaRPr lang="en-IN" dirty="0"/>
          </a:p>
          <a:p>
            <a:r>
              <a:rPr lang="en-IN" b="1" dirty="0"/>
              <a:t>Examples</a:t>
            </a:r>
          </a:p>
          <a:p>
            <a:pPr lvl="1"/>
            <a:r>
              <a:rPr lang="en-IN" dirty="0"/>
              <a:t>A customer-support chatbot</a:t>
            </a:r>
          </a:p>
          <a:p>
            <a:pPr lvl="1"/>
            <a:r>
              <a:rPr lang="en-IN" dirty="0"/>
              <a:t>A trading bot</a:t>
            </a:r>
          </a:p>
          <a:p>
            <a:pPr lvl="1"/>
            <a:r>
              <a:rPr lang="en-IN" dirty="0"/>
              <a:t>A warehouse robot</a:t>
            </a:r>
          </a:p>
          <a:p>
            <a:pPr lvl="1"/>
            <a:r>
              <a:rPr lang="en-IN" dirty="0"/>
              <a:t>A recommendation engine</a:t>
            </a:r>
          </a:p>
          <a:p>
            <a:endParaRPr lang="en-IN" dirty="0"/>
          </a:p>
        </p:txBody>
      </p:sp>
      <p:pic>
        <p:nvPicPr>
          <p:cNvPr id="5" name="Picture 4">
            <a:extLst>
              <a:ext uri="{FF2B5EF4-FFF2-40B4-BE49-F238E27FC236}">
                <a16:creationId xmlns:a16="http://schemas.microsoft.com/office/drawing/2014/main" id="{82D410A2-5F7D-744A-6E63-65B590F00BAA}"/>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8940458" y="2382806"/>
            <a:ext cx="3122051" cy="3364992"/>
          </a:xfrm>
          <a:prstGeom prst="rect">
            <a:avLst/>
          </a:prstGeom>
        </p:spPr>
      </p:pic>
    </p:spTree>
    <p:extLst>
      <p:ext uri="{BB962C8B-B14F-4D97-AF65-F5344CB8AC3E}">
        <p14:creationId xmlns:p14="http://schemas.microsoft.com/office/powerpoint/2010/main" val="165507846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6064343-0543-022A-3219-3B4885007821}"/>
              </a:ext>
            </a:extLst>
          </p:cNvPr>
          <p:cNvSpPr>
            <a:spLocks noGrp="1"/>
          </p:cNvSpPr>
          <p:nvPr>
            <p:ph type="title"/>
          </p:nvPr>
        </p:nvSpPr>
        <p:spPr/>
        <p:txBody>
          <a:bodyPr/>
          <a:lstStyle/>
          <a:p>
            <a:r>
              <a:rPr lang="en-US" dirty="0"/>
              <a:t>Agent Flow</a:t>
            </a:r>
            <a:endParaRPr lang="en-IN" dirty="0"/>
          </a:p>
        </p:txBody>
      </p:sp>
      <p:sp>
        <p:nvSpPr>
          <p:cNvPr id="3" name="Content Placeholder 2">
            <a:extLst>
              <a:ext uri="{FF2B5EF4-FFF2-40B4-BE49-F238E27FC236}">
                <a16:creationId xmlns:a16="http://schemas.microsoft.com/office/drawing/2014/main" id="{C19D53CA-FAD8-491E-B6CD-1EFC4C42A992}"/>
              </a:ext>
            </a:extLst>
          </p:cNvPr>
          <p:cNvSpPr>
            <a:spLocks noGrp="1"/>
          </p:cNvSpPr>
          <p:nvPr>
            <p:ph idx="1"/>
          </p:nvPr>
        </p:nvSpPr>
        <p:spPr/>
        <p:txBody>
          <a:bodyPr/>
          <a:lstStyle/>
          <a:p>
            <a:r>
              <a:rPr lang="en-IN" dirty="0"/>
              <a:t>An AI Agent is an AI-powered entity that can:</a:t>
            </a:r>
          </a:p>
          <a:p>
            <a:pPr lvl="1"/>
            <a:r>
              <a:rPr lang="en-IN" dirty="0"/>
              <a:t>Receive a goal </a:t>
            </a:r>
          </a:p>
          <a:p>
            <a:pPr lvl="1"/>
            <a:r>
              <a:rPr lang="en-IN" dirty="0"/>
              <a:t>Reason about the goal </a:t>
            </a:r>
          </a:p>
          <a:p>
            <a:pPr lvl="1"/>
            <a:r>
              <a:rPr lang="en-IN" dirty="0"/>
              <a:t>Decide what actions to take </a:t>
            </a:r>
          </a:p>
          <a:p>
            <a:pPr lvl="1"/>
            <a:r>
              <a:rPr lang="en-IN" dirty="0"/>
              <a:t>Use tools </a:t>
            </a:r>
          </a:p>
          <a:p>
            <a:pPr lvl="1"/>
            <a:r>
              <a:rPr lang="en-IN" dirty="0"/>
              <a:t>Produce an outcome</a:t>
            </a:r>
          </a:p>
          <a:p>
            <a:endParaRPr lang="en-IN" dirty="0"/>
          </a:p>
        </p:txBody>
      </p:sp>
      <p:pic>
        <p:nvPicPr>
          <p:cNvPr id="5" name="Picture 4">
            <a:extLst>
              <a:ext uri="{FF2B5EF4-FFF2-40B4-BE49-F238E27FC236}">
                <a16:creationId xmlns:a16="http://schemas.microsoft.com/office/drawing/2014/main" id="{FAFE3F16-59D5-650A-119F-A761DCA28154}"/>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8526588" y="1678718"/>
            <a:ext cx="2614287" cy="4645152"/>
          </a:xfrm>
          <a:prstGeom prst="rect">
            <a:avLst/>
          </a:prstGeom>
        </p:spPr>
      </p:pic>
    </p:spTree>
    <p:extLst>
      <p:ext uri="{BB962C8B-B14F-4D97-AF65-F5344CB8AC3E}">
        <p14:creationId xmlns:p14="http://schemas.microsoft.com/office/powerpoint/2010/main" val="246754806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1669BDF-94DF-7468-A877-82C42F3826D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ED62D68-C7E3-462E-D7A8-611CDC1363E2}"/>
              </a:ext>
            </a:extLst>
          </p:cNvPr>
          <p:cNvSpPr>
            <a:spLocks noGrp="1"/>
          </p:cNvSpPr>
          <p:nvPr>
            <p:ph type="title"/>
          </p:nvPr>
        </p:nvSpPr>
        <p:spPr/>
        <p:txBody>
          <a:bodyPr/>
          <a:lstStyle/>
          <a:p>
            <a:r>
              <a:rPr lang="en-US" dirty="0"/>
              <a:t>Agent Flow</a:t>
            </a:r>
            <a:endParaRPr lang="en-IN" dirty="0"/>
          </a:p>
        </p:txBody>
      </p:sp>
      <p:sp>
        <p:nvSpPr>
          <p:cNvPr id="3" name="Content Placeholder 2">
            <a:extLst>
              <a:ext uri="{FF2B5EF4-FFF2-40B4-BE49-F238E27FC236}">
                <a16:creationId xmlns:a16="http://schemas.microsoft.com/office/drawing/2014/main" id="{BA87284A-DA82-2C4C-AA9D-F2EDE871A8FD}"/>
              </a:ext>
            </a:extLst>
          </p:cNvPr>
          <p:cNvSpPr>
            <a:spLocks noGrp="1"/>
          </p:cNvSpPr>
          <p:nvPr>
            <p:ph idx="1"/>
          </p:nvPr>
        </p:nvSpPr>
        <p:spPr/>
        <p:txBody>
          <a:bodyPr>
            <a:normAutofit lnSpcReduction="10000"/>
          </a:bodyPr>
          <a:lstStyle/>
          <a:p>
            <a:r>
              <a:rPr lang="en-IN" dirty="0"/>
              <a:t>Example:</a:t>
            </a:r>
          </a:p>
          <a:p>
            <a:pPr lvl="1"/>
            <a:r>
              <a:rPr lang="en-IN" b="1" dirty="0"/>
              <a:t>Goal:</a:t>
            </a:r>
            <a:r>
              <a:rPr lang="en-IN" dirty="0"/>
              <a:t> "Summarize this 100-page audit report.“</a:t>
            </a:r>
          </a:p>
          <a:p>
            <a:pPr marL="0" indent="0">
              <a:buNone/>
            </a:pPr>
            <a:endParaRPr lang="en-IN" dirty="0"/>
          </a:p>
          <a:p>
            <a:pPr marL="0" indent="0">
              <a:buNone/>
            </a:pPr>
            <a:endParaRPr lang="en-IN" dirty="0"/>
          </a:p>
          <a:p>
            <a:pPr marL="0" indent="0">
              <a:buNone/>
            </a:pPr>
            <a:endParaRPr lang="en-IN" dirty="0"/>
          </a:p>
          <a:p>
            <a:pPr marL="0" indent="0">
              <a:buNone/>
            </a:pPr>
            <a:endParaRPr lang="en-IN" dirty="0"/>
          </a:p>
          <a:p>
            <a:pPr marL="0" indent="0">
              <a:buNone/>
            </a:pPr>
            <a:endParaRPr lang="en-IN" dirty="0"/>
          </a:p>
          <a:p>
            <a:pPr marL="0" indent="0">
              <a:buNone/>
            </a:pPr>
            <a:endParaRPr lang="en-IN" dirty="0"/>
          </a:p>
          <a:p>
            <a:r>
              <a:rPr lang="en-IN" dirty="0"/>
              <a:t>One agent performs the entire task.</a:t>
            </a:r>
          </a:p>
          <a:p>
            <a:endParaRPr lang="en-IN" dirty="0"/>
          </a:p>
        </p:txBody>
      </p:sp>
      <p:pic>
        <p:nvPicPr>
          <p:cNvPr id="5" name="Picture 4">
            <a:extLst>
              <a:ext uri="{FF2B5EF4-FFF2-40B4-BE49-F238E27FC236}">
                <a16:creationId xmlns:a16="http://schemas.microsoft.com/office/drawing/2014/main" id="{2D5B7100-C3D5-7402-0138-DEEEA893325F}"/>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429256" y="2505456"/>
            <a:ext cx="2017776" cy="3026664"/>
          </a:xfrm>
          <a:prstGeom prst="rect">
            <a:avLst/>
          </a:prstGeom>
        </p:spPr>
      </p:pic>
    </p:spTree>
    <p:extLst>
      <p:ext uri="{BB962C8B-B14F-4D97-AF65-F5344CB8AC3E}">
        <p14:creationId xmlns:p14="http://schemas.microsoft.com/office/powerpoint/2010/main" val="156468097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2E78FFF-8C5D-5B9F-4726-DE62E9AA09DB}"/>
              </a:ext>
            </a:extLst>
          </p:cNvPr>
          <p:cNvSpPr>
            <a:spLocks noGrp="1"/>
          </p:cNvSpPr>
          <p:nvPr>
            <p:ph type="title"/>
          </p:nvPr>
        </p:nvSpPr>
        <p:spPr/>
        <p:txBody>
          <a:bodyPr/>
          <a:lstStyle/>
          <a:p>
            <a:r>
              <a:rPr lang="en-US" dirty="0"/>
              <a:t>What is Agentic AI?</a:t>
            </a:r>
            <a:endParaRPr lang="en-IN" dirty="0"/>
          </a:p>
        </p:txBody>
      </p:sp>
      <p:sp>
        <p:nvSpPr>
          <p:cNvPr id="3" name="Content Placeholder 2">
            <a:extLst>
              <a:ext uri="{FF2B5EF4-FFF2-40B4-BE49-F238E27FC236}">
                <a16:creationId xmlns:a16="http://schemas.microsoft.com/office/drawing/2014/main" id="{9E558AF7-2DB2-43DD-A286-2C019476E85D}"/>
              </a:ext>
            </a:extLst>
          </p:cNvPr>
          <p:cNvSpPr>
            <a:spLocks noGrp="1"/>
          </p:cNvSpPr>
          <p:nvPr>
            <p:ph idx="1"/>
          </p:nvPr>
        </p:nvSpPr>
        <p:spPr/>
        <p:txBody>
          <a:bodyPr>
            <a:normAutofit fontScale="70000" lnSpcReduction="20000"/>
          </a:bodyPr>
          <a:lstStyle/>
          <a:p>
            <a:r>
              <a:rPr lang="en-IN" dirty="0"/>
              <a:t>Agentic AI is the </a:t>
            </a:r>
            <a:r>
              <a:rPr lang="en-IN" b="1" dirty="0"/>
              <a:t>next evolution</a:t>
            </a:r>
            <a:r>
              <a:rPr lang="en-IN" dirty="0"/>
              <a:t>: AI systems that can </a:t>
            </a:r>
            <a:r>
              <a:rPr lang="en-IN" b="1" dirty="0"/>
              <a:t>reason, plan, break down tasks, coordinate tools, and adapt</a:t>
            </a:r>
            <a:r>
              <a:rPr lang="en-IN" dirty="0"/>
              <a:t> — often without explicit instructions for every step.</a:t>
            </a:r>
          </a:p>
          <a:p>
            <a:endParaRPr lang="en-IN" dirty="0"/>
          </a:p>
          <a:p>
            <a:r>
              <a:rPr lang="en-IN" b="1" dirty="0"/>
              <a:t>Core Characteristics</a:t>
            </a:r>
          </a:p>
          <a:p>
            <a:pPr lvl="1"/>
            <a:r>
              <a:rPr lang="en-IN" b="1" dirty="0"/>
              <a:t>Multi-step reasoning</a:t>
            </a:r>
            <a:endParaRPr lang="en-IN" dirty="0"/>
          </a:p>
          <a:p>
            <a:pPr lvl="1"/>
            <a:r>
              <a:rPr lang="en-IN" b="1" dirty="0"/>
              <a:t>Planning &amp; decomposition</a:t>
            </a:r>
            <a:endParaRPr lang="en-IN" dirty="0"/>
          </a:p>
          <a:p>
            <a:pPr lvl="1"/>
            <a:r>
              <a:rPr lang="en-IN" b="1" dirty="0"/>
              <a:t>Tool use</a:t>
            </a:r>
            <a:r>
              <a:rPr lang="en-IN" dirty="0"/>
              <a:t> (APIs, databases, software)</a:t>
            </a:r>
          </a:p>
          <a:p>
            <a:pPr lvl="1"/>
            <a:r>
              <a:rPr lang="en-IN" b="1" dirty="0"/>
              <a:t>Self-reflection</a:t>
            </a:r>
            <a:r>
              <a:rPr lang="en-IN" dirty="0"/>
              <a:t> (evaluate and improve its own output)</a:t>
            </a:r>
          </a:p>
          <a:p>
            <a:pPr lvl="1"/>
            <a:r>
              <a:rPr lang="en-IN" b="1" dirty="0"/>
              <a:t>Collaboration with other agents</a:t>
            </a:r>
            <a:endParaRPr lang="en-IN" dirty="0"/>
          </a:p>
          <a:p>
            <a:pPr lvl="1"/>
            <a:r>
              <a:rPr lang="en-IN" b="1" dirty="0"/>
              <a:t>Autonomous decision-making</a:t>
            </a:r>
          </a:p>
          <a:p>
            <a:pPr lvl="1"/>
            <a:endParaRPr lang="en-IN" dirty="0"/>
          </a:p>
          <a:p>
            <a:r>
              <a:rPr lang="en-IN" b="1" dirty="0"/>
              <a:t>Examples</a:t>
            </a:r>
          </a:p>
          <a:p>
            <a:pPr lvl="1"/>
            <a:r>
              <a:rPr lang="en-IN" dirty="0"/>
              <a:t>AI that plans a marketing campaign end-to-end</a:t>
            </a:r>
          </a:p>
          <a:p>
            <a:pPr lvl="1"/>
            <a:r>
              <a:rPr lang="en-IN" dirty="0"/>
              <a:t>AI that orchestrates multiple bots to complete a workflow</a:t>
            </a:r>
          </a:p>
          <a:p>
            <a:pPr lvl="1"/>
            <a:r>
              <a:rPr lang="en-IN" dirty="0"/>
              <a:t>AI that acts as a project manager for other agents</a:t>
            </a:r>
          </a:p>
          <a:p>
            <a:pPr lvl="1"/>
            <a:r>
              <a:rPr lang="en-IN" dirty="0"/>
              <a:t>AI that writes, tests, and deploys code autonomously</a:t>
            </a:r>
          </a:p>
          <a:p>
            <a:endParaRPr lang="en-IN" dirty="0"/>
          </a:p>
        </p:txBody>
      </p:sp>
    </p:spTree>
    <p:extLst>
      <p:ext uri="{BB962C8B-B14F-4D97-AF65-F5344CB8AC3E}">
        <p14:creationId xmlns:p14="http://schemas.microsoft.com/office/powerpoint/2010/main" val="24441263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F854F7A-2431-6DB2-CDDA-8C46F0FE2386}"/>
              </a:ext>
            </a:extLst>
          </p:cNvPr>
          <p:cNvSpPr>
            <a:spLocks noGrp="1"/>
          </p:cNvSpPr>
          <p:nvPr>
            <p:ph type="title"/>
          </p:nvPr>
        </p:nvSpPr>
        <p:spPr/>
        <p:txBody>
          <a:bodyPr/>
          <a:lstStyle/>
          <a:p>
            <a:r>
              <a:rPr lang="en-US" dirty="0"/>
              <a:t>Agentic AI </a:t>
            </a:r>
            <a:r>
              <a:rPr lang="en-US" dirty="0" err="1"/>
              <a:t>FLow</a:t>
            </a:r>
            <a:endParaRPr lang="en-IN" dirty="0"/>
          </a:p>
        </p:txBody>
      </p:sp>
      <p:sp>
        <p:nvSpPr>
          <p:cNvPr id="3" name="Content Placeholder 2">
            <a:extLst>
              <a:ext uri="{FF2B5EF4-FFF2-40B4-BE49-F238E27FC236}">
                <a16:creationId xmlns:a16="http://schemas.microsoft.com/office/drawing/2014/main" id="{098C6D78-B259-240F-8180-BC49F59EB8FE}"/>
              </a:ext>
            </a:extLst>
          </p:cNvPr>
          <p:cNvSpPr>
            <a:spLocks noGrp="1"/>
          </p:cNvSpPr>
          <p:nvPr>
            <p:ph idx="1"/>
          </p:nvPr>
        </p:nvSpPr>
        <p:spPr>
          <a:xfrm>
            <a:off x="838200" y="1825625"/>
            <a:ext cx="7680435" cy="4351338"/>
          </a:xfrm>
        </p:spPr>
        <p:txBody>
          <a:bodyPr>
            <a:normAutofit fontScale="92500" lnSpcReduction="10000"/>
          </a:bodyPr>
          <a:lstStyle/>
          <a:p>
            <a:r>
              <a:rPr lang="en-IN" dirty="0"/>
              <a:t>Agentic AI is a broader system where AI autonomously:</a:t>
            </a:r>
          </a:p>
          <a:p>
            <a:pPr lvl="1"/>
            <a:r>
              <a:rPr lang="en-IN" dirty="0"/>
              <a:t>Plans </a:t>
            </a:r>
          </a:p>
          <a:p>
            <a:pPr lvl="1"/>
            <a:r>
              <a:rPr lang="en-IN" dirty="0"/>
              <a:t>Breaks down goals </a:t>
            </a:r>
          </a:p>
          <a:p>
            <a:pPr lvl="1"/>
            <a:r>
              <a:rPr lang="en-IN" dirty="0"/>
              <a:t>Delegates work </a:t>
            </a:r>
          </a:p>
          <a:p>
            <a:pPr lvl="1"/>
            <a:r>
              <a:rPr lang="en-IN" dirty="0"/>
              <a:t>Uses multiple tools </a:t>
            </a:r>
          </a:p>
          <a:p>
            <a:pPr lvl="1"/>
            <a:r>
              <a:rPr lang="en-IN" dirty="0"/>
              <a:t>Coordinates activities </a:t>
            </a:r>
          </a:p>
          <a:p>
            <a:pPr lvl="1"/>
            <a:r>
              <a:rPr lang="en-IN" dirty="0"/>
              <a:t>Evaluates results </a:t>
            </a:r>
          </a:p>
          <a:p>
            <a:pPr lvl="1"/>
            <a:r>
              <a:rPr lang="en-IN" dirty="0"/>
              <a:t>Iterates until objectives are met</a:t>
            </a:r>
          </a:p>
          <a:p>
            <a:endParaRPr lang="en-IN" dirty="0"/>
          </a:p>
          <a:p>
            <a:r>
              <a:rPr lang="en-IN" dirty="0"/>
              <a:t>The system behaves more like a team than a single worker.</a:t>
            </a:r>
          </a:p>
        </p:txBody>
      </p:sp>
      <p:pic>
        <p:nvPicPr>
          <p:cNvPr id="5" name="Picture 4">
            <a:extLst>
              <a:ext uri="{FF2B5EF4-FFF2-40B4-BE49-F238E27FC236}">
                <a16:creationId xmlns:a16="http://schemas.microsoft.com/office/drawing/2014/main" id="{72468B0D-92FB-586F-AE60-378030F51DF0}"/>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8518635" y="1313793"/>
            <a:ext cx="3304032" cy="4956048"/>
          </a:xfrm>
          <a:prstGeom prst="rect">
            <a:avLst/>
          </a:prstGeom>
        </p:spPr>
      </p:pic>
    </p:spTree>
    <p:extLst>
      <p:ext uri="{BB962C8B-B14F-4D97-AF65-F5344CB8AC3E}">
        <p14:creationId xmlns:p14="http://schemas.microsoft.com/office/powerpoint/2010/main" val="1413741176"/>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4D89BFF-D528-481B-3769-4AC12F6432D3}"/>
              </a:ext>
            </a:extLst>
          </p:cNvPr>
          <p:cNvSpPr>
            <a:spLocks noGrp="1"/>
          </p:cNvSpPr>
          <p:nvPr>
            <p:ph type="title"/>
          </p:nvPr>
        </p:nvSpPr>
        <p:spPr/>
        <p:txBody>
          <a:bodyPr/>
          <a:lstStyle/>
          <a:p>
            <a:r>
              <a:rPr lang="en-US" dirty="0"/>
              <a:t>Key Difference</a:t>
            </a:r>
            <a:endParaRPr lang="en-IN" dirty="0"/>
          </a:p>
        </p:txBody>
      </p:sp>
      <p:graphicFrame>
        <p:nvGraphicFramePr>
          <p:cNvPr id="4" name="Content Placeholder 3">
            <a:extLst>
              <a:ext uri="{FF2B5EF4-FFF2-40B4-BE49-F238E27FC236}">
                <a16:creationId xmlns:a16="http://schemas.microsoft.com/office/drawing/2014/main" id="{562463C2-0F9D-E7DE-2EB0-B7828028BE7F}"/>
              </a:ext>
            </a:extLst>
          </p:cNvPr>
          <p:cNvGraphicFramePr>
            <a:graphicFrameLocks noGrp="1"/>
          </p:cNvGraphicFramePr>
          <p:nvPr>
            <p:ph idx="1"/>
            <p:extLst>
              <p:ext uri="{D42A27DB-BD31-4B8C-83A1-F6EECF244321}">
                <p14:modId xmlns:p14="http://schemas.microsoft.com/office/powerpoint/2010/main" val="2676838467"/>
              </p:ext>
            </p:extLst>
          </p:nvPr>
        </p:nvGraphicFramePr>
        <p:xfrm>
          <a:off x="838200" y="2538254"/>
          <a:ext cx="10515600" cy="2926080"/>
        </p:xfrm>
        <a:graphic>
          <a:graphicData uri="http://schemas.openxmlformats.org/drawingml/2006/table">
            <a:tbl>
              <a:tblPr firstRow="1">
                <a:tableStyleId>{3C2FFA5D-87B4-456A-9821-1D502468CF0F}</a:tableStyleId>
              </a:tblPr>
              <a:tblGrid>
                <a:gridCol w="5257800">
                  <a:extLst>
                    <a:ext uri="{9D8B030D-6E8A-4147-A177-3AD203B41FA5}">
                      <a16:colId xmlns:a16="http://schemas.microsoft.com/office/drawing/2014/main" val="1913705349"/>
                    </a:ext>
                  </a:extLst>
                </a:gridCol>
                <a:gridCol w="5257800">
                  <a:extLst>
                    <a:ext uri="{9D8B030D-6E8A-4147-A177-3AD203B41FA5}">
                      <a16:colId xmlns:a16="http://schemas.microsoft.com/office/drawing/2014/main" val="124026398"/>
                    </a:ext>
                  </a:extLst>
                </a:gridCol>
              </a:tblGrid>
              <a:tr h="0">
                <a:tc>
                  <a:txBody>
                    <a:bodyPr/>
                    <a:lstStyle/>
                    <a:p>
                      <a:pPr>
                        <a:buNone/>
                      </a:pPr>
                      <a:r>
                        <a:rPr lang="en-IN"/>
                        <a:t>AI Agent</a:t>
                      </a:r>
                    </a:p>
                  </a:txBody>
                  <a:tcPr anchor="ctr"/>
                </a:tc>
                <a:tc>
                  <a:txBody>
                    <a:bodyPr/>
                    <a:lstStyle/>
                    <a:p>
                      <a:pPr>
                        <a:buNone/>
                      </a:pPr>
                      <a:r>
                        <a:rPr lang="en-IN"/>
                        <a:t>Agentic AI</a:t>
                      </a:r>
                    </a:p>
                  </a:txBody>
                  <a:tcPr anchor="ctr"/>
                </a:tc>
                <a:extLst>
                  <a:ext uri="{0D108BD9-81ED-4DB2-BD59-A6C34878D82A}">
                    <a16:rowId xmlns:a16="http://schemas.microsoft.com/office/drawing/2014/main" val="3518349280"/>
                  </a:ext>
                </a:extLst>
              </a:tr>
              <a:tr h="0">
                <a:tc>
                  <a:txBody>
                    <a:bodyPr/>
                    <a:lstStyle/>
                    <a:p>
                      <a:pPr>
                        <a:buNone/>
                      </a:pPr>
                      <a:r>
                        <a:rPr lang="en-IN"/>
                        <a:t>Single intelligent worker</a:t>
                      </a:r>
                    </a:p>
                  </a:txBody>
                  <a:tcPr anchor="ctr"/>
                </a:tc>
                <a:tc>
                  <a:txBody>
                    <a:bodyPr/>
                    <a:lstStyle/>
                    <a:p>
                      <a:pPr>
                        <a:buNone/>
                      </a:pPr>
                      <a:r>
                        <a:rPr lang="en-IN"/>
                        <a:t>Entire autonomous workforce</a:t>
                      </a:r>
                    </a:p>
                  </a:txBody>
                  <a:tcPr anchor="ctr"/>
                </a:tc>
                <a:extLst>
                  <a:ext uri="{0D108BD9-81ED-4DB2-BD59-A6C34878D82A}">
                    <a16:rowId xmlns:a16="http://schemas.microsoft.com/office/drawing/2014/main" val="1336138101"/>
                  </a:ext>
                </a:extLst>
              </a:tr>
              <a:tr h="0">
                <a:tc>
                  <a:txBody>
                    <a:bodyPr/>
                    <a:lstStyle/>
                    <a:p>
                      <a:pPr>
                        <a:buNone/>
                      </a:pPr>
                      <a:r>
                        <a:rPr lang="en-IN"/>
                        <a:t>Executes tasks</a:t>
                      </a:r>
                    </a:p>
                  </a:txBody>
                  <a:tcPr anchor="ctr"/>
                </a:tc>
                <a:tc>
                  <a:txBody>
                    <a:bodyPr/>
                    <a:lstStyle/>
                    <a:p>
                      <a:pPr>
                        <a:buNone/>
                      </a:pPr>
                      <a:r>
                        <a:rPr lang="en-IN"/>
                        <a:t>Pursues goals</a:t>
                      </a:r>
                    </a:p>
                  </a:txBody>
                  <a:tcPr anchor="ctr"/>
                </a:tc>
                <a:extLst>
                  <a:ext uri="{0D108BD9-81ED-4DB2-BD59-A6C34878D82A}">
                    <a16:rowId xmlns:a16="http://schemas.microsoft.com/office/drawing/2014/main" val="4227882580"/>
                  </a:ext>
                </a:extLst>
              </a:tr>
              <a:tr h="0">
                <a:tc>
                  <a:txBody>
                    <a:bodyPr/>
                    <a:lstStyle/>
                    <a:p>
                      <a:pPr>
                        <a:buNone/>
                      </a:pPr>
                      <a:r>
                        <a:rPr lang="en-IN"/>
                        <a:t>Usually one reasoning loop</a:t>
                      </a:r>
                    </a:p>
                  </a:txBody>
                  <a:tcPr anchor="ctr"/>
                </a:tc>
                <a:tc>
                  <a:txBody>
                    <a:bodyPr/>
                    <a:lstStyle/>
                    <a:p>
                      <a:pPr>
                        <a:buNone/>
                      </a:pPr>
                      <a:r>
                        <a:rPr lang="en-IN"/>
                        <a:t>Multiple planning loops</a:t>
                      </a:r>
                    </a:p>
                  </a:txBody>
                  <a:tcPr anchor="ctr"/>
                </a:tc>
                <a:extLst>
                  <a:ext uri="{0D108BD9-81ED-4DB2-BD59-A6C34878D82A}">
                    <a16:rowId xmlns:a16="http://schemas.microsoft.com/office/drawing/2014/main" val="1731936777"/>
                  </a:ext>
                </a:extLst>
              </a:tr>
              <a:tr h="0">
                <a:tc>
                  <a:txBody>
                    <a:bodyPr/>
                    <a:lstStyle/>
                    <a:p>
                      <a:pPr>
                        <a:buNone/>
                      </a:pPr>
                      <a:r>
                        <a:rPr lang="en-IN"/>
                        <a:t>Limited autonomy</a:t>
                      </a:r>
                    </a:p>
                  </a:txBody>
                  <a:tcPr anchor="ctr"/>
                </a:tc>
                <a:tc>
                  <a:txBody>
                    <a:bodyPr/>
                    <a:lstStyle/>
                    <a:p>
                      <a:pPr>
                        <a:buNone/>
                      </a:pPr>
                      <a:r>
                        <a:rPr lang="en-IN"/>
                        <a:t>High autonomy</a:t>
                      </a:r>
                    </a:p>
                  </a:txBody>
                  <a:tcPr anchor="ctr"/>
                </a:tc>
                <a:extLst>
                  <a:ext uri="{0D108BD9-81ED-4DB2-BD59-A6C34878D82A}">
                    <a16:rowId xmlns:a16="http://schemas.microsoft.com/office/drawing/2014/main" val="478979201"/>
                  </a:ext>
                </a:extLst>
              </a:tr>
              <a:tr h="0">
                <a:tc>
                  <a:txBody>
                    <a:bodyPr/>
                    <a:lstStyle/>
                    <a:p>
                      <a:pPr>
                        <a:buNone/>
                      </a:pPr>
                      <a:r>
                        <a:rPr lang="en-IN"/>
                        <a:t>Focus on action execution</a:t>
                      </a:r>
                    </a:p>
                  </a:txBody>
                  <a:tcPr anchor="ctr"/>
                </a:tc>
                <a:tc>
                  <a:txBody>
                    <a:bodyPr/>
                    <a:lstStyle/>
                    <a:p>
                      <a:pPr>
                        <a:buNone/>
                      </a:pPr>
                      <a:r>
                        <a:rPr lang="en-IN"/>
                        <a:t>Focus on goal achievement</a:t>
                      </a:r>
                    </a:p>
                  </a:txBody>
                  <a:tcPr anchor="ctr"/>
                </a:tc>
                <a:extLst>
                  <a:ext uri="{0D108BD9-81ED-4DB2-BD59-A6C34878D82A}">
                    <a16:rowId xmlns:a16="http://schemas.microsoft.com/office/drawing/2014/main" val="2515771940"/>
                  </a:ext>
                </a:extLst>
              </a:tr>
              <a:tr h="0">
                <a:tc>
                  <a:txBody>
                    <a:bodyPr/>
                    <a:lstStyle/>
                    <a:p>
                      <a:pPr>
                        <a:buNone/>
                      </a:pPr>
                      <a:r>
                        <a:rPr lang="en-IN"/>
                        <a:t>May use tools</a:t>
                      </a:r>
                    </a:p>
                  </a:txBody>
                  <a:tcPr anchor="ctr"/>
                </a:tc>
                <a:tc>
                  <a:txBody>
                    <a:bodyPr/>
                    <a:lstStyle/>
                    <a:p>
                      <a:pPr>
                        <a:buNone/>
                      </a:pPr>
                      <a:r>
                        <a:rPr lang="en-IN"/>
                        <a:t>Orchestrates tools and agents</a:t>
                      </a:r>
                    </a:p>
                  </a:txBody>
                  <a:tcPr anchor="ctr"/>
                </a:tc>
                <a:extLst>
                  <a:ext uri="{0D108BD9-81ED-4DB2-BD59-A6C34878D82A}">
                    <a16:rowId xmlns:a16="http://schemas.microsoft.com/office/drawing/2014/main" val="1906958044"/>
                  </a:ext>
                </a:extLst>
              </a:tr>
              <a:tr h="0">
                <a:tc>
                  <a:txBody>
                    <a:bodyPr/>
                    <a:lstStyle/>
                    <a:p>
                      <a:pPr>
                        <a:buNone/>
                      </a:pPr>
                      <a:r>
                        <a:rPr lang="en-IN"/>
                        <a:t>One role</a:t>
                      </a:r>
                    </a:p>
                  </a:txBody>
                  <a:tcPr anchor="ctr"/>
                </a:tc>
                <a:tc>
                  <a:txBody>
                    <a:bodyPr/>
                    <a:lstStyle/>
                    <a:p>
                      <a:pPr>
                        <a:buNone/>
                      </a:pPr>
                      <a:r>
                        <a:rPr lang="en-IN" dirty="0"/>
                        <a:t>Multiple roles</a:t>
                      </a:r>
                    </a:p>
                  </a:txBody>
                  <a:tcPr anchor="ctr"/>
                </a:tc>
                <a:extLst>
                  <a:ext uri="{0D108BD9-81ED-4DB2-BD59-A6C34878D82A}">
                    <a16:rowId xmlns:a16="http://schemas.microsoft.com/office/drawing/2014/main" val="607298788"/>
                  </a:ext>
                </a:extLst>
              </a:tr>
            </a:tbl>
          </a:graphicData>
        </a:graphic>
      </p:graphicFrame>
    </p:spTree>
    <p:extLst>
      <p:ext uri="{BB962C8B-B14F-4D97-AF65-F5344CB8AC3E}">
        <p14:creationId xmlns:p14="http://schemas.microsoft.com/office/powerpoint/2010/main" val="357233969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249B76E-E180-D648-847E-154821F1F289}"/>
              </a:ext>
            </a:extLst>
          </p:cNvPr>
          <p:cNvSpPr>
            <a:spLocks noGrp="1"/>
          </p:cNvSpPr>
          <p:nvPr>
            <p:ph type="title"/>
          </p:nvPr>
        </p:nvSpPr>
        <p:spPr/>
        <p:txBody>
          <a:bodyPr/>
          <a:lstStyle/>
          <a:p>
            <a:r>
              <a:rPr lang="en-US" dirty="0"/>
              <a:t>Agent vs Agentic AI Summary</a:t>
            </a:r>
            <a:endParaRPr lang="en-IN" dirty="0"/>
          </a:p>
        </p:txBody>
      </p:sp>
      <p:sp>
        <p:nvSpPr>
          <p:cNvPr id="3" name="Content Placeholder 2">
            <a:extLst>
              <a:ext uri="{FF2B5EF4-FFF2-40B4-BE49-F238E27FC236}">
                <a16:creationId xmlns:a16="http://schemas.microsoft.com/office/drawing/2014/main" id="{33A2A804-E09D-8C20-A20E-81D462E6D108}"/>
              </a:ext>
            </a:extLst>
          </p:cNvPr>
          <p:cNvSpPr>
            <a:spLocks noGrp="1"/>
          </p:cNvSpPr>
          <p:nvPr>
            <p:ph idx="1"/>
          </p:nvPr>
        </p:nvSpPr>
        <p:spPr/>
        <p:txBody>
          <a:bodyPr>
            <a:normAutofit fontScale="77500" lnSpcReduction="20000"/>
          </a:bodyPr>
          <a:lstStyle/>
          <a:p>
            <a:r>
              <a:rPr lang="en-IN" dirty="0"/>
              <a:t>An </a:t>
            </a:r>
            <a:r>
              <a:rPr lang="en-IN" b="1" dirty="0"/>
              <a:t>AI Agent </a:t>
            </a:r>
            <a:r>
              <a:rPr lang="en-IN" dirty="0"/>
              <a:t>is an autonomous digital worker that can reason and act to complete a task. </a:t>
            </a:r>
          </a:p>
          <a:p>
            <a:r>
              <a:rPr lang="en-IN" b="1" dirty="0"/>
              <a:t>Agentic AI </a:t>
            </a:r>
            <a:r>
              <a:rPr lang="en-IN" dirty="0"/>
              <a:t>is a coordinated system of AI workers that can plan, collaborate, use tools, and adapt in pursuit of broader business goals.</a:t>
            </a:r>
          </a:p>
          <a:p>
            <a:endParaRPr lang="en-IN" dirty="0"/>
          </a:p>
          <a:p>
            <a:r>
              <a:rPr lang="en-IN" dirty="0"/>
              <a:t>Example:</a:t>
            </a:r>
          </a:p>
          <a:p>
            <a:pPr marL="0" indent="0">
              <a:buNone/>
            </a:pPr>
            <a:r>
              <a:rPr lang="en-US" sz="2100" dirty="0">
                <a:latin typeface="Cascadia Code" panose="020B0609020000020004" pitchFamily="49" charset="0"/>
                <a:cs typeface="Cascadia Code" panose="020B0609020000020004" pitchFamily="49" charset="0"/>
              </a:rPr>
              <a:t>Agent       = Employee</a:t>
            </a:r>
          </a:p>
          <a:p>
            <a:pPr marL="0" indent="0">
              <a:buNone/>
            </a:pPr>
            <a:endParaRPr lang="en-US" sz="2100" dirty="0">
              <a:latin typeface="Cascadia Code" panose="020B0609020000020004" pitchFamily="49" charset="0"/>
              <a:cs typeface="Cascadia Code" panose="020B0609020000020004" pitchFamily="49" charset="0"/>
            </a:endParaRPr>
          </a:p>
          <a:p>
            <a:pPr marL="0" indent="0">
              <a:buNone/>
            </a:pPr>
            <a:r>
              <a:rPr lang="en-US" sz="2100" dirty="0">
                <a:latin typeface="Cascadia Code" panose="020B0609020000020004" pitchFamily="49" charset="0"/>
                <a:cs typeface="Cascadia Code" panose="020B0609020000020004" pitchFamily="49" charset="0"/>
              </a:rPr>
              <a:t>Agentic AI  = Enterprise</a:t>
            </a:r>
          </a:p>
          <a:p>
            <a:pPr marL="0" indent="0">
              <a:buNone/>
            </a:pPr>
            <a:r>
              <a:rPr lang="en-US" sz="2200" dirty="0">
                <a:latin typeface="Cascadia Code" panose="020B0609020000020004" pitchFamily="49" charset="0"/>
                <a:cs typeface="Cascadia Code" panose="020B0609020000020004" pitchFamily="49" charset="0"/>
              </a:rPr>
              <a:t>             with employees,</a:t>
            </a:r>
          </a:p>
          <a:p>
            <a:pPr marL="0" indent="0">
              <a:buNone/>
            </a:pPr>
            <a:r>
              <a:rPr lang="en-US" sz="2200" dirty="0">
                <a:latin typeface="Cascadia Code" panose="020B0609020000020004" pitchFamily="49" charset="0"/>
                <a:cs typeface="Cascadia Code" panose="020B0609020000020004" pitchFamily="49" charset="0"/>
              </a:rPr>
              <a:t>             managers,</a:t>
            </a:r>
          </a:p>
          <a:p>
            <a:pPr marL="0" indent="0">
              <a:buNone/>
            </a:pPr>
            <a:r>
              <a:rPr lang="en-US" sz="2200" dirty="0">
                <a:latin typeface="Cascadia Code" panose="020B0609020000020004" pitchFamily="49" charset="0"/>
                <a:cs typeface="Cascadia Code" panose="020B0609020000020004" pitchFamily="49" charset="0"/>
              </a:rPr>
              <a:t>             workflows,</a:t>
            </a:r>
          </a:p>
          <a:p>
            <a:pPr marL="0" indent="0">
              <a:buNone/>
            </a:pPr>
            <a:r>
              <a:rPr lang="en-US" sz="2200" dirty="0">
                <a:latin typeface="Cascadia Code" panose="020B0609020000020004" pitchFamily="49" charset="0"/>
                <a:cs typeface="Cascadia Code" panose="020B0609020000020004" pitchFamily="49" charset="0"/>
              </a:rPr>
              <a:t>             governance,</a:t>
            </a:r>
          </a:p>
          <a:p>
            <a:pPr marL="0" indent="0">
              <a:buNone/>
            </a:pPr>
            <a:r>
              <a:rPr lang="en-US" sz="2200" dirty="0">
                <a:latin typeface="Cascadia Code" panose="020B0609020000020004" pitchFamily="49" charset="0"/>
                <a:cs typeface="Cascadia Code" panose="020B0609020000020004" pitchFamily="49" charset="0"/>
              </a:rPr>
              <a:t>             and objectives</a:t>
            </a:r>
            <a:endParaRPr lang="en-IN" sz="2200" dirty="0">
              <a:latin typeface="Cascadia Code" panose="020B0609020000020004" pitchFamily="49" charset="0"/>
              <a:cs typeface="Cascadia Code" panose="020B0609020000020004" pitchFamily="49" charset="0"/>
            </a:endParaRPr>
          </a:p>
        </p:txBody>
      </p:sp>
    </p:spTree>
    <p:extLst>
      <p:ext uri="{BB962C8B-B14F-4D97-AF65-F5344CB8AC3E}">
        <p14:creationId xmlns:p14="http://schemas.microsoft.com/office/powerpoint/2010/main" val="191754491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3F07600E-5694-2E91-0701-B6452A39C74B}"/>
            </a:ext>
          </a:extLst>
        </p:cNvPr>
        <p:cNvGrpSpPr/>
        <p:nvPr/>
      </p:nvGrpSpPr>
      <p:grpSpPr>
        <a:xfrm>
          <a:off x="0" y="0"/>
          <a:ext cx="0" cy="0"/>
          <a:chOff x="0" y="0"/>
          <a:chExt cx="0" cy="0"/>
        </a:xfrm>
      </p:grpSpPr>
      <p:sp>
        <p:nvSpPr>
          <p:cNvPr id="8" name="Rectangle 7">
            <a:extLst>
              <a:ext uri="{FF2B5EF4-FFF2-40B4-BE49-F238E27FC236}">
                <a16:creationId xmlns:a16="http://schemas.microsoft.com/office/drawing/2014/main" id="{F09D9000-910E-E501-B4D3-A594D56B0C2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gradFill flip="none" rotWithShape="1">
            <a:gsLst>
              <a:gs pos="0">
                <a:schemeClr val="accent1"/>
              </a:gs>
              <a:gs pos="100000">
                <a:schemeClr val="accent2"/>
              </a:gs>
            </a:gsLst>
            <a:lin ang="81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DFA14F37-B2E9-6A38-C7E6-ADD85BC47FBF}"/>
              </a:ext>
            </a:extLst>
          </p:cNvPr>
          <p:cNvSpPr>
            <a:spLocks noGrp="1"/>
          </p:cNvSpPr>
          <p:nvPr>
            <p:ph type="title"/>
          </p:nvPr>
        </p:nvSpPr>
        <p:spPr>
          <a:xfrm>
            <a:off x="3880430" y="583345"/>
            <a:ext cx="7160357" cy="4164820"/>
          </a:xfrm>
        </p:spPr>
        <p:txBody>
          <a:bodyPr vert="horz" lIns="91440" tIns="45720" rIns="91440" bIns="45720" rtlCol="0" anchor="t">
            <a:normAutofit/>
          </a:bodyPr>
          <a:lstStyle/>
          <a:p>
            <a:pPr algn="r"/>
            <a:r>
              <a:rPr lang="en-US" sz="8000" kern="1200">
                <a:solidFill>
                  <a:srgbClr val="FFFFFF"/>
                </a:solidFill>
                <a:latin typeface="+mj-lt"/>
                <a:ea typeface="+mj-ea"/>
                <a:cs typeface="+mj-cs"/>
              </a:rPr>
              <a:t>Agent Fundamentals</a:t>
            </a:r>
          </a:p>
        </p:txBody>
      </p:sp>
      <p:sp>
        <p:nvSpPr>
          <p:cNvPr id="10" name="Graphic 13">
            <a:extLst>
              <a:ext uri="{FF2B5EF4-FFF2-40B4-BE49-F238E27FC236}">
                <a16:creationId xmlns:a16="http://schemas.microsoft.com/office/drawing/2014/main" id="{0CDB8AF2-471D-2555-AA3E-9DD033FC80B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474359" y="583345"/>
            <a:ext cx="139039" cy="139039"/>
          </a:xfrm>
          <a:custGeom>
            <a:avLst/>
            <a:gdLst>
              <a:gd name="connsiteX0" fmla="*/ 129602 w 139039"/>
              <a:gd name="connsiteY0" fmla="*/ 60082 h 139039"/>
              <a:gd name="connsiteX1" fmla="*/ 78957 w 139039"/>
              <a:gd name="connsiteY1" fmla="*/ 60082 h 139039"/>
              <a:gd name="connsiteX2" fmla="*/ 78957 w 139039"/>
              <a:gd name="connsiteY2" fmla="*/ 9437 h 139039"/>
              <a:gd name="connsiteX3" fmla="*/ 69520 w 139039"/>
              <a:gd name="connsiteY3" fmla="*/ 0 h 139039"/>
              <a:gd name="connsiteX4" fmla="*/ 60082 w 139039"/>
              <a:gd name="connsiteY4" fmla="*/ 9437 h 139039"/>
              <a:gd name="connsiteX5" fmla="*/ 60082 w 139039"/>
              <a:gd name="connsiteY5" fmla="*/ 60082 h 139039"/>
              <a:gd name="connsiteX6" fmla="*/ 9437 w 139039"/>
              <a:gd name="connsiteY6" fmla="*/ 60082 h 139039"/>
              <a:gd name="connsiteX7" fmla="*/ 0 w 139039"/>
              <a:gd name="connsiteY7" fmla="*/ 69520 h 139039"/>
              <a:gd name="connsiteX8" fmla="*/ 9437 w 139039"/>
              <a:gd name="connsiteY8" fmla="*/ 78957 h 139039"/>
              <a:gd name="connsiteX9" fmla="*/ 60082 w 139039"/>
              <a:gd name="connsiteY9" fmla="*/ 78957 h 139039"/>
              <a:gd name="connsiteX10" fmla="*/ 60082 w 139039"/>
              <a:gd name="connsiteY10" fmla="*/ 129602 h 139039"/>
              <a:gd name="connsiteX11" fmla="*/ 69520 w 139039"/>
              <a:gd name="connsiteY11" fmla="*/ 139039 h 139039"/>
              <a:gd name="connsiteX12" fmla="*/ 78957 w 139039"/>
              <a:gd name="connsiteY12" fmla="*/ 129602 h 139039"/>
              <a:gd name="connsiteX13" fmla="*/ 78957 w 139039"/>
              <a:gd name="connsiteY13" fmla="*/ 78957 h 139039"/>
              <a:gd name="connsiteX14" fmla="*/ 129602 w 139039"/>
              <a:gd name="connsiteY14" fmla="*/ 78957 h 139039"/>
              <a:gd name="connsiteX15" fmla="*/ 139039 w 139039"/>
              <a:gd name="connsiteY15" fmla="*/ 69520 h 139039"/>
              <a:gd name="connsiteX16" fmla="*/ 129602 w 139039"/>
              <a:gd name="connsiteY16" fmla="*/ 60082 h 1390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39039" h="139039">
                <a:moveTo>
                  <a:pt x="129602" y="60082"/>
                </a:moveTo>
                <a:lnTo>
                  <a:pt x="78957" y="60082"/>
                </a:lnTo>
                <a:lnTo>
                  <a:pt x="78957" y="9437"/>
                </a:lnTo>
                <a:cubicBezTo>
                  <a:pt x="78957" y="4225"/>
                  <a:pt x="74731" y="0"/>
                  <a:pt x="69520" y="0"/>
                </a:cubicBezTo>
                <a:cubicBezTo>
                  <a:pt x="64308" y="0"/>
                  <a:pt x="60082" y="4225"/>
                  <a:pt x="60082" y="9437"/>
                </a:cubicBezTo>
                <a:lnTo>
                  <a:pt x="60082" y="60082"/>
                </a:lnTo>
                <a:lnTo>
                  <a:pt x="9437" y="60082"/>
                </a:lnTo>
                <a:cubicBezTo>
                  <a:pt x="4225" y="60082"/>
                  <a:pt x="0" y="64308"/>
                  <a:pt x="0" y="69520"/>
                </a:cubicBezTo>
                <a:cubicBezTo>
                  <a:pt x="0" y="74731"/>
                  <a:pt x="4225" y="78957"/>
                  <a:pt x="9437" y="78957"/>
                </a:cubicBezTo>
                <a:lnTo>
                  <a:pt x="60082" y="78957"/>
                </a:lnTo>
                <a:lnTo>
                  <a:pt x="60082" y="129602"/>
                </a:lnTo>
                <a:cubicBezTo>
                  <a:pt x="60082" y="134814"/>
                  <a:pt x="64308" y="139039"/>
                  <a:pt x="69520" y="139039"/>
                </a:cubicBezTo>
                <a:cubicBezTo>
                  <a:pt x="74731" y="139039"/>
                  <a:pt x="78957" y="134814"/>
                  <a:pt x="78957" y="129602"/>
                </a:cubicBezTo>
                <a:lnTo>
                  <a:pt x="78957" y="78957"/>
                </a:lnTo>
                <a:lnTo>
                  <a:pt x="129602" y="78957"/>
                </a:lnTo>
                <a:cubicBezTo>
                  <a:pt x="134814" y="78957"/>
                  <a:pt x="139039" y="74731"/>
                  <a:pt x="139039" y="69520"/>
                </a:cubicBezTo>
                <a:cubicBezTo>
                  <a:pt x="139039" y="64308"/>
                  <a:pt x="134814" y="60082"/>
                  <a:pt x="129602" y="60082"/>
                </a:cubicBezTo>
                <a:close/>
              </a:path>
            </a:pathLst>
          </a:custGeom>
          <a:solidFill>
            <a:srgbClr val="FFFFFF"/>
          </a:solidFill>
          <a:ln w="60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Aptos" panose="02110004020202020204"/>
              <a:ea typeface="+mn-ea"/>
              <a:cs typeface="+mn-cs"/>
            </a:endParaRPr>
          </a:p>
        </p:txBody>
      </p:sp>
      <p:sp>
        <p:nvSpPr>
          <p:cNvPr id="12" name="Graphic 12">
            <a:extLst>
              <a:ext uri="{FF2B5EF4-FFF2-40B4-BE49-F238E27FC236}">
                <a16:creationId xmlns:a16="http://schemas.microsoft.com/office/drawing/2014/main" id="{D850D7BB-C6C9-11FF-5357-AA3E92CBCB7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833139" y="812640"/>
            <a:ext cx="91138" cy="91138"/>
          </a:xfrm>
          <a:custGeom>
            <a:avLst/>
            <a:gdLst>
              <a:gd name="connsiteX0" fmla="*/ 91138 w 91138"/>
              <a:gd name="connsiteY0" fmla="*/ 45569 h 91138"/>
              <a:gd name="connsiteX1" fmla="*/ 45569 w 91138"/>
              <a:gd name="connsiteY1" fmla="*/ 91138 h 91138"/>
              <a:gd name="connsiteX2" fmla="*/ 0 w 91138"/>
              <a:gd name="connsiteY2" fmla="*/ 45569 h 91138"/>
              <a:gd name="connsiteX3" fmla="*/ 45569 w 91138"/>
              <a:gd name="connsiteY3" fmla="*/ 0 h 91138"/>
              <a:gd name="connsiteX4" fmla="*/ 91138 w 91138"/>
              <a:gd name="connsiteY4" fmla="*/ 45569 h 911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1138" h="91138">
                <a:moveTo>
                  <a:pt x="91138" y="45569"/>
                </a:moveTo>
                <a:cubicBezTo>
                  <a:pt x="91138" y="70736"/>
                  <a:pt x="70736" y="91138"/>
                  <a:pt x="45569" y="91138"/>
                </a:cubicBezTo>
                <a:cubicBezTo>
                  <a:pt x="20402" y="91138"/>
                  <a:pt x="0" y="70736"/>
                  <a:pt x="0" y="45569"/>
                </a:cubicBezTo>
                <a:cubicBezTo>
                  <a:pt x="0" y="20402"/>
                  <a:pt x="20402" y="0"/>
                  <a:pt x="45569" y="0"/>
                </a:cubicBezTo>
                <a:cubicBezTo>
                  <a:pt x="70736" y="0"/>
                  <a:pt x="91138" y="20402"/>
                  <a:pt x="91138" y="45569"/>
                </a:cubicBezTo>
                <a:close/>
              </a:path>
            </a:pathLst>
          </a:custGeom>
          <a:solidFill>
            <a:srgbClr val="FFFFFF"/>
          </a:solidFill>
          <a:ln w="422"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Aptos" panose="02110004020202020204"/>
              <a:ea typeface="+mn-ea"/>
              <a:cs typeface="+mn-cs"/>
            </a:endParaRPr>
          </a:p>
        </p:txBody>
      </p:sp>
      <p:sp>
        <p:nvSpPr>
          <p:cNvPr id="14" name="Graphic 15">
            <a:extLst>
              <a:ext uri="{FF2B5EF4-FFF2-40B4-BE49-F238E27FC236}">
                <a16:creationId xmlns:a16="http://schemas.microsoft.com/office/drawing/2014/main" id="{9D316B30-188F-6DF2-623A-EC631353305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458819" y="1037066"/>
            <a:ext cx="127714" cy="127714"/>
          </a:xfrm>
          <a:custGeom>
            <a:avLst/>
            <a:gdLst>
              <a:gd name="connsiteX0" fmla="*/ 63857 w 127714"/>
              <a:gd name="connsiteY0" fmla="*/ 18874 h 127714"/>
              <a:gd name="connsiteX1" fmla="*/ 108840 w 127714"/>
              <a:gd name="connsiteY1" fmla="*/ 63857 h 127714"/>
              <a:gd name="connsiteX2" fmla="*/ 63857 w 127714"/>
              <a:gd name="connsiteY2" fmla="*/ 108840 h 127714"/>
              <a:gd name="connsiteX3" fmla="*/ 18874 w 127714"/>
              <a:gd name="connsiteY3" fmla="*/ 63857 h 127714"/>
              <a:gd name="connsiteX4" fmla="*/ 63857 w 127714"/>
              <a:gd name="connsiteY4" fmla="*/ 18874 h 127714"/>
              <a:gd name="connsiteX5" fmla="*/ 63857 w 127714"/>
              <a:gd name="connsiteY5" fmla="*/ 0 h 127714"/>
              <a:gd name="connsiteX6" fmla="*/ 0 w 127714"/>
              <a:gd name="connsiteY6" fmla="*/ 63857 h 127714"/>
              <a:gd name="connsiteX7" fmla="*/ 63857 w 127714"/>
              <a:gd name="connsiteY7" fmla="*/ 127714 h 127714"/>
              <a:gd name="connsiteX8" fmla="*/ 127714 w 127714"/>
              <a:gd name="connsiteY8" fmla="*/ 63857 h 127714"/>
              <a:gd name="connsiteX9" fmla="*/ 63857 w 127714"/>
              <a:gd name="connsiteY9" fmla="*/ 0 h 1277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27714" h="127714">
                <a:moveTo>
                  <a:pt x="63857" y="18874"/>
                </a:moveTo>
                <a:cubicBezTo>
                  <a:pt x="88700" y="18874"/>
                  <a:pt x="108840" y="39014"/>
                  <a:pt x="108840" y="63857"/>
                </a:cubicBezTo>
                <a:cubicBezTo>
                  <a:pt x="108840" y="88700"/>
                  <a:pt x="88700" y="108840"/>
                  <a:pt x="63857" y="108840"/>
                </a:cubicBezTo>
                <a:cubicBezTo>
                  <a:pt x="39014" y="108840"/>
                  <a:pt x="18874" y="88700"/>
                  <a:pt x="18874" y="63857"/>
                </a:cubicBezTo>
                <a:cubicBezTo>
                  <a:pt x="18898" y="39024"/>
                  <a:pt x="39024" y="18898"/>
                  <a:pt x="63857" y="18874"/>
                </a:cubicBezTo>
                <a:moveTo>
                  <a:pt x="63857" y="0"/>
                </a:moveTo>
                <a:cubicBezTo>
                  <a:pt x="28590" y="0"/>
                  <a:pt x="0" y="28590"/>
                  <a:pt x="0" y="63857"/>
                </a:cubicBezTo>
                <a:cubicBezTo>
                  <a:pt x="0" y="99124"/>
                  <a:pt x="28590" y="127714"/>
                  <a:pt x="63857" y="127714"/>
                </a:cubicBezTo>
                <a:cubicBezTo>
                  <a:pt x="99124" y="127714"/>
                  <a:pt x="127714" y="99124"/>
                  <a:pt x="127714" y="63857"/>
                </a:cubicBezTo>
                <a:cubicBezTo>
                  <a:pt x="127714" y="28590"/>
                  <a:pt x="99124" y="0"/>
                  <a:pt x="63857" y="0"/>
                </a:cubicBezTo>
                <a:close/>
              </a:path>
            </a:pathLst>
          </a:custGeom>
          <a:solidFill>
            <a:srgbClr val="FFFFFF"/>
          </a:solidFill>
          <a:ln w="610"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Aptos" panose="02110004020202020204"/>
              <a:ea typeface="+mn-ea"/>
              <a:cs typeface="+mn-cs"/>
            </a:endParaRPr>
          </a:p>
        </p:txBody>
      </p:sp>
      <p:cxnSp>
        <p:nvCxnSpPr>
          <p:cNvPr id="16" name="Straight Connector 15">
            <a:extLst>
              <a:ext uri="{FF2B5EF4-FFF2-40B4-BE49-F238E27FC236}">
                <a16:creationId xmlns:a16="http://schemas.microsoft.com/office/drawing/2014/main" id="{F0E5AC76-05E3-7711-9901-C1FF6F2FC3C5}"/>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856114" y="3503032"/>
            <a:ext cx="0" cy="3346090"/>
          </a:xfrm>
          <a:prstGeom prst="line">
            <a:avLst/>
          </a:prstGeom>
          <a:ln w="25400" cap="sq">
            <a:solidFill>
              <a:srgbClr val="FFFFFF"/>
            </a:solidFill>
            <a:bevel/>
          </a:ln>
        </p:spPr>
        <p:style>
          <a:lnRef idx="1">
            <a:schemeClr val="accent1"/>
          </a:lnRef>
          <a:fillRef idx="0">
            <a:schemeClr val="accent1"/>
          </a:fillRef>
          <a:effectRef idx="0">
            <a:schemeClr val="accent1"/>
          </a:effectRef>
          <a:fontRef idx="minor">
            <a:schemeClr val="tx1"/>
          </a:fontRef>
        </p:style>
      </p:cxnSp>
      <p:sp>
        <p:nvSpPr>
          <p:cNvPr id="18" name="Graphic 22">
            <a:extLst>
              <a:ext uri="{FF2B5EF4-FFF2-40B4-BE49-F238E27FC236}">
                <a16:creationId xmlns:a16="http://schemas.microsoft.com/office/drawing/2014/main" id="{BC4AB77F-02DF-7530-7FED-4F2CCB3DF40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0836425" y="5636680"/>
            <a:ext cx="151536" cy="151536"/>
          </a:xfrm>
          <a:custGeom>
            <a:avLst/>
            <a:gdLst>
              <a:gd name="connsiteX0" fmla="*/ 141251 w 151536"/>
              <a:gd name="connsiteY0" fmla="*/ 65483 h 151536"/>
              <a:gd name="connsiteX1" fmla="*/ 86053 w 151536"/>
              <a:gd name="connsiteY1" fmla="*/ 65483 h 151536"/>
              <a:gd name="connsiteX2" fmla="*/ 86053 w 151536"/>
              <a:gd name="connsiteY2" fmla="*/ 10285 h 151536"/>
              <a:gd name="connsiteX3" fmla="*/ 75768 w 151536"/>
              <a:gd name="connsiteY3" fmla="*/ 0 h 151536"/>
              <a:gd name="connsiteX4" fmla="*/ 65483 w 151536"/>
              <a:gd name="connsiteY4" fmla="*/ 10285 h 151536"/>
              <a:gd name="connsiteX5" fmla="*/ 65483 w 151536"/>
              <a:gd name="connsiteY5" fmla="*/ 65483 h 151536"/>
              <a:gd name="connsiteX6" fmla="*/ 10285 w 151536"/>
              <a:gd name="connsiteY6" fmla="*/ 65483 h 151536"/>
              <a:gd name="connsiteX7" fmla="*/ 0 w 151536"/>
              <a:gd name="connsiteY7" fmla="*/ 75768 h 151536"/>
              <a:gd name="connsiteX8" fmla="*/ 10285 w 151536"/>
              <a:gd name="connsiteY8" fmla="*/ 86053 h 151536"/>
              <a:gd name="connsiteX9" fmla="*/ 65483 w 151536"/>
              <a:gd name="connsiteY9" fmla="*/ 86053 h 151536"/>
              <a:gd name="connsiteX10" fmla="*/ 65483 w 151536"/>
              <a:gd name="connsiteY10" fmla="*/ 141251 h 151536"/>
              <a:gd name="connsiteX11" fmla="*/ 75768 w 151536"/>
              <a:gd name="connsiteY11" fmla="*/ 151536 h 151536"/>
              <a:gd name="connsiteX12" fmla="*/ 86053 w 151536"/>
              <a:gd name="connsiteY12" fmla="*/ 141251 h 151536"/>
              <a:gd name="connsiteX13" fmla="*/ 86053 w 151536"/>
              <a:gd name="connsiteY13" fmla="*/ 86053 h 151536"/>
              <a:gd name="connsiteX14" fmla="*/ 141251 w 151536"/>
              <a:gd name="connsiteY14" fmla="*/ 86053 h 151536"/>
              <a:gd name="connsiteX15" fmla="*/ 151536 w 151536"/>
              <a:gd name="connsiteY15" fmla="*/ 75768 h 151536"/>
              <a:gd name="connsiteX16" fmla="*/ 141251 w 151536"/>
              <a:gd name="connsiteY16" fmla="*/ 65483 h 1515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51536" h="151536">
                <a:moveTo>
                  <a:pt x="141251" y="65483"/>
                </a:moveTo>
                <a:lnTo>
                  <a:pt x="86053" y="65483"/>
                </a:lnTo>
                <a:lnTo>
                  <a:pt x="86053" y="10285"/>
                </a:lnTo>
                <a:cubicBezTo>
                  <a:pt x="86053" y="4605"/>
                  <a:pt x="81448" y="0"/>
                  <a:pt x="75768" y="0"/>
                </a:cubicBezTo>
                <a:cubicBezTo>
                  <a:pt x="70088" y="0"/>
                  <a:pt x="65483" y="4605"/>
                  <a:pt x="65483" y="10285"/>
                </a:cubicBezTo>
                <a:lnTo>
                  <a:pt x="65483" y="65483"/>
                </a:lnTo>
                <a:lnTo>
                  <a:pt x="10285" y="65483"/>
                </a:lnTo>
                <a:cubicBezTo>
                  <a:pt x="4605" y="65483"/>
                  <a:pt x="0" y="70088"/>
                  <a:pt x="0" y="75768"/>
                </a:cubicBezTo>
                <a:cubicBezTo>
                  <a:pt x="0" y="81448"/>
                  <a:pt x="4605" y="86053"/>
                  <a:pt x="10285" y="86053"/>
                </a:cubicBezTo>
                <a:lnTo>
                  <a:pt x="65483" y="86053"/>
                </a:lnTo>
                <a:lnTo>
                  <a:pt x="65483" y="141251"/>
                </a:lnTo>
                <a:cubicBezTo>
                  <a:pt x="65483" y="146931"/>
                  <a:pt x="70088" y="151536"/>
                  <a:pt x="75768" y="151536"/>
                </a:cubicBezTo>
                <a:cubicBezTo>
                  <a:pt x="81448" y="151536"/>
                  <a:pt x="86053" y="146931"/>
                  <a:pt x="86053" y="141251"/>
                </a:cubicBezTo>
                <a:lnTo>
                  <a:pt x="86053" y="86053"/>
                </a:lnTo>
                <a:lnTo>
                  <a:pt x="141251" y="86053"/>
                </a:lnTo>
                <a:cubicBezTo>
                  <a:pt x="146931" y="86053"/>
                  <a:pt x="151536" y="81448"/>
                  <a:pt x="151536" y="75768"/>
                </a:cubicBezTo>
                <a:cubicBezTo>
                  <a:pt x="151536" y="70088"/>
                  <a:pt x="146931" y="65483"/>
                  <a:pt x="141251" y="65483"/>
                </a:cubicBezTo>
                <a:close/>
              </a:path>
            </a:pathLst>
          </a:custGeom>
          <a:solidFill>
            <a:srgbClr val="FFFFFF"/>
          </a:solidFill>
          <a:ln w="646"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Aptos" panose="02110004020202020204"/>
              <a:ea typeface="+mn-ea"/>
              <a:cs typeface="+mn-cs"/>
            </a:endParaRPr>
          </a:p>
        </p:txBody>
      </p:sp>
      <p:sp>
        <p:nvSpPr>
          <p:cNvPr id="20" name="Graphic 23">
            <a:extLst>
              <a:ext uri="{FF2B5EF4-FFF2-40B4-BE49-F238E27FC236}">
                <a16:creationId xmlns:a16="http://schemas.microsoft.com/office/drawing/2014/main" id="{FF051953-015B-6186-16C5-AE830513C42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1245175" y="6096759"/>
            <a:ext cx="108625" cy="108625"/>
          </a:xfrm>
          <a:custGeom>
            <a:avLst/>
            <a:gdLst>
              <a:gd name="connsiteX0" fmla="*/ 54313 w 108625"/>
              <a:gd name="connsiteY0" fmla="*/ 16053 h 108625"/>
              <a:gd name="connsiteX1" fmla="*/ 92572 w 108625"/>
              <a:gd name="connsiteY1" fmla="*/ 54313 h 108625"/>
              <a:gd name="connsiteX2" fmla="*/ 54313 w 108625"/>
              <a:gd name="connsiteY2" fmla="*/ 92572 h 108625"/>
              <a:gd name="connsiteX3" fmla="*/ 16053 w 108625"/>
              <a:gd name="connsiteY3" fmla="*/ 54313 h 108625"/>
              <a:gd name="connsiteX4" fmla="*/ 54313 w 108625"/>
              <a:gd name="connsiteY4" fmla="*/ 16053 h 108625"/>
              <a:gd name="connsiteX5" fmla="*/ 54313 w 108625"/>
              <a:gd name="connsiteY5" fmla="*/ 0 h 108625"/>
              <a:gd name="connsiteX6" fmla="*/ 0 w 108625"/>
              <a:gd name="connsiteY6" fmla="*/ 54313 h 108625"/>
              <a:gd name="connsiteX7" fmla="*/ 54313 w 108625"/>
              <a:gd name="connsiteY7" fmla="*/ 108625 h 108625"/>
              <a:gd name="connsiteX8" fmla="*/ 108625 w 108625"/>
              <a:gd name="connsiteY8" fmla="*/ 54313 h 108625"/>
              <a:gd name="connsiteX9" fmla="*/ 54313 w 108625"/>
              <a:gd name="connsiteY9" fmla="*/ 0 h 1086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08625" h="108625">
                <a:moveTo>
                  <a:pt x="54313" y="16053"/>
                </a:moveTo>
                <a:cubicBezTo>
                  <a:pt x="75442" y="16053"/>
                  <a:pt x="92572" y="33182"/>
                  <a:pt x="92572" y="54313"/>
                </a:cubicBezTo>
                <a:cubicBezTo>
                  <a:pt x="92572" y="75442"/>
                  <a:pt x="75442" y="92572"/>
                  <a:pt x="54313" y="92572"/>
                </a:cubicBezTo>
                <a:cubicBezTo>
                  <a:pt x="33182" y="92572"/>
                  <a:pt x="16053" y="75442"/>
                  <a:pt x="16053" y="54313"/>
                </a:cubicBezTo>
                <a:cubicBezTo>
                  <a:pt x="16074" y="33191"/>
                  <a:pt x="33191" y="16074"/>
                  <a:pt x="54313" y="16053"/>
                </a:cubicBezTo>
                <a:moveTo>
                  <a:pt x="54313" y="0"/>
                </a:moveTo>
                <a:cubicBezTo>
                  <a:pt x="24317" y="0"/>
                  <a:pt x="0" y="24317"/>
                  <a:pt x="0" y="54313"/>
                </a:cubicBezTo>
                <a:cubicBezTo>
                  <a:pt x="0" y="84309"/>
                  <a:pt x="24317" y="108625"/>
                  <a:pt x="54313" y="108625"/>
                </a:cubicBezTo>
                <a:cubicBezTo>
                  <a:pt x="84309" y="108625"/>
                  <a:pt x="108625" y="84309"/>
                  <a:pt x="108625" y="54313"/>
                </a:cubicBezTo>
                <a:cubicBezTo>
                  <a:pt x="108625" y="24317"/>
                  <a:pt x="84309" y="0"/>
                  <a:pt x="54313" y="0"/>
                </a:cubicBezTo>
                <a:close/>
              </a:path>
            </a:pathLst>
          </a:custGeom>
          <a:solidFill>
            <a:srgbClr val="FFFFFF"/>
          </a:solidFill>
          <a:ln w="516"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Aptos" panose="02110004020202020204"/>
              <a:ea typeface="+mn-ea"/>
              <a:cs typeface="+mn-cs"/>
            </a:endParaRPr>
          </a:p>
        </p:txBody>
      </p:sp>
      <p:sp>
        <p:nvSpPr>
          <p:cNvPr id="22" name="Graphic 21">
            <a:extLst>
              <a:ext uri="{FF2B5EF4-FFF2-40B4-BE49-F238E27FC236}">
                <a16:creationId xmlns:a16="http://schemas.microsoft.com/office/drawing/2014/main" id="{19A33385-1F4D-94AE-79D9-F7041CA5B00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0554288" y="6238029"/>
            <a:ext cx="95759" cy="95759"/>
          </a:xfrm>
          <a:custGeom>
            <a:avLst/>
            <a:gdLst>
              <a:gd name="connsiteX0" fmla="*/ 95759 w 95759"/>
              <a:gd name="connsiteY0" fmla="*/ 47880 h 95759"/>
              <a:gd name="connsiteX1" fmla="*/ 47880 w 95759"/>
              <a:gd name="connsiteY1" fmla="*/ 95759 h 95759"/>
              <a:gd name="connsiteX2" fmla="*/ 0 w 95759"/>
              <a:gd name="connsiteY2" fmla="*/ 47880 h 95759"/>
              <a:gd name="connsiteX3" fmla="*/ 47880 w 95759"/>
              <a:gd name="connsiteY3" fmla="*/ 0 h 95759"/>
              <a:gd name="connsiteX4" fmla="*/ 95759 w 95759"/>
              <a:gd name="connsiteY4" fmla="*/ 47880 h 9575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5759" h="95759">
                <a:moveTo>
                  <a:pt x="95759" y="47880"/>
                </a:moveTo>
                <a:cubicBezTo>
                  <a:pt x="95759" y="74323"/>
                  <a:pt x="74323" y="95759"/>
                  <a:pt x="47880" y="95759"/>
                </a:cubicBezTo>
                <a:cubicBezTo>
                  <a:pt x="21436" y="95759"/>
                  <a:pt x="0" y="74323"/>
                  <a:pt x="0" y="47880"/>
                </a:cubicBezTo>
                <a:cubicBezTo>
                  <a:pt x="0" y="21436"/>
                  <a:pt x="21436" y="0"/>
                  <a:pt x="47880" y="0"/>
                </a:cubicBezTo>
                <a:cubicBezTo>
                  <a:pt x="74323" y="0"/>
                  <a:pt x="95759" y="21436"/>
                  <a:pt x="95759" y="47880"/>
                </a:cubicBezTo>
                <a:close/>
              </a:path>
            </a:pathLst>
          </a:custGeom>
          <a:solidFill>
            <a:srgbClr val="FFFFFF"/>
          </a:solidFill>
          <a:ln w="469"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Aptos" panose="02110004020202020204"/>
              <a:ea typeface="+mn-ea"/>
              <a:cs typeface="+mn-cs"/>
            </a:endParaRPr>
          </a:p>
        </p:txBody>
      </p:sp>
    </p:spTree>
    <p:extLst>
      <p:ext uri="{BB962C8B-B14F-4D97-AF65-F5344CB8AC3E}">
        <p14:creationId xmlns:p14="http://schemas.microsoft.com/office/powerpoint/2010/main" val="3770875486"/>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626552C-E101-F5CD-9231-9C9BF47DEDF1}"/>
              </a:ext>
            </a:extLst>
          </p:cNvPr>
          <p:cNvSpPr>
            <a:spLocks noGrp="1"/>
          </p:cNvSpPr>
          <p:nvPr>
            <p:ph type="title"/>
          </p:nvPr>
        </p:nvSpPr>
        <p:spPr/>
        <p:txBody>
          <a:bodyPr/>
          <a:lstStyle/>
          <a:p>
            <a:r>
              <a:rPr lang="en-IN" dirty="0"/>
              <a:t>What an Agent Is?</a:t>
            </a:r>
          </a:p>
        </p:txBody>
      </p:sp>
      <p:sp>
        <p:nvSpPr>
          <p:cNvPr id="3" name="Content Placeholder 2">
            <a:extLst>
              <a:ext uri="{FF2B5EF4-FFF2-40B4-BE49-F238E27FC236}">
                <a16:creationId xmlns:a16="http://schemas.microsoft.com/office/drawing/2014/main" id="{23517013-52FB-8054-ECA0-592FFC2FB44D}"/>
              </a:ext>
            </a:extLst>
          </p:cNvPr>
          <p:cNvSpPr>
            <a:spLocks noGrp="1"/>
          </p:cNvSpPr>
          <p:nvPr>
            <p:ph idx="1"/>
          </p:nvPr>
        </p:nvSpPr>
        <p:spPr/>
        <p:txBody>
          <a:bodyPr/>
          <a:lstStyle/>
          <a:p>
            <a:r>
              <a:rPr lang="en-US" b="1" dirty="0"/>
              <a:t>Agent = LLM + Logic + Tools</a:t>
            </a:r>
            <a:endParaRPr lang="en-US" dirty="0"/>
          </a:p>
          <a:p>
            <a:pPr lvl="1"/>
            <a:r>
              <a:rPr lang="en-US" dirty="0"/>
              <a:t>A </a:t>
            </a:r>
            <a:r>
              <a:rPr lang="en-US" b="1" dirty="0"/>
              <a:t>standard LLM</a:t>
            </a:r>
            <a:r>
              <a:rPr lang="en-US" dirty="0"/>
              <a:t> only generates text.</a:t>
            </a:r>
          </a:p>
          <a:p>
            <a:pPr lvl="1"/>
            <a:r>
              <a:rPr lang="en-US" dirty="0"/>
              <a:t>An </a:t>
            </a:r>
            <a:r>
              <a:rPr lang="en-US" b="1" dirty="0"/>
              <a:t>agent</a:t>
            </a:r>
            <a:r>
              <a:rPr lang="en-US" dirty="0"/>
              <a:t> can </a:t>
            </a:r>
            <a:r>
              <a:rPr lang="en-US" b="1" dirty="0"/>
              <a:t>reason, decide, and act using tools</a:t>
            </a:r>
            <a:r>
              <a:rPr lang="en-US" dirty="0"/>
              <a:t>.</a:t>
            </a:r>
          </a:p>
          <a:p>
            <a:r>
              <a:rPr lang="en-US" b="1" dirty="0"/>
              <a:t>Simple definition</a:t>
            </a:r>
            <a:endParaRPr lang="en-US" dirty="0"/>
          </a:p>
          <a:p>
            <a:pPr marL="263525" indent="0">
              <a:buNone/>
            </a:pPr>
            <a:r>
              <a:rPr lang="en-US" dirty="0"/>
              <a:t>An </a:t>
            </a:r>
            <a:r>
              <a:rPr lang="en-US" b="1" dirty="0"/>
              <a:t>agent</a:t>
            </a:r>
            <a:r>
              <a:rPr lang="en-US" dirty="0"/>
              <a:t> is a system where an LLM decides </a:t>
            </a:r>
            <a:r>
              <a:rPr lang="en-US" b="1" dirty="0"/>
              <a:t>which tools to use and in what order</a:t>
            </a:r>
            <a:r>
              <a:rPr lang="en-US" dirty="0"/>
              <a:t> to solve a problem.</a:t>
            </a:r>
          </a:p>
          <a:p>
            <a:endParaRPr lang="en-US" dirty="0"/>
          </a:p>
        </p:txBody>
      </p:sp>
    </p:spTree>
    <p:extLst>
      <p:ext uri="{BB962C8B-B14F-4D97-AF65-F5344CB8AC3E}">
        <p14:creationId xmlns:p14="http://schemas.microsoft.com/office/powerpoint/2010/main" val="472300224"/>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8174221-367C-7C44-E346-15D34FBB7E7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105810E-D7AC-C656-18AD-2FFC1B0A262B}"/>
              </a:ext>
            </a:extLst>
          </p:cNvPr>
          <p:cNvSpPr>
            <a:spLocks noGrp="1"/>
          </p:cNvSpPr>
          <p:nvPr>
            <p:ph type="title"/>
          </p:nvPr>
        </p:nvSpPr>
        <p:spPr/>
        <p:txBody>
          <a:bodyPr/>
          <a:lstStyle/>
          <a:p>
            <a:r>
              <a:rPr lang="en-IN" dirty="0"/>
              <a:t>Agent Components</a:t>
            </a:r>
          </a:p>
        </p:txBody>
      </p:sp>
      <p:sp>
        <p:nvSpPr>
          <p:cNvPr id="3" name="Content Placeholder 2">
            <a:extLst>
              <a:ext uri="{FF2B5EF4-FFF2-40B4-BE49-F238E27FC236}">
                <a16:creationId xmlns:a16="http://schemas.microsoft.com/office/drawing/2014/main" id="{05BC9F89-6AF9-616A-BF7F-6F77F58CA689}"/>
              </a:ext>
            </a:extLst>
          </p:cNvPr>
          <p:cNvSpPr>
            <a:spLocks noGrp="1"/>
          </p:cNvSpPr>
          <p:nvPr>
            <p:ph idx="1"/>
          </p:nvPr>
        </p:nvSpPr>
        <p:spPr/>
        <p:txBody>
          <a:bodyPr/>
          <a:lstStyle/>
          <a:p>
            <a:pPr marL="0" indent="0">
              <a:buNone/>
            </a:pPr>
            <a:r>
              <a:rPr lang="en-US" b="1" dirty="0"/>
              <a:t>1. LLM (Reasoning Engine)</a:t>
            </a:r>
            <a:br>
              <a:rPr lang="en-US" dirty="0"/>
            </a:br>
            <a:r>
              <a:rPr lang="en-US" dirty="0"/>
              <a:t>The LLM decides:</a:t>
            </a:r>
          </a:p>
          <a:p>
            <a:pPr lvl="2"/>
            <a:r>
              <a:rPr lang="en-US" dirty="0"/>
              <a:t>What the user wants</a:t>
            </a:r>
          </a:p>
          <a:p>
            <a:pPr lvl="2"/>
            <a:r>
              <a:rPr lang="en-US" dirty="0"/>
              <a:t>What step to take next</a:t>
            </a:r>
          </a:p>
          <a:p>
            <a:pPr lvl="2"/>
            <a:r>
              <a:rPr lang="en-US" dirty="0"/>
              <a:t>Which tool to use</a:t>
            </a:r>
          </a:p>
          <a:p>
            <a:endParaRPr lang="en-IN" dirty="0"/>
          </a:p>
        </p:txBody>
      </p:sp>
    </p:spTree>
    <p:extLst>
      <p:ext uri="{BB962C8B-B14F-4D97-AF65-F5344CB8AC3E}">
        <p14:creationId xmlns:p14="http://schemas.microsoft.com/office/powerpoint/2010/main" val="282258683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F2F9976-2045-1B8D-14FA-B2A3473262B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C544E13-28D2-D34D-2CF5-629993B0BD5C}"/>
              </a:ext>
            </a:extLst>
          </p:cNvPr>
          <p:cNvSpPr>
            <a:spLocks noGrp="1"/>
          </p:cNvSpPr>
          <p:nvPr>
            <p:ph type="title"/>
          </p:nvPr>
        </p:nvSpPr>
        <p:spPr/>
        <p:txBody>
          <a:bodyPr/>
          <a:lstStyle/>
          <a:p>
            <a:r>
              <a:rPr lang="en-IN" dirty="0"/>
              <a:t>Agent Components</a:t>
            </a:r>
          </a:p>
        </p:txBody>
      </p:sp>
      <p:sp>
        <p:nvSpPr>
          <p:cNvPr id="3" name="Content Placeholder 2">
            <a:extLst>
              <a:ext uri="{FF2B5EF4-FFF2-40B4-BE49-F238E27FC236}">
                <a16:creationId xmlns:a16="http://schemas.microsoft.com/office/drawing/2014/main" id="{CE6DA5F4-1105-96DA-BA01-78FFDE9041BE}"/>
              </a:ext>
            </a:extLst>
          </p:cNvPr>
          <p:cNvSpPr>
            <a:spLocks noGrp="1"/>
          </p:cNvSpPr>
          <p:nvPr>
            <p:ph idx="1"/>
          </p:nvPr>
        </p:nvSpPr>
        <p:spPr/>
        <p:txBody>
          <a:bodyPr>
            <a:normAutofit fontScale="92500" lnSpcReduction="10000"/>
          </a:bodyPr>
          <a:lstStyle/>
          <a:p>
            <a:pPr marL="0" indent="0">
              <a:buNone/>
            </a:pPr>
            <a:r>
              <a:rPr lang="en-IN" b="1" dirty="0"/>
              <a:t>2. Logic (Control Loop)</a:t>
            </a:r>
            <a:br>
              <a:rPr lang="en-IN" dirty="0"/>
            </a:br>
            <a:r>
              <a:rPr lang="en-IN" dirty="0"/>
              <a:t>The logic manages the </a:t>
            </a:r>
            <a:r>
              <a:rPr lang="en-IN" b="1" dirty="0"/>
              <a:t>thinking cycle</a:t>
            </a:r>
            <a:r>
              <a:rPr lang="en-IN" dirty="0"/>
              <a:t>.</a:t>
            </a:r>
          </a:p>
          <a:p>
            <a:pPr marL="0" indent="0">
              <a:buNone/>
            </a:pPr>
            <a:r>
              <a:rPr lang="en-IN" dirty="0"/>
              <a:t>Typical loop:</a:t>
            </a:r>
          </a:p>
          <a:p>
            <a:pPr marL="0" indent="0">
              <a:buNone/>
            </a:pPr>
            <a:endParaRPr lang="en-IN" dirty="0"/>
          </a:p>
          <a:p>
            <a:pPr marL="0" indent="0">
              <a:buNone/>
            </a:pPr>
            <a:endParaRPr lang="en-IN" dirty="0"/>
          </a:p>
          <a:p>
            <a:pPr marL="0" indent="0">
              <a:buNone/>
            </a:pPr>
            <a:endParaRPr lang="en-IN" dirty="0"/>
          </a:p>
          <a:p>
            <a:pPr marL="0" indent="0">
              <a:buNone/>
            </a:pPr>
            <a:endParaRPr lang="en-IN" dirty="0"/>
          </a:p>
          <a:p>
            <a:pPr marL="0" indent="0">
              <a:buNone/>
            </a:pPr>
            <a:r>
              <a:rPr lang="en-IN" dirty="0"/>
              <a:t>This is often called the </a:t>
            </a:r>
            <a:r>
              <a:rPr lang="en-IN" b="1" dirty="0"/>
              <a:t>Agent Loop</a:t>
            </a:r>
            <a:r>
              <a:rPr lang="en-IN" dirty="0"/>
              <a:t>.</a:t>
            </a:r>
          </a:p>
          <a:p>
            <a:pPr marL="0" indent="0">
              <a:buNone/>
            </a:pPr>
            <a:r>
              <a:rPr lang="en-IN" b="1" i="1" dirty="0"/>
              <a:t>Example</a:t>
            </a:r>
            <a:r>
              <a:rPr lang="en-IN" dirty="0"/>
              <a:t>:</a:t>
            </a:r>
          </a:p>
          <a:p>
            <a:pPr marL="0" indent="0" algn="ctr">
              <a:buNone/>
            </a:pPr>
            <a:r>
              <a:rPr lang="en-IN" sz="2200" dirty="0">
                <a:latin typeface="Cascadia Code" panose="020B0609020000020004" pitchFamily="49" charset="0"/>
                <a:cs typeface="Cascadia Code" panose="020B0609020000020004" pitchFamily="49" charset="0"/>
              </a:rPr>
              <a:t>Thought → Tool → Observation → Thought → Tool → Final Answer</a:t>
            </a:r>
          </a:p>
          <a:p>
            <a:endParaRPr lang="en-IN" dirty="0"/>
          </a:p>
        </p:txBody>
      </p:sp>
      <p:pic>
        <p:nvPicPr>
          <p:cNvPr id="5" name="Picture 4">
            <a:extLst>
              <a:ext uri="{FF2B5EF4-FFF2-40B4-BE49-F238E27FC236}">
                <a16:creationId xmlns:a16="http://schemas.microsoft.com/office/drawing/2014/main" id="{A0B3502C-139B-4107-85AB-CCEE1BFF6630}"/>
              </a:ext>
            </a:extLst>
          </p:cNvPr>
          <p:cNvPicPr>
            <a:picLocks noChangeAspect="1"/>
          </p:cNvPicPr>
          <p:nvPr/>
        </p:nvPicPr>
        <p:blipFill>
          <a:blip r:embed="rId2"/>
          <a:stretch>
            <a:fillRect/>
          </a:stretch>
        </p:blipFill>
        <p:spPr>
          <a:xfrm>
            <a:off x="3156870" y="2607727"/>
            <a:ext cx="2514951" cy="2210108"/>
          </a:xfrm>
          <a:prstGeom prst="rect">
            <a:avLst/>
          </a:prstGeom>
        </p:spPr>
      </p:pic>
    </p:spTree>
    <p:extLst>
      <p:ext uri="{BB962C8B-B14F-4D97-AF65-F5344CB8AC3E}">
        <p14:creationId xmlns:p14="http://schemas.microsoft.com/office/powerpoint/2010/main" val="3638714932"/>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5F9B396-58B0-D9FA-9E75-5763D3B9CAA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2FD8DE4-C653-905D-730B-9F04D6D9E1FE}"/>
              </a:ext>
            </a:extLst>
          </p:cNvPr>
          <p:cNvSpPr>
            <a:spLocks noGrp="1"/>
          </p:cNvSpPr>
          <p:nvPr>
            <p:ph type="title"/>
          </p:nvPr>
        </p:nvSpPr>
        <p:spPr/>
        <p:txBody>
          <a:bodyPr/>
          <a:lstStyle/>
          <a:p>
            <a:r>
              <a:rPr lang="en-IN" dirty="0"/>
              <a:t>Agent Components</a:t>
            </a:r>
          </a:p>
        </p:txBody>
      </p:sp>
      <p:sp>
        <p:nvSpPr>
          <p:cNvPr id="3" name="Content Placeholder 2">
            <a:extLst>
              <a:ext uri="{FF2B5EF4-FFF2-40B4-BE49-F238E27FC236}">
                <a16:creationId xmlns:a16="http://schemas.microsoft.com/office/drawing/2014/main" id="{F12B6836-478C-23B5-CC5F-1814CFB21298}"/>
              </a:ext>
            </a:extLst>
          </p:cNvPr>
          <p:cNvSpPr>
            <a:spLocks noGrp="1"/>
          </p:cNvSpPr>
          <p:nvPr>
            <p:ph idx="1"/>
          </p:nvPr>
        </p:nvSpPr>
        <p:spPr/>
        <p:txBody>
          <a:bodyPr>
            <a:normAutofit/>
          </a:bodyPr>
          <a:lstStyle/>
          <a:p>
            <a:pPr marL="0" indent="0">
              <a:buNone/>
            </a:pPr>
            <a:r>
              <a:rPr lang="en-US" b="1" dirty="0"/>
              <a:t>3. Tools (External Capabilities)</a:t>
            </a:r>
            <a:endParaRPr lang="en-US" dirty="0"/>
          </a:p>
          <a:p>
            <a:pPr marL="457200" lvl="1" indent="0">
              <a:buNone/>
            </a:pPr>
            <a:r>
              <a:rPr lang="en-US" dirty="0"/>
              <a:t>Tools allow the agent to </a:t>
            </a:r>
            <a:r>
              <a:rPr lang="en-US" b="1" dirty="0"/>
              <a:t>interact with real systems</a:t>
            </a:r>
            <a:r>
              <a:rPr lang="en-US" dirty="0"/>
              <a:t>.</a:t>
            </a:r>
          </a:p>
          <a:p>
            <a:pPr marL="457200" lvl="1" indent="0">
              <a:buNone/>
            </a:pPr>
            <a:endParaRPr lang="en-US" dirty="0"/>
          </a:p>
          <a:p>
            <a:endParaRPr lang="en-IN" dirty="0"/>
          </a:p>
          <a:p>
            <a:endParaRPr lang="en-IN" dirty="0"/>
          </a:p>
          <a:p>
            <a:endParaRPr lang="en-IN" dirty="0"/>
          </a:p>
          <a:p>
            <a:endParaRPr lang="en-IN" dirty="0"/>
          </a:p>
          <a:p>
            <a:pPr marL="457200" lvl="1" indent="0">
              <a:buNone/>
            </a:pPr>
            <a:r>
              <a:rPr lang="en-US" dirty="0"/>
              <a:t> Without tools, the LLM would just guess.</a:t>
            </a:r>
            <a:endParaRPr lang="en-IN" dirty="0"/>
          </a:p>
        </p:txBody>
      </p:sp>
      <p:graphicFrame>
        <p:nvGraphicFramePr>
          <p:cNvPr id="4" name="Table 3">
            <a:extLst>
              <a:ext uri="{FF2B5EF4-FFF2-40B4-BE49-F238E27FC236}">
                <a16:creationId xmlns:a16="http://schemas.microsoft.com/office/drawing/2014/main" id="{316775DB-4F81-34F8-FB18-4123BC62DD57}"/>
              </a:ext>
            </a:extLst>
          </p:cNvPr>
          <p:cNvGraphicFramePr>
            <a:graphicFrameLocks noGrp="1"/>
          </p:cNvGraphicFramePr>
          <p:nvPr>
            <p:extLst>
              <p:ext uri="{D42A27DB-BD31-4B8C-83A1-F6EECF244321}">
                <p14:modId xmlns:p14="http://schemas.microsoft.com/office/powerpoint/2010/main" val="3961479665"/>
              </p:ext>
            </p:extLst>
          </p:nvPr>
        </p:nvGraphicFramePr>
        <p:xfrm>
          <a:off x="1341120" y="3147906"/>
          <a:ext cx="8128000" cy="1483360"/>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3137230276"/>
                    </a:ext>
                  </a:extLst>
                </a:gridCol>
                <a:gridCol w="4064000">
                  <a:extLst>
                    <a:ext uri="{9D8B030D-6E8A-4147-A177-3AD203B41FA5}">
                      <a16:colId xmlns:a16="http://schemas.microsoft.com/office/drawing/2014/main" val="833270302"/>
                    </a:ext>
                  </a:extLst>
                </a:gridCol>
              </a:tblGrid>
              <a:tr h="370840">
                <a:tc>
                  <a:txBody>
                    <a:bodyPr/>
                    <a:lstStyle/>
                    <a:p>
                      <a:r>
                        <a:rPr lang="en-US" dirty="0"/>
                        <a:t>Tool</a:t>
                      </a:r>
                      <a:endParaRPr lang="en-IN" dirty="0"/>
                    </a:p>
                  </a:txBody>
                  <a:tcPr/>
                </a:tc>
                <a:tc>
                  <a:txBody>
                    <a:bodyPr/>
                    <a:lstStyle/>
                    <a:p>
                      <a:r>
                        <a:rPr lang="en-US" dirty="0"/>
                        <a:t>Purpose</a:t>
                      </a:r>
                      <a:endParaRPr lang="en-IN" dirty="0"/>
                    </a:p>
                  </a:txBody>
                  <a:tcPr/>
                </a:tc>
                <a:extLst>
                  <a:ext uri="{0D108BD9-81ED-4DB2-BD59-A6C34878D82A}">
                    <a16:rowId xmlns:a16="http://schemas.microsoft.com/office/drawing/2014/main" val="3802689940"/>
                  </a:ext>
                </a:extLst>
              </a:tr>
              <a:tr h="370840">
                <a:tc>
                  <a:txBody>
                    <a:bodyPr/>
                    <a:lstStyle/>
                    <a:p>
                      <a:r>
                        <a:rPr lang="en-US" dirty="0"/>
                        <a:t>SQL tool</a:t>
                      </a:r>
                      <a:endParaRPr lang="en-IN" dirty="0"/>
                    </a:p>
                  </a:txBody>
                  <a:tcPr/>
                </a:tc>
                <a:tc>
                  <a:txBody>
                    <a:bodyPr/>
                    <a:lstStyle/>
                    <a:p>
                      <a:r>
                        <a:rPr lang="en-IN" dirty="0"/>
                        <a:t>Query incident database</a:t>
                      </a:r>
                    </a:p>
                  </a:txBody>
                  <a:tcPr/>
                </a:tc>
                <a:extLst>
                  <a:ext uri="{0D108BD9-81ED-4DB2-BD59-A6C34878D82A}">
                    <a16:rowId xmlns:a16="http://schemas.microsoft.com/office/drawing/2014/main" val="1142328970"/>
                  </a:ext>
                </a:extLst>
              </a:tr>
              <a:tr h="370840">
                <a:tc>
                  <a:txBody>
                    <a:bodyPr/>
                    <a:lstStyle/>
                    <a:p>
                      <a:r>
                        <a:rPr lang="en-US" dirty="0"/>
                        <a:t>Log analyzer</a:t>
                      </a:r>
                      <a:endParaRPr lang="en-IN" dirty="0"/>
                    </a:p>
                  </a:txBody>
                  <a:tcPr/>
                </a:tc>
                <a:tc>
                  <a:txBody>
                    <a:bodyPr/>
                    <a:lstStyle/>
                    <a:p>
                      <a:r>
                        <a:rPr lang="en-IN" dirty="0"/>
                        <a:t>Detect spikes in errors</a:t>
                      </a:r>
                    </a:p>
                  </a:txBody>
                  <a:tcPr/>
                </a:tc>
                <a:extLst>
                  <a:ext uri="{0D108BD9-81ED-4DB2-BD59-A6C34878D82A}">
                    <a16:rowId xmlns:a16="http://schemas.microsoft.com/office/drawing/2014/main" val="3598237533"/>
                  </a:ext>
                </a:extLst>
              </a:tr>
              <a:tr h="370840">
                <a:tc>
                  <a:txBody>
                    <a:bodyPr/>
                    <a:lstStyle/>
                    <a:p>
                      <a:r>
                        <a:rPr lang="en-US" dirty="0"/>
                        <a:t>RAG search</a:t>
                      </a:r>
                      <a:endParaRPr lang="en-IN" dirty="0"/>
                    </a:p>
                  </a:txBody>
                  <a:tcPr/>
                </a:tc>
                <a:tc>
                  <a:txBody>
                    <a:bodyPr/>
                    <a:lstStyle/>
                    <a:p>
                      <a:r>
                        <a:rPr lang="en-IN" dirty="0"/>
                        <a:t>Retrieve runbooks / documentation</a:t>
                      </a:r>
                    </a:p>
                  </a:txBody>
                  <a:tcPr/>
                </a:tc>
                <a:extLst>
                  <a:ext uri="{0D108BD9-81ED-4DB2-BD59-A6C34878D82A}">
                    <a16:rowId xmlns:a16="http://schemas.microsoft.com/office/drawing/2014/main" val="471284253"/>
                  </a:ext>
                </a:extLst>
              </a:tr>
            </a:tbl>
          </a:graphicData>
        </a:graphic>
      </p:graphicFrame>
    </p:spTree>
    <p:extLst>
      <p:ext uri="{BB962C8B-B14F-4D97-AF65-F5344CB8AC3E}">
        <p14:creationId xmlns:p14="http://schemas.microsoft.com/office/powerpoint/2010/main" val="948234993"/>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8D1AA55E-40D5-461B-A5A8-4AE8AAB71B0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a:extLst>
              <a:ext uri="{FF2B5EF4-FFF2-40B4-BE49-F238E27FC236}">
                <a16:creationId xmlns:a16="http://schemas.microsoft.com/office/drawing/2014/main" id="{2474C97D-C5E0-4E81-9AE0-03DFE119F05D}"/>
              </a:ext>
            </a:extLst>
          </p:cNvPr>
          <p:cNvSpPr>
            <a:spLocks noGrp="1"/>
          </p:cNvSpPr>
          <p:nvPr>
            <p:ph type="title"/>
          </p:nvPr>
        </p:nvSpPr>
        <p:spPr>
          <a:xfrm>
            <a:off x="838200" y="1336390"/>
            <a:ext cx="6155988" cy="1182927"/>
          </a:xfrm>
        </p:spPr>
        <p:txBody>
          <a:bodyPr anchor="b">
            <a:normAutofit/>
          </a:bodyPr>
          <a:lstStyle/>
          <a:p>
            <a:r>
              <a:rPr lang="en-IN" sz="3900"/>
              <a:t>Chain vs Agent Decision Criteria</a:t>
            </a:r>
          </a:p>
        </p:txBody>
      </p:sp>
      <p:cxnSp>
        <p:nvCxnSpPr>
          <p:cNvPr id="12" name="Straight Connector 11">
            <a:extLst>
              <a:ext uri="{FF2B5EF4-FFF2-40B4-BE49-F238E27FC236}">
                <a16:creationId xmlns:a16="http://schemas.microsoft.com/office/drawing/2014/main" id="{7EB498BD-8089-4626-91EA-4978EBEF535E}"/>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0" y="806470"/>
            <a:ext cx="7903723" cy="0"/>
          </a:xfrm>
          <a:prstGeom prst="line">
            <a:avLst/>
          </a:prstGeom>
          <a:ln w="25400" cap="sq">
            <a:gradFill flip="none" rotWithShape="1">
              <a:gsLst>
                <a:gs pos="0">
                  <a:schemeClr val="accent1"/>
                </a:gs>
                <a:gs pos="100000">
                  <a:schemeClr val="accent2"/>
                </a:gs>
              </a:gsLst>
              <a:lin ang="10800000" scaled="0"/>
              <a:tileRect/>
            </a:gradFill>
            <a:bevel/>
          </a:ln>
        </p:spPr>
        <p:style>
          <a:lnRef idx="1">
            <a:schemeClr val="accent1"/>
          </a:lnRef>
          <a:fillRef idx="0">
            <a:schemeClr val="accent1"/>
          </a:fillRef>
          <a:effectRef idx="0">
            <a:schemeClr val="accent1"/>
          </a:effectRef>
          <a:fontRef idx="minor">
            <a:schemeClr val="tx1"/>
          </a:fontRef>
        </p:style>
      </p:cxnSp>
      <p:sp>
        <p:nvSpPr>
          <p:cNvPr id="3" name="Content Placeholder 2">
            <a:extLst>
              <a:ext uri="{FF2B5EF4-FFF2-40B4-BE49-F238E27FC236}">
                <a16:creationId xmlns:a16="http://schemas.microsoft.com/office/drawing/2014/main" id="{A245B03E-2B55-36C8-F581-7C6858C0A04F}"/>
              </a:ext>
            </a:extLst>
          </p:cNvPr>
          <p:cNvSpPr>
            <a:spLocks noGrp="1"/>
          </p:cNvSpPr>
          <p:nvPr>
            <p:ph idx="1"/>
          </p:nvPr>
        </p:nvSpPr>
        <p:spPr>
          <a:xfrm>
            <a:off x="803776" y="2829330"/>
            <a:ext cx="6190412" cy="3344459"/>
          </a:xfrm>
        </p:spPr>
        <p:txBody>
          <a:bodyPr anchor="t">
            <a:normAutofit/>
          </a:bodyPr>
          <a:lstStyle/>
          <a:p>
            <a:r>
              <a:rPr lang="en-US" sz="1100">
                <a:solidFill>
                  <a:schemeClr val="tx1">
                    <a:alpha val="80000"/>
                  </a:schemeClr>
                </a:solidFill>
              </a:rPr>
              <a:t>The key difference is </a:t>
            </a:r>
            <a:r>
              <a:rPr lang="en-US" sz="1100" b="1">
                <a:solidFill>
                  <a:schemeClr val="tx1">
                    <a:alpha val="80000"/>
                  </a:schemeClr>
                </a:solidFill>
              </a:rPr>
              <a:t>who decides the workflow</a:t>
            </a:r>
            <a:r>
              <a:rPr lang="en-US" sz="1100">
                <a:solidFill>
                  <a:schemeClr val="tx1">
                    <a:alpha val="80000"/>
                  </a:schemeClr>
                </a:solidFill>
              </a:rPr>
              <a:t>.</a:t>
            </a:r>
          </a:p>
          <a:p>
            <a:r>
              <a:rPr lang="en-US" sz="1100" b="1">
                <a:solidFill>
                  <a:schemeClr val="tx1">
                    <a:alpha val="80000"/>
                  </a:schemeClr>
                </a:solidFill>
              </a:rPr>
              <a:t>Chains (Deterministic)</a:t>
            </a:r>
          </a:p>
          <a:p>
            <a:pPr lvl="1"/>
            <a:r>
              <a:rPr lang="en-US" sz="1100">
                <a:solidFill>
                  <a:schemeClr val="tx1">
                    <a:alpha val="80000"/>
                  </a:schemeClr>
                </a:solidFill>
              </a:rPr>
              <a:t>The </a:t>
            </a:r>
            <a:r>
              <a:rPr lang="en-US" sz="1100" b="1">
                <a:solidFill>
                  <a:schemeClr val="tx1">
                    <a:alpha val="80000"/>
                  </a:schemeClr>
                </a:solidFill>
              </a:rPr>
              <a:t>developer defines the steps</a:t>
            </a:r>
            <a:r>
              <a:rPr lang="en-US" sz="1100">
                <a:solidFill>
                  <a:schemeClr val="tx1">
                    <a:alpha val="80000"/>
                  </a:schemeClr>
                </a:solidFill>
              </a:rPr>
              <a:t>.</a:t>
            </a:r>
          </a:p>
          <a:p>
            <a:r>
              <a:rPr lang="en-IN" sz="1100">
                <a:solidFill>
                  <a:schemeClr val="tx1">
                    <a:alpha val="80000"/>
                  </a:schemeClr>
                </a:solidFill>
              </a:rPr>
              <a:t>Every time:</a:t>
            </a:r>
          </a:p>
          <a:p>
            <a:pPr marL="457200" lvl="1" indent="0">
              <a:buNone/>
            </a:pPr>
            <a:r>
              <a:rPr lang="en-US" sz="1100">
                <a:solidFill>
                  <a:schemeClr val="tx1">
                    <a:alpha val="80000"/>
                  </a:schemeClr>
                </a:solidFill>
                <a:latin typeface="Cascadia Code" panose="020B0609020000020004" pitchFamily="49" charset="0"/>
                <a:cs typeface="Cascadia Code" panose="020B0609020000020004" pitchFamily="49" charset="0"/>
              </a:rPr>
              <a:t>Step 1 → Step 2 → Step 3</a:t>
            </a:r>
            <a:endParaRPr lang="en-IN" sz="1100">
              <a:solidFill>
                <a:schemeClr val="tx1">
                  <a:alpha val="80000"/>
                </a:schemeClr>
              </a:solidFill>
              <a:latin typeface="Cascadia Code" panose="020B0609020000020004" pitchFamily="49" charset="0"/>
              <a:cs typeface="Cascadia Code" panose="020B0609020000020004" pitchFamily="49" charset="0"/>
            </a:endParaRPr>
          </a:p>
          <a:p>
            <a:r>
              <a:rPr lang="en-US" sz="1100">
                <a:solidFill>
                  <a:schemeClr val="tx1">
                    <a:alpha val="80000"/>
                  </a:schemeClr>
                </a:solidFill>
              </a:rPr>
              <a:t>Advantages:</a:t>
            </a:r>
          </a:p>
          <a:p>
            <a:pPr lvl="1"/>
            <a:r>
              <a:rPr lang="en-US" sz="1100">
                <a:solidFill>
                  <a:schemeClr val="tx1">
                    <a:alpha val="80000"/>
                  </a:schemeClr>
                </a:solidFill>
              </a:rPr>
              <a:t>Predictable</a:t>
            </a:r>
          </a:p>
          <a:p>
            <a:pPr lvl="1"/>
            <a:r>
              <a:rPr lang="en-US" sz="1100">
                <a:solidFill>
                  <a:schemeClr val="tx1">
                    <a:alpha val="80000"/>
                  </a:schemeClr>
                </a:solidFill>
              </a:rPr>
              <a:t>Easier to debug</a:t>
            </a:r>
          </a:p>
          <a:p>
            <a:pPr lvl="1"/>
            <a:r>
              <a:rPr lang="en-US" sz="1100">
                <a:solidFill>
                  <a:schemeClr val="tx1">
                    <a:alpha val="80000"/>
                  </a:schemeClr>
                </a:solidFill>
              </a:rPr>
              <a:t>Faster</a:t>
            </a:r>
          </a:p>
          <a:p>
            <a:r>
              <a:rPr lang="en-US" sz="1100">
                <a:solidFill>
                  <a:schemeClr val="tx1">
                    <a:alpha val="80000"/>
                  </a:schemeClr>
                </a:solidFill>
              </a:rPr>
              <a:t>Best for:</a:t>
            </a:r>
          </a:p>
          <a:p>
            <a:pPr lvl="1"/>
            <a:r>
              <a:rPr lang="en-US" sz="1100">
                <a:solidFill>
                  <a:schemeClr val="tx1">
                    <a:alpha val="80000"/>
                  </a:schemeClr>
                </a:solidFill>
              </a:rPr>
              <a:t>Fixed pipelines</a:t>
            </a:r>
          </a:p>
          <a:p>
            <a:pPr lvl="1"/>
            <a:r>
              <a:rPr lang="en-US" sz="1100">
                <a:solidFill>
                  <a:schemeClr val="tx1">
                    <a:alpha val="80000"/>
                  </a:schemeClr>
                </a:solidFill>
              </a:rPr>
              <a:t>Data processing workflows</a:t>
            </a:r>
          </a:p>
          <a:p>
            <a:pPr lvl="1"/>
            <a:r>
              <a:rPr lang="en-US" sz="1100">
                <a:solidFill>
                  <a:schemeClr val="tx1">
                    <a:alpha val="80000"/>
                  </a:schemeClr>
                </a:solidFill>
              </a:rPr>
              <a:t>Production systems with strict control</a:t>
            </a:r>
          </a:p>
          <a:p>
            <a:endParaRPr lang="en-IN" sz="1100">
              <a:solidFill>
                <a:schemeClr val="tx1">
                  <a:alpha val="80000"/>
                </a:schemeClr>
              </a:solidFill>
            </a:endParaRPr>
          </a:p>
        </p:txBody>
      </p:sp>
      <p:pic>
        <p:nvPicPr>
          <p:cNvPr id="5" name="Picture 4">
            <a:extLst>
              <a:ext uri="{FF2B5EF4-FFF2-40B4-BE49-F238E27FC236}">
                <a16:creationId xmlns:a16="http://schemas.microsoft.com/office/drawing/2014/main" id="{7609ED71-3749-809A-B0B9-2DE30A0E62AE}"/>
              </a:ext>
            </a:extLst>
          </p:cNvPr>
          <p:cNvPicPr>
            <a:picLocks noChangeAspect="1"/>
          </p:cNvPicPr>
          <p:nvPr/>
        </p:nvPicPr>
        <p:blipFill>
          <a:blip r:embed="rId2"/>
          <a:stretch>
            <a:fillRect/>
          </a:stretch>
        </p:blipFill>
        <p:spPr>
          <a:xfrm>
            <a:off x="7572653" y="1655011"/>
            <a:ext cx="3548404" cy="4200152"/>
          </a:xfrm>
          <a:prstGeom prst="rect">
            <a:avLst/>
          </a:prstGeom>
        </p:spPr>
      </p:pic>
      <p:sp>
        <p:nvSpPr>
          <p:cNvPr id="14" name="Graphic 11">
            <a:extLst>
              <a:ext uri="{FF2B5EF4-FFF2-40B4-BE49-F238E27FC236}">
                <a16:creationId xmlns:a16="http://schemas.microsoft.com/office/drawing/2014/main" id="{6CB927A4-E432-4310-9CD5-E89FF506317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0924552" y="1899284"/>
            <a:ext cx="139039" cy="139039"/>
          </a:xfrm>
          <a:custGeom>
            <a:avLst/>
            <a:gdLst>
              <a:gd name="connsiteX0" fmla="*/ 129602 w 139039"/>
              <a:gd name="connsiteY0" fmla="*/ 60082 h 139039"/>
              <a:gd name="connsiteX1" fmla="*/ 78957 w 139039"/>
              <a:gd name="connsiteY1" fmla="*/ 60082 h 139039"/>
              <a:gd name="connsiteX2" fmla="*/ 78957 w 139039"/>
              <a:gd name="connsiteY2" fmla="*/ 9437 h 139039"/>
              <a:gd name="connsiteX3" fmla="*/ 69520 w 139039"/>
              <a:gd name="connsiteY3" fmla="*/ 0 h 139039"/>
              <a:gd name="connsiteX4" fmla="*/ 60082 w 139039"/>
              <a:gd name="connsiteY4" fmla="*/ 9437 h 139039"/>
              <a:gd name="connsiteX5" fmla="*/ 60082 w 139039"/>
              <a:gd name="connsiteY5" fmla="*/ 60082 h 139039"/>
              <a:gd name="connsiteX6" fmla="*/ 9437 w 139039"/>
              <a:gd name="connsiteY6" fmla="*/ 60082 h 139039"/>
              <a:gd name="connsiteX7" fmla="*/ 0 w 139039"/>
              <a:gd name="connsiteY7" fmla="*/ 69520 h 139039"/>
              <a:gd name="connsiteX8" fmla="*/ 9437 w 139039"/>
              <a:gd name="connsiteY8" fmla="*/ 78957 h 139039"/>
              <a:gd name="connsiteX9" fmla="*/ 60082 w 139039"/>
              <a:gd name="connsiteY9" fmla="*/ 78957 h 139039"/>
              <a:gd name="connsiteX10" fmla="*/ 60082 w 139039"/>
              <a:gd name="connsiteY10" fmla="*/ 129602 h 139039"/>
              <a:gd name="connsiteX11" fmla="*/ 69520 w 139039"/>
              <a:gd name="connsiteY11" fmla="*/ 139039 h 139039"/>
              <a:gd name="connsiteX12" fmla="*/ 78957 w 139039"/>
              <a:gd name="connsiteY12" fmla="*/ 129602 h 139039"/>
              <a:gd name="connsiteX13" fmla="*/ 78957 w 139039"/>
              <a:gd name="connsiteY13" fmla="*/ 78957 h 139039"/>
              <a:gd name="connsiteX14" fmla="*/ 129602 w 139039"/>
              <a:gd name="connsiteY14" fmla="*/ 78957 h 139039"/>
              <a:gd name="connsiteX15" fmla="*/ 139039 w 139039"/>
              <a:gd name="connsiteY15" fmla="*/ 69520 h 139039"/>
              <a:gd name="connsiteX16" fmla="*/ 129602 w 139039"/>
              <a:gd name="connsiteY16" fmla="*/ 60082 h 1390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39039" h="139039">
                <a:moveTo>
                  <a:pt x="129602" y="60082"/>
                </a:moveTo>
                <a:lnTo>
                  <a:pt x="78957" y="60082"/>
                </a:lnTo>
                <a:lnTo>
                  <a:pt x="78957" y="9437"/>
                </a:lnTo>
                <a:cubicBezTo>
                  <a:pt x="78957" y="4225"/>
                  <a:pt x="74731" y="0"/>
                  <a:pt x="69520" y="0"/>
                </a:cubicBezTo>
                <a:cubicBezTo>
                  <a:pt x="64308" y="0"/>
                  <a:pt x="60082" y="4225"/>
                  <a:pt x="60082" y="9437"/>
                </a:cubicBezTo>
                <a:lnTo>
                  <a:pt x="60082" y="60082"/>
                </a:lnTo>
                <a:lnTo>
                  <a:pt x="9437" y="60082"/>
                </a:lnTo>
                <a:cubicBezTo>
                  <a:pt x="4225" y="60082"/>
                  <a:pt x="0" y="64308"/>
                  <a:pt x="0" y="69520"/>
                </a:cubicBezTo>
                <a:cubicBezTo>
                  <a:pt x="0" y="74731"/>
                  <a:pt x="4225" y="78957"/>
                  <a:pt x="9437" y="78957"/>
                </a:cubicBezTo>
                <a:lnTo>
                  <a:pt x="60082" y="78957"/>
                </a:lnTo>
                <a:lnTo>
                  <a:pt x="60082" y="129602"/>
                </a:lnTo>
                <a:cubicBezTo>
                  <a:pt x="60082" y="134814"/>
                  <a:pt x="64308" y="139039"/>
                  <a:pt x="69520" y="139039"/>
                </a:cubicBezTo>
                <a:cubicBezTo>
                  <a:pt x="74731" y="139039"/>
                  <a:pt x="78957" y="134814"/>
                  <a:pt x="78957" y="129602"/>
                </a:cubicBezTo>
                <a:lnTo>
                  <a:pt x="78957" y="78957"/>
                </a:lnTo>
                <a:lnTo>
                  <a:pt x="129602" y="78957"/>
                </a:lnTo>
                <a:cubicBezTo>
                  <a:pt x="134814" y="78957"/>
                  <a:pt x="139039" y="74731"/>
                  <a:pt x="139039" y="69520"/>
                </a:cubicBezTo>
                <a:cubicBezTo>
                  <a:pt x="139039" y="64308"/>
                  <a:pt x="134814" y="60082"/>
                  <a:pt x="129602" y="60082"/>
                </a:cubicBezTo>
                <a:close/>
              </a:path>
            </a:pathLst>
          </a:custGeom>
          <a:solidFill>
            <a:schemeClr val="accent1"/>
          </a:solidFill>
          <a:ln w="603" cap="flat">
            <a:noFill/>
            <a:prstDash val="solid"/>
            <a:miter/>
          </a:ln>
        </p:spPr>
        <p:txBody>
          <a:bodyPr rtlCol="0" anchor="ctr"/>
          <a:lstStyle/>
          <a:p>
            <a:endParaRPr lang="en-US"/>
          </a:p>
        </p:txBody>
      </p:sp>
      <p:sp>
        <p:nvSpPr>
          <p:cNvPr id="16" name="Graphic 10">
            <a:extLst>
              <a:ext uri="{FF2B5EF4-FFF2-40B4-BE49-F238E27FC236}">
                <a16:creationId xmlns:a16="http://schemas.microsoft.com/office/drawing/2014/main" id="{E3020543-B24B-4EC4-8FFC-8DD88EEA91A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1236862" y="2189928"/>
            <a:ext cx="91138" cy="91138"/>
          </a:xfrm>
          <a:custGeom>
            <a:avLst/>
            <a:gdLst>
              <a:gd name="connsiteX0" fmla="*/ 91138 w 91138"/>
              <a:gd name="connsiteY0" fmla="*/ 45569 h 91138"/>
              <a:gd name="connsiteX1" fmla="*/ 45569 w 91138"/>
              <a:gd name="connsiteY1" fmla="*/ 91138 h 91138"/>
              <a:gd name="connsiteX2" fmla="*/ 0 w 91138"/>
              <a:gd name="connsiteY2" fmla="*/ 45569 h 91138"/>
              <a:gd name="connsiteX3" fmla="*/ 45569 w 91138"/>
              <a:gd name="connsiteY3" fmla="*/ 0 h 91138"/>
              <a:gd name="connsiteX4" fmla="*/ 91138 w 91138"/>
              <a:gd name="connsiteY4" fmla="*/ 45569 h 911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1138" h="91138">
                <a:moveTo>
                  <a:pt x="91138" y="45569"/>
                </a:moveTo>
                <a:cubicBezTo>
                  <a:pt x="91138" y="70736"/>
                  <a:pt x="70736" y="91138"/>
                  <a:pt x="45569" y="91138"/>
                </a:cubicBezTo>
                <a:cubicBezTo>
                  <a:pt x="20402" y="91138"/>
                  <a:pt x="0" y="70736"/>
                  <a:pt x="0" y="45569"/>
                </a:cubicBezTo>
                <a:cubicBezTo>
                  <a:pt x="0" y="20402"/>
                  <a:pt x="20402" y="0"/>
                  <a:pt x="45569" y="0"/>
                </a:cubicBezTo>
                <a:cubicBezTo>
                  <a:pt x="70736" y="0"/>
                  <a:pt x="91138" y="20402"/>
                  <a:pt x="91138" y="45569"/>
                </a:cubicBezTo>
                <a:close/>
              </a:path>
            </a:pathLst>
          </a:custGeom>
          <a:solidFill>
            <a:schemeClr val="accent1"/>
          </a:solidFill>
          <a:ln w="422" cap="flat">
            <a:noFill/>
            <a:prstDash val="solid"/>
            <a:miter/>
          </a:ln>
        </p:spPr>
        <p:txBody>
          <a:bodyPr rtlCol="0" anchor="ctr"/>
          <a:lstStyle/>
          <a:p>
            <a:endParaRPr lang="en-US"/>
          </a:p>
        </p:txBody>
      </p:sp>
    </p:spTree>
    <p:extLst>
      <p:ext uri="{BB962C8B-B14F-4D97-AF65-F5344CB8AC3E}">
        <p14:creationId xmlns:p14="http://schemas.microsoft.com/office/powerpoint/2010/main" val="3092427174"/>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8D1AA55E-40D5-461B-A5A8-4AE8AAB71B0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a:extLst>
              <a:ext uri="{FF2B5EF4-FFF2-40B4-BE49-F238E27FC236}">
                <a16:creationId xmlns:a16="http://schemas.microsoft.com/office/drawing/2014/main" id="{4D65621C-AFB7-70AC-8979-2AA277CB1D01}"/>
              </a:ext>
            </a:extLst>
          </p:cNvPr>
          <p:cNvSpPr>
            <a:spLocks noGrp="1"/>
          </p:cNvSpPr>
          <p:nvPr>
            <p:ph type="title"/>
          </p:nvPr>
        </p:nvSpPr>
        <p:spPr>
          <a:xfrm>
            <a:off x="838200" y="1336390"/>
            <a:ext cx="6155988" cy="1182927"/>
          </a:xfrm>
        </p:spPr>
        <p:txBody>
          <a:bodyPr anchor="b">
            <a:normAutofit/>
          </a:bodyPr>
          <a:lstStyle/>
          <a:p>
            <a:r>
              <a:rPr lang="en-IN" sz="3900" dirty="0"/>
              <a:t>Chain vs Agent Decision Criteria</a:t>
            </a:r>
          </a:p>
        </p:txBody>
      </p:sp>
      <p:cxnSp>
        <p:nvCxnSpPr>
          <p:cNvPr id="12" name="Straight Connector 11">
            <a:extLst>
              <a:ext uri="{FF2B5EF4-FFF2-40B4-BE49-F238E27FC236}">
                <a16:creationId xmlns:a16="http://schemas.microsoft.com/office/drawing/2014/main" id="{7EB498BD-8089-4626-91EA-4978EBEF535E}"/>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0" y="806470"/>
            <a:ext cx="7903723" cy="0"/>
          </a:xfrm>
          <a:prstGeom prst="line">
            <a:avLst/>
          </a:prstGeom>
          <a:ln w="25400" cap="sq">
            <a:gradFill flip="none" rotWithShape="1">
              <a:gsLst>
                <a:gs pos="0">
                  <a:schemeClr val="accent1"/>
                </a:gs>
                <a:gs pos="100000">
                  <a:schemeClr val="accent2"/>
                </a:gs>
              </a:gsLst>
              <a:lin ang="10800000" scaled="0"/>
              <a:tileRect/>
            </a:gradFill>
            <a:bevel/>
          </a:ln>
        </p:spPr>
        <p:style>
          <a:lnRef idx="1">
            <a:schemeClr val="accent1"/>
          </a:lnRef>
          <a:fillRef idx="0">
            <a:schemeClr val="accent1"/>
          </a:fillRef>
          <a:effectRef idx="0">
            <a:schemeClr val="accent1"/>
          </a:effectRef>
          <a:fontRef idx="minor">
            <a:schemeClr val="tx1"/>
          </a:fontRef>
        </p:style>
      </p:cxnSp>
      <p:sp>
        <p:nvSpPr>
          <p:cNvPr id="3" name="Content Placeholder 2">
            <a:extLst>
              <a:ext uri="{FF2B5EF4-FFF2-40B4-BE49-F238E27FC236}">
                <a16:creationId xmlns:a16="http://schemas.microsoft.com/office/drawing/2014/main" id="{2BD8F1B4-F887-E254-787C-123EEBAC9BA9}"/>
              </a:ext>
            </a:extLst>
          </p:cNvPr>
          <p:cNvSpPr>
            <a:spLocks noGrp="1"/>
          </p:cNvSpPr>
          <p:nvPr>
            <p:ph idx="1"/>
          </p:nvPr>
        </p:nvSpPr>
        <p:spPr>
          <a:xfrm>
            <a:off x="803776" y="2829330"/>
            <a:ext cx="6190412" cy="3344459"/>
          </a:xfrm>
        </p:spPr>
        <p:txBody>
          <a:bodyPr anchor="t">
            <a:normAutofit/>
          </a:bodyPr>
          <a:lstStyle/>
          <a:p>
            <a:r>
              <a:rPr lang="en-US" sz="1400" b="1">
                <a:solidFill>
                  <a:schemeClr val="tx1">
                    <a:alpha val="80000"/>
                  </a:schemeClr>
                </a:solidFill>
              </a:rPr>
              <a:t>Agents (Dynamic)</a:t>
            </a:r>
          </a:p>
          <a:p>
            <a:pPr lvl="1"/>
            <a:r>
              <a:rPr lang="en-US" sz="1400">
                <a:solidFill>
                  <a:schemeClr val="tx1">
                    <a:alpha val="80000"/>
                  </a:schemeClr>
                </a:solidFill>
              </a:rPr>
              <a:t>The </a:t>
            </a:r>
            <a:r>
              <a:rPr lang="en-US" sz="1400" b="1">
                <a:solidFill>
                  <a:schemeClr val="tx1">
                    <a:alpha val="80000"/>
                  </a:schemeClr>
                </a:solidFill>
              </a:rPr>
              <a:t>LLM decides the steps</a:t>
            </a:r>
            <a:r>
              <a:rPr lang="en-US" sz="1400">
                <a:solidFill>
                  <a:schemeClr val="tx1">
                    <a:alpha val="80000"/>
                  </a:schemeClr>
                </a:solidFill>
              </a:rPr>
              <a:t>.</a:t>
            </a:r>
          </a:p>
          <a:p>
            <a:r>
              <a:rPr lang="en-IN" sz="1400">
                <a:solidFill>
                  <a:schemeClr val="tx1">
                    <a:alpha val="80000"/>
                  </a:schemeClr>
                </a:solidFill>
              </a:rPr>
              <a:t>Example Decision:</a:t>
            </a:r>
          </a:p>
          <a:p>
            <a:pPr marL="457200" lvl="1" indent="0">
              <a:buNone/>
            </a:pPr>
            <a:r>
              <a:rPr lang="en-US" sz="1400">
                <a:solidFill>
                  <a:schemeClr val="tx1">
                    <a:alpha val="80000"/>
                  </a:schemeClr>
                </a:solidFill>
                <a:latin typeface="Cascadia Code" panose="020B0609020000020004" pitchFamily="49" charset="0"/>
                <a:cs typeface="Cascadia Code" panose="020B0609020000020004" pitchFamily="49" charset="0"/>
              </a:rPr>
              <a:t>Question: Did errors increase after outage?</a:t>
            </a:r>
          </a:p>
          <a:p>
            <a:pPr marL="457200" lvl="1" indent="0">
              <a:buNone/>
            </a:pPr>
            <a:r>
              <a:rPr lang="en-US" sz="1400">
                <a:solidFill>
                  <a:schemeClr val="tx1">
                    <a:alpha val="80000"/>
                  </a:schemeClr>
                </a:solidFill>
                <a:latin typeface="Cascadia Code" panose="020B0609020000020004" pitchFamily="49" charset="0"/>
                <a:cs typeface="Cascadia Code" panose="020B0609020000020004" pitchFamily="49" charset="0"/>
              </a:rPr>
              <a:t>Agent decides:</a:t>
            </a:r>
            <a:br>
              <a:rPr lang="en-US" sz="1400">
                <a:solidFill>
                  <a:schemeClr val="tx1">
                    <a:alpha val="80000"/>
                  </a:schemeClr>
                </a:solidFill>
                <a:latin typeface="Cascadia Code" panose="020B0609020000020004" pitchFamily="49" charset="0"/>
                <a:cs typeface="Cascadia Code" panose="020B0609020000020004" pitchFamily="49" charset="0"/>
              </a:rPr>
            </a:br>
            <a:r>
              <a:rPr lang="en-US" sz="1400">
                <a:solidFill>
                  <a:schemeClr val="tx1">
                    <a:alpha val="80000"/>
                  </a:schemeClr>
                </a:solidFill>
                <a:latin typeface="Cascadia Code" panose="020B0609020000020004" pitchFamily="49" charset="0"/>
                <a:cs typeface="Cascadia Code" panose="020B0609020000020004" pitchFamily="49" charset="0"/>
              </a:rPr>
              <a:t>1. Query incident DB</a:t>
            </a:r>
            <a:br>
              <a:rPr lang="en-US" sz="1400">
                <a:solidFill>
                  <a:schemeClr val="tx1">
                    <a:alpha val="80000"/>
                  </a:schemeClr>
                </a:solidFill>
                <a:latin typeface="Cascadia Code" panose="020B0609020000020004" pitchFamily="49" charset="0"/>
                <a:cs typeface="Cascadia Code" panose="020B0609020000020004" pitchFamily="49" charset="0"/>
              </a:rPr>
            </a:br>
            <a:r>
              <a:rPr lang="en-US" sz="1400">
                <a:solidFill>
                  <a:schemeClr val="tx1">
                    <a:alpha val="80000"/>
                  </a:schemeClr>
                </a:solidFill>
                <a:latin typeface="Cascadia Code" panose="020B0609020000020004" pitchFamily="49" charset="0"/>
                <a:cs typeface="Cascadia Code" panose="020B0609020000020004" pitchFamily="49" charset="0"/>
              </a:rPr>
              <a:t>2. Analyze logs</a:t>
            </a:r>
            <a:br>
              <a:rPr lang="en-US" sz="1400">
                <a:solidFill>
                  <a:schemeClr val="tx1">
                    <a:alpha val="80000"/>
                  </a:schemeClr>
                </a:solidFill>
                <a:latin typeface="Cascadia Code" panose="020B0609020000020004" pitchFamily="49" charset="0"/>
                <a:cs typeface="Cascadia Code" panose="020B0609020000020004" pitchFamily="49" charset="0"/>
              </a:rPr>
            </a:br>
            <a:r>
              <a:rPr lang="en-US" sz="1400">
                <a:solidFill>
                  <a:schemeClr val="tx1">
                    <a:alpha val="80000"/>
                  </a:schemeClr>
                </a:solidFill>
                <a:latin typeface="Cascadia Code" panose="020B0609020000020004" pitchFamily="49" charset="0"/>
                <a:cs typeface="Cascadia Code" panose="020B0609020000020004" pitchFamily="49" charset="0"/>
              </a:rPr>
              <a:t>3. Search runbook</a:t>
            </a:r>
            <a:br>
              <a:rPr lang="en-US" sz="1400">
                <a:solidFill>
                  <a:schemeClr val="tx1">
                    <a:alpha val="80000"/>
                  </a:schemeClr>
                </a:solidFill>
                <a:latin typeface="Cascadia Code" panose="020B0609020000020004" pitchFamily="49" charset="0"/>
                <a:cs typeface="Cascadia Code" panose="020B0609020000020004" pitchFamily="49" charset="0"/>
              </a:rPr>
            </a:br>
            <a:r>
              <a:rPr lang="en-US" sz="1400">
                <a:solidFill>
                  <a:schemeClr val="tx1">
                    <a:alpha val="80000"/>
                  </a:schemeClr>
                </a:solidFill>
                <a:latin typeface="Cascadia Code" panose="020B0609020000020004" pitchFamily="49" charset="0"/>
                <a:cs typeface="Cascadia Code" panose="020B0609020000020004" pitchFamily="49" charset="0"/>
              </a:rPr>
              <a:t>4. Generate explanation</a:t>
            </a:r>
            <a:endParaRPr lang="en-IN" sz="1400">
              <a:solidFill>
                <a:schemeClr val="tx1">
                  <a:alpha val="80000"/>
                </a:schemeClr>
              </a:solidFill>
              <a:latin typeface="Cascadia Code" panose="020B0609020000020004" pitchFamily="49" charset="0"/>
              <a:cs typeface="Cascadia Code" panose="020B0609020000020004" pitchFamily="49" charset="0"/>
            </a:endParaRPr>
          </a:p>
          <a:p>
            <a:r>
              <a:rPr lang="en-US" sz="1400">
                <a:solidFill>
                  <a:schemeClr val="tx1">
                    <a:alpha val="80000"/>
                  </a:schemeClr>
                </a:solidFill>
              </a:rPr>
              <a:t>Advantages:</a:t>
            </a:r>
          </a:p>
          <a:p>
            <a:pPr lvl="1"/>
            <a:r>
              <a:rPr lang="en-US" sz="1400">
                <a:solidFill>
                  <a:schemeClr val="tx1">
                    <a:alpha val="80000"/>
                  </a:schemeClr>
                </a:solidFill>
              </a:rPr>
              <a:t>Flexible</a:t>
            </a:r>
          </a:p>
          <a:p>
            <a:pPr lvl="1"/>
            <a:r>
              <a:rPr lang="en-US" sz="1400">
                <a:solidFill>
                  <a:schemeClr val="tx1">
                    <a:alpha val="80000"/>
                  </a:schemeClr>
                </a:solidFill>
              </a:rPr>
              <a:t>Handles unpredictable queries</a:t>
            </a:r>
          </a:p>
          <a:p>
            <a:pPr lvl="1"/>
            <a:r>
              <a:rPr lang="en-US" sz="1400">
                <a:solidFill>
                  <a:schemeClr val="tx1">
                    <a:alpha val="80000"/>
                  </a:schemeClr>
                </a:solidFill>
              </a:rPr>
              <a:t>Can combine tools dynamically</a:t>
            </a:r>
          </a:p>
          <a:p>
            <a:endParaRPr lang="en-IN" sz="1400">
              <a:solidFill>
                <a:schemeClr val="tx1">
                  <a:alpha val="80000"/>
                </a:schemeClr>
              </a:solidFill>
            </a:endParaRPr>
          </a:p>
        </p:txBody>
      </p:sp>
      <p:pic>
        <p:nvPicPr>
          <p:cNvPr id="5" name="Picture 4">
            <a:extLst>
              <a:ext uri="{FF2B5EF4-FFF2-40B4-BE49-F238E27FC236}">
                <a16:creationId xmlns:a16="http://schemas.microsoft.com/office/drawing/2014/main" id="{7F054320-3E24-6586-6276-8AE078E7EAAE}"/>
              </a:ext>
            </a:extLst>
          </p:cNvPr>
          <p:cNvPicPr>
            <a:picLocks noChangeAspect="1"/>
          </p:cNvPicPr>
          <p:nvPr/>
        </p:nvPicPr>
        <p:blipFill>
          <a:blip r:embed="rId2"/>
          <a:stretch>
            <a:fillRect/>
          </a:stretch>
        </p:blipFill>
        <p:spPr>
          <a:xfrm>
            <a:off x="7587803" y="1336390"/>
            <a:ext cx="3518104" cy="4837394"/>
          </a:xfrm>
          <a:prstGeom prst="rect">
            <a:avLst/>
          </a:prstGeom>
        </p:spPr>
      </p:pic>
      <p:sp>
        <p:nvSpPr>
          <p:cNvPr id="14" name="Graphic 11">
            <a:extLst>
              <a:ext uri="{FF2B5EF4-FFF2-40B4-BE49-F238E27FC236}">
                <a16:creationId xmlns:a16="http://schemas.microsoft.com/office/drawing/2014/main" id="{6CB927A4-E432-4310-9CD5-E89FF506317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0924552" y="1899284"/>
            <a:ext cx="139039" cy="139039"/>
          </a:xfrm>
          <a:custGeom>
            <a:avLst/>
            <a:gdLst>
              <a:gd name="connsiteX0" fmla="*/ 129602 w 139039"/>
              <a:gd name="connsiteY0" fmla="*/ 60082 h 139039"/>
              <a:gd name="connsiteX1" fmla="*/ 78957 w 139039"/>
              <a:gd name="connsiteY1" fmla="*/ 60082 h 139039"/>
              <a:gd name="connsiteX2" fmla="*/ 78957 w 139039"/>
              <a:gd name="connsiteY2" fmla="*/ 9437 h 139039"/>
              <a:gd name="connsiteX3" fmla="*/ 69520 w 139039"/>
              <a:gd name="connsiteY3" fmla="*/ 0 h 139039"/>
              <a:gd name="connsiteX4" fmla="*/ 60082 w 139039"/>
              <a:gd name="connsiteY4" fmla="*/ 9437 h 139039"/>
              <a:gd name="connsiteX5" fmla="*/ 60082 w 139039"/>
              <a:gd name="connsiteY5" fmla="*/ 60082 h 139039"/>
              <a:gd name="connsiteX6" fmla="*/ 9437 w 139039"/>
              <a:gd name="connsiteY6" fmla="*/ 60082 h 139039"/>
              <a:gd name="connsiteX7" fmla="*/ 0 w 139039"/>
              <a:gd name="connsiteY7" fmla="*/ 69520 h 139039"/>
              <a:gd name="connsiteX8" fmla="*/ 9437 w 139039"/>
              <a:gd name="connsiteY8" fmla="*/ 78957 h 139039"/>
              <a:gd name="connsiteX9" fmla="*/ 60082 w 139039"/>
              <a:gd name="connsiteY9" fmla="*/ 78957 h 139039"/>
              <a:gd name="connsiteX10" fmla="*/ 60082 w 139039"/>
              <a:gd name="connsiteY10" fmla="*/ 129602 h 139039"/>
              <a:gd name="connsiteX11" fmla="*/ 69520 w 139039"/>
              <a:gd name="connsiteY11" fmla="*/ 139039 h 139039"/>
              <a:gd name="connsiteX12" fmla="*/ 78957 w 139039"/>
              <a:gd name="connsiteY12" fmla="*/ 129602 h 139039"/>
              <a:gd name="connsiteX13" fmla="*/ 78957 w 139039"/>
              <a:gd name="connsiteY13" fmla="*/ 78957 h 139039"/>
              <a:gd name="connsiteX14" fmla="*/ 129602 w 139039"/>
              <a:gd name="connsiteY14" fmla="*/ 78957 h 139039"/>
              <a:gd name="connsiteX15" fmla="*/ 139039 w 139039"/>
              <a:gd name="connsiteY15" fmla="*/ 69520 h 139039"/>
              <a:gd name="connsiteX16" fmla="*/ 129602 w 139039"/>
              <a:gd name="connsiteY16" fmla="*/ 60082 h 1390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39039" h="139039">
                <a:moveTo>
                  <a:pt x="129602" y="60082"/>
                </a:moveTo>
                <a:lnTo>
                  <a:pt x="78957" y="60082"/>
                </a:lnTo>
                <a:lnTo>
                  <a:pt x="78957" y="9437"/>
                </a:lnTo>
                <a:cubicBezTo>
                  <a:pt x="78957" y="4225"/>
                  <a:pt x="74731" y="0"/>
                  <a:pt x="69520" y="0"/>
                </a:cubicBezTo>
                <a:cubicBezTo>
                  <a:pt x="64308" y="0"/>
                  <a:pt x="60082" y="4225"/>
                  <a:pt x="60082" y="9437"/>
                </a:cubicBezTo>
                <a:lnTo>
                  <a:pt x="60082" y="60082"/>
                </a:lnTo>
                <a:lnTo>
                  <a:pt x="9437" y="60082"/>
                </a:lnTo>
                <a:cubicBezTo>
                  <a:pt x="4225" y="60082"/>
                  <a:pt x="0" y="64308"/>
                  <a:pt x="0" y="69520"/>
                </a:cubicBezTo>
                <a:cubicBezTo>
                  <a:pt x="0" y="74731"/>
                  <a:pt x="4225" y="78957"/>
                  <a:pt x="9437" y="78957"/>
                </a:cubicBezTo>
                <a:lnTo>
                  <a:pt x="60082" y="78957"/>
                </a:lnTo>
                <a:lnTo>
                  <a:pt x="60082" y="129602"/>
                </a:lnTo>
                <a:cubicBezTo>
                  <a:pt x="60082" y="134814"/>
                  <a:pt x="64308" y="139039"/>
                  <a:pt x="69520" y="139039"/>
                </a:cubicBezTo>
                <a:cubicBezTo>
                  <a:pt x="74731" y="139039"/>
                  <a:pt x="78957" y="134814"/>
                  <a:pt x="78957" y="129602"/>
                </a:cubicBezTo>
                <a:lnTo>
                  <a:pt x="78957" y="78957"/>
                </a:lnTo>
                <a:lnTo>
                  <a:pt x="129602" y="78957"/>
                </a:lnTo>
                <a:cubicBezTo>
                  <a:pt x="134814" y="78957"/>
                  <a:pt x="139039" y="74731"/>
                  <a:pt x="139039" y="69520"/>
                </a:cubicBezTo>
                <a:cubicBezTo>
                  <a:pt x="139039" y="64308"/>
                  <a:pt x="134814" y="60082"/>
                  <a:pt x="129602" y="60082"/>
                </a:cubicBezTo>
                <a:close/>
              </a:path>
            </a:pathLst>
          </a:custGeom>
          <a:solidFill>
            <a:schemeClr val="accent1"/>
          </a:solidFill>
          <a:ln w="603" cap="flat">
            <a:noFill/>
            <a:prstDash val="solid"/>
            <a:miter/>
          </a:ln>
        </p:spPr>
        <p:txBody>
          <a:bodyPr rtlCol="0" anchor="ctr"/>
          <a:lstStyle/>
          <a:p>
            <a:endParaRPr lang="en-US"/>
          </a:p>
        </p:txBody>
      </p:sp>
      <p:sp>
        <p:nvSpPr>
          <p:cNvPr id="16" name="Graphic 10">
            <a:extLst>
              <a:ext uri="{FF2B5EF4-FFF2-40B4-BE49-F238E27FC236}">
                <a16:creationId xmlns:a16="http://schemas.microsoft.com/office/drawing/2014/main" id="{E3020543-B24B-4EC4-8FFC-8DD88EEA91A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1236862" y="2189928"/>
            <a:ext cx="91138" cy="91138"/>
          </a:xfrm>
          <a:custGeom>
            <a:avLst/>
            <a:gdLst>
              <a:gd name="connsiteX0" fmla="*/ 91138 w 91138"/>
              <a:gd name="connsiteY0" fmla="*/ 45569 h 91138"/>
              <a:gd name="connsiteX1" fmla="*/ 45569 w 91138"/>
              <a:gd name="connsiteY1" fmla="*/ 91138 h 91138"/>
              <a:gd name="connsiteX2" fmla="*/ 0 w 91138"/>
              <a:gd name="connsiteY2" fmla="*/ 45569 h 91138"/>
              <a:gd name="connsiteX3" fmla="*/ 45569 w 91138"/>
              <a:gd name="connsiteY3" fmla="*/ 0 h 91138"/>
              <a:gd name="connsiteX4" fmla="*/ 91138 w 91138"/>
              <a:gd name="connsiteY4" fmla="*/ 45569 h 911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1138" h="91138">
                <a:moveTo>
                  <a:pt x="91138" y="45569"/>
                </a:moveTo>
                <a:cubicBezTo>
                  <a:pt x="91138" y="70736"/>
                  <a:pt x="70736" y="91138"/>
                  <a:pt x="45569" y="91138"/>
                </a:cubicBezTo>
                <a:cubicBezTo>
                  <a:pt x="20402" y="91138"/>
                  <a:pt x="0" y="70736"/>
                  <a:pt x="0" y="45569"/>
                </a:cubicBezTo>
                <a:cubicBezTo>
                  <a:pt x="0" y="20402"/>
                  <a:pt x="20402" y="0"/>
                  <a:pt x="45569" y="0"/>
                </a:cubicBezTo>
                <a:cubicBezTo>
                  <a:pt x="70736" y="0"/>
                  <a:pt x="91138" y="20402"/>
                  <a:pt x="91138" y="45569"/>
                </a:cubicBezTo>
                <a:close/>
              </a:path>
            </a:pathLst>
          </a:custGeom>
          <a:solidFill>
            <a:schemeClr val="accent1"/>
          </a:solidFill>
          <a:ln w="422" cap="flat">
            <a:noFill/>
            <a:prstDash val="solid"/>
            <a:miter/>
          </a:ln>
        </p:spPr>
        <p:txBody>
          <a:bodyPr rtlCol="0" anchor="ctr"/>
          <a:lstStyle/>
          <a:p>
            <a:endParaRPr lang="en-US"/>
          </a:p>
        </p:txBody>
      </p:sp>
    </p:spTree>
    <p:extLst>
      <p:ext uri="{BB962C8B-B14F-4D97-AF65-F5344CB8AC3E}">
        <p14:creationId xmlns:p14="http://schemas.microsoft.com/office/powerpoint/2010/main" val="4264441980"/>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9DAAF6F-BE9B-1805-59E9-2CAD8CB5E237}"/>
              </a:ext>
            </a:extLst>
          </p:cNvPr>
          <p:cNvSpPr>
            <a:spLocks noGrp="1"/>
          </p:cNvSpPr>
          <p:nvPr>
            <p:ph type="title"/>
          </p:nvPr>
        </p:nvSpPr>
        <p:spPr/>
        <p:txBody>
          <a:bodyPr/>
          <a:lstStyle/>
          <a:p>
            <a:r>
              <a:rPr lang="en-IN" dirty="0"/>
              <a:t>Chain vs Agent Decision Criteria</a:t>
            </a:r>
          </a:p>
        </p:txBody>
      </p:sp>
      <p:sp>
        <p:nvSpPr>
          <p:cNvPr id="3" name="Content Placeholder 2">
            <a:extLst>
              <a:ext uri="{FF2B5EF4-FFF2-40B4-BE49-F238E27FC236}">
                <a16:creationId xmlns:a16="http://schemas.microsoft.com/office/drawing/2014/main" id="{294BCE65-F84B-4885-0B46-7C888BB8E3E2}"/>
              </a:ext>
            </a:extLst>
          </p:cNvPr>
          <p:cNvSpPr>
            <a:spLocks noGrp="1"/>
          </p:cNvSpPr>
          <p:nvPr>
            <p:ph idx="1"/>
          </p:nvPr>
        </p:nvSpPr>
        <p:spPr/>
        <p:txBody>
          <a:bodyPr/>
          <a:lstStyle/>
          <a:p>
            <a:r>
              <a:rPr lang="en-US" b="1" dirty="0"/>
              <a:t>When to use what</a:t>
            </a:r>
          </a:p>
          <a:p>
            <a:pPr lvl="1"/>
            <a:r>
              <a:rPr lang="en-US" b="1" dirty="0"/>
              <a:t>Simple Rule</a:t>
            </a:r>
          </a:p>
          <a:p>
            <a:pPr lvl="2"/>
            <a:r>
              <a:rPr lang="en-US" dirty="0"/>
              <a:t>Use a </a:t>
            </a:r>
            <a:r>
              <a:rPr lang="en-US" b="1" dirty="0"/>
              <a:t>chain when the workflow is known</a:t>
            </a:r>
            <a:r>
              <a:rPr lang="en-US" dirty="0"/>
              <a:t>.</a:t>
            </a:r>
          </a:p>
          <a:p>
            <a:pPr lvl="2"/>
            <a:r>
              <a:rPr lang="en-US" dirty="0"/>
              <a:t>Use an </a:t>
            </a:r>
            <a:r>
              <a:rPr lang="en-US" b="1" dirty="0"/>
              <a:t>agent when the workflow must be decided at runtime</a:t>
            </a:r>
            <a:r>
              <a:rPr lang="en-US" dirty="0"/>
              <a:t>.</a:t>
            </a:r>
          </a:p>
          <a:p>
            <a:endParaRPr lang="en-IN" dirty="0"/>
          </a:p>
        </p:txBody>
      </p:sp>
    </p:spTree>
    <p:extLst>
      <p:ext uri="{BB962C8B-B14F-4D97-AF65-F5344CB8AC3E}">
        <p14:creationId xmlns:p14="http://schemas.microsoft.com/office/powerpoint/2010/main" val="2160304279"/>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2FA258F-E9BF-5A3D-F309-BBE988043E1C}"/>
              </a:ext>
            </a:extLst>
          </p:cNvPr>
          <p:cNvSpPr>
            <a:spLocks noGrp="1"/>
          </p:cNvSpPr>
          <p:nvPr>
            <p:ph type="title"/>
          </p:nvPr>
        </p:nvSpPr>
        <p:spPr/>
        <p:txBody>
          <a:bodyPr/>
          <a:lstStyle/>
          <a:p>
            <a:r>
              <a:rPr lang="en-US" dirty="0"/>
              <a:t>When Agents Add Value vs Overcomplicate Systems</a:t>
            </a:r>
            <a:endParaRPr lang="en-IN" dirty="0"/>
          </a:p>
        </p:txBody>
      </p:sp>
      <p:sp>
        <p:nvSpPr>
          <p:cNvPr id="3" name="Content Placeholder 2">
            <a:extLst>
              <a:ext uri="{FF2B5EF4-FFF2-40B4-BE49-F238E27FC236}">
                <a16:creationId xmlns:a16="http://schemas.microsoft.com/office/drawing/2014/main" id="{BF0549E2-2C33-BF6E-A475-6EF0F7FCDC35}"/>
              </a:ext>
            </a:extLst>
          </p:cNvPr>
          <p:cNvSpPr>
            <a:spLocks noGrp="1"/>
          </p:cNvSpPr>
          <p:nvPr>
            <p:ph idx="1"/>
          </p:nvPr>
        </p:nvSpPr>
        <p:spPr/>
        <p:txBody>
          <a:bodyPr>
            <a:normAutofit fontScale="62500" lnSpcReduction="20000"/>
          </a:bodyPr>
          <a:lstStyle/>
          <a:p>
            <a:r>
              <a:rPr lang="en-US" dirty="0"/>
              <a:t>Agents are powerful but </a:t>
            </a:r>
            <a:r>
              <a:rPr lang="en-US" b="1" dirty="0"/>
              <a:t>not always necessary</a:t>
            </a:r>
            <a:r>
              <a:rPr lang="en-US" dirty="0"/>
              <a:t>.</a:t>
            </a:r>
          </a:p>
          <a:p>
            <a:r>
              <a:rPr lang="en-US" b="1" dirty="0"/>
              <a:t>When Agents Add Value</a:t>
            </a:r>
          </a:p>
          <a:p>
            <a:pPr lvl="1"/>
            <a:r>
              <a:rPr lang="en-US" dirty="0"/>
              <a:t>Agents work best when </a:t>
            </a:r>
            <a:r>
              <a:rPr lang="en-US" b="1" dirty="0"/>
              <a:t>tasks require reasoning</a:t>
            </a:r>
            <a:r>
              <a:rPr lang="en-US" dirty="0"/>
              <a:t>.</a:t>
            </a:r>
          </a:p>
          <a:p>
            <a:r>
              <a:rPr lang="en-US" b="1" dirty="0"/>
              <a:t>Example 1: Incident investigation</a:t>
            </a:r>
          </a:p>
          <a:p>
            <a:pPr lvl="1"/>
            <a:r>
              <a:rPr lang="en-US" dirty="0"/>
              <a:t>Question: </a:t>
            </a:r>
          </a:p>
          <a:p>
            <a:pPr marL="457200" lvl="1" indent="0">
              <a:buNone/>
            </a:pPr>
            <a:r>
              <a:rPr lang="en-US" dirty="0">
                <a:latin typeface="Cascadia Code" panose="020B0609020000020004" pitchFamily="49" charset="0"/>
                <a:cs typeface="Cascadia Code" panose="020B0609020000020004" pitchFamily="49" charset="0"/>
              </a:rPr>
              <a:t>	Why did checkout fail yesterday?</a:t>
            </a:r>
          </a:p>
          <a:p>
            <a:pPr marL="457200" lvl="1" indent="0">
              <a:buNone/>
            </a:pPr>
            <a:endParaRPr lang="en-US" dirty="0">
              <a:latin typeface="Cascadia Code" panose="020B0609020000020004" pitchFamily="49" charset="0"/>
              <a:cs typeface="Cascadia Code" panose="020B0609020000020004" pitchFamily="49" charset="0"/>
            </a:endParaRPr>
          </a:p>
          <a:p>
            <a:pPr lvl="1"/>
            <a:r>
              <a:rPr lang="en-US" dirty="0"/>
              <a:t>Steps may include:</a:t>
            </a:r>
          </a:p>
          <a:p>
            <a:pPr marL="914400" lvl="2" indent="0">
              <a:buNone/>
            </a:pPr>
            <a:r>
              <a:rPr lang="en-US" dirty="0">
                <a:latin typeface="Cascadia Code" panose="020B0609020000020004" pitchFamily="49" charset="0"/>
                <a:cs typeface="Cascadia Code" panose="020B0609020000020004" pitchFamily="49" charset="0"/>
              </a:rPr>
              <a:t>query incidents</a:t>
            </a:r>
          </a:p>
          <a:p>
            <a:pPr marL="914400" lvl="2" indent="0">
              <a:buNone/>
            </a:pPr>
            <a:r>
              <a:rPr lang="en-US" dirty="0">
                <a:latin typeface="Cascadia Code" panose="020B0609020000020004" pitchFamily="49" charset="0"/>
                <a:cs typeface="Cascadia Code" panose="020B0609020000020004" pitchFamily="49" charset="0"/>
              </a:rPr>
              <a:t>check logs</a:t>
            </a:r>
          </a:p>
          <a:p>
            <a:pPr marL="914400" lvl="2" indent="0">
              <a:buNone/>
            </a:pPr>
            <a:r>
              <a:rPr lang="en-US" dirty="0">
                <a:latin typeface="Cascadia Code" panose="020B0609020000020004" pitchFamily="49" charset="0"/>
                <a:cs typeface="Cascadia Code" panose="020B0609020000020004" pitchFamily="49" charset="0"/>
              </a:rPr>
              <a:t>search runbooks</a:t>
            </a:r>
          </a:p>
          <a:p>
            <a:pPr marL="914400" lvl="2" indent="0">
              <a:buNone/>
            </a:pPr>
            <a:r>
              <a:rPr lang="en-US" dirty="0">
                <a:latin typeface="Cascadia Code" panose="020B0609020000020004" pitchFamily="49" charset="0"/>
                <a:cs typeface="Cascadia Code" panose="020B0609020000020004" pitchFamily="49" charset="0"/>
              </a:rPr>
              <a:t>analyze metrics</a:t>
            </a:r>
          </a:p>
          <a:p>
            <a:r>
              <a:rPr lang="en-US" dirty="0"/>
              <a:t>The order is </a:t>
            </a:r>
            <a:r>
              <a:rPr lang="en-US" b="1" dirty="0"/>
              <a:t>not fixed</a:t>
            </a:r>
            <a:r>
              <a:rPr lang="en-US" dirty="0"/>
              <a:t>.</a:t>
            </a:r>
          </a:p>
          <a:p>
            <a:r>
              <a:rPr lang="en-US" dirty="0"/>
              <a:t>Agent value:</a:t>
            </a:r>
          </a:p>
          <a:p>
            <a:pPr lvl="1"/>
            <a:r>
              <a:rPr lang="en-US" dirty="0"/>
              <a:t>Dynamic decision making</a:t>
            </a:r>
          </a:p>
          <a:p>
            <a:pPr lvl="1"/>
            <a:r>
              <a:rPr lang="en-US" dirty="0"/>
              <a:t>Multi-tool investigation</a:t>
            </a:r>
          </a:p>
          <a:p>
            <a:pPr lvl="1"/>
            <a:r>
              <a:rPr lang="en-US" dirty="0"/>
              <a:t>Handles vague questions</a:t>
            </a:r>
          </a:p>
          <a:p>
            <a:endParaRPr lang="en-IN" dirty="0"/>
          </a:p>
        </p:txBody>
      </p:sp>
    </p:spTree>
    <p:extLst>
      <p:ext uri="{BB962C8B-B14F-4D97-AF65-F5344CB8AC3E}">
        <p14:creationId xmlns:p14="http://schemas.microsoft.com/office/powerpoint/2010/main" val="3022108504"/>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E5FBCB-29D1-1FDC-D473-FFE695C4047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D2ADF28-5A60-63EE-115C-92034394EAFC}"/>
              </a:ext>
            </a:extLst>
          </p:cNvPr>
          <p:cNvSpPr>
            <a:spLocks noGrp="1"/>
          </p:cNvSpPr>
          <p:nvPr>
            <p:ph type="title"/>
          </p:nvPr>
        </p:nvSpPr>
        <p:spPr/>
        <p:txBody>
          <a:bodyPr/>
          <a:lstStyle/>
          <a:p>
            <a:r>
              <a:rPr lang="en-US" dirty="0"/>
              <a:t>When Agents Add Value vs Overcomplicate Systems</a:t>
            </a:r>
            <a:endParaRPr lang="en-IN" dirty="0"/>
          </a:p>
        </p:txBody>
      </p:sp>
      <p:sp>
        <p:nvSpPr>
          <p:cNvPr id="3" name="Content Placeholder 2">
            <a:extLst>
              <a:ext uri="{FF2B5EF4-FFF2-40B4-BE49-F238E27FC236}">
                <a16:creationId xmlns:a16="http://schemas.microsoft.com/office/drawing/2014/main" id="{CAA59786-1877-1311-2C98-C29B2171F3C0}"/>
              </a:ext>
            </a:extLst>
          </p:cNvPr>
          <p:cNvSpPr>
            <a:spLocks noGrp="1"/>
          </p:cNvSpPr>
          <p:nvPr>
            <p:ph idx="1"/>
          </p:nvPr>
        </p:nvSpPr>
        <p:spPr/>
        <p:txBody>
          <a:bodyPr>
            <a:normAutofit/>
          </a:bodyPr>
          <a:lstStyle/>
          <a:p>
            <a:r>
              <a:rPr lang="en-US" b="1" dirty="0"/>
              <a:t>Example 2: Data analysis assistant</a:t>
            </a:r>
          </a:p>
          <a:p>
            <a:pPr lvl="1"/>
            <a:r>
              <a:rPr lang="en-US" dirty="0"/>
              <a:t>User asks: </a:t>
            </a:r>
          </a:p>
          <a:p>
            <a:pPr marL="457200" lvl="1" indent="0">
              <a:buNone/>
            </a:pPr>
            <a:r>
              <a:rPr lang="en-US" sz="2000" dirty="0">
                <a:latin typeface="Cascadia Code" panose="020B0609020000020004" pitchFamily="49" charset="0"/>
                <a:cs typeface="Cascadia Code" panose="020B0609020000020004" pitchFamily="49" charset="0"/>
              </a:rPr>
              <a:t>	Which regions had the largest revenue drop?</a:t>
            </a:r>
          </a:p>
          <a:p>
            <a:pPr marL="0" lvl="1" indent="0">
              <a:buNone/>
            </a:pPr>
            <a:endParaRPr lang="en-US" dirty="0">
              <a:latin typeface="Cascadia Code" panose="020B0609020000020004" pitchFamily="49" charset="0"/>
              <a:cs typeface="Cascadia Code" panose="020B0609020000020004" pitchFamily="49" charset="0"/>
            </a:endParaRPr>
          </a:p>
          <a:p>
            <a:pPr lvl="1"/>
            <a:r>
              <a:rPr lang="en-US" dirty="0"/>
              <a:t>Agent may:</a:t>
            </a:r>
          </a:p>
          <a:p>
            <a:pPr marL="914400" lvl="2" indent="0">
              <a:buNone/>
            </a:pPr>
            <a:r>
              <a:rPr lang="en-US" sz="1600" dirty="0">
                <a:latin typeface="Cascadia Code" panose="020B0609020000020004" pitchFamily="49" charset="0"/>
                <a:cs typeface="Cascadia Code" panose="020B0609020000020004" pitchFamily="49" charset="0"/>
              </a:rPr>
              <a:t>Query database</a:t>
            </a:r>
          </a:p>
          <a:p>
            <a:pPr marL="914400" lvl="2" indent="0">
              <a:buNone/>
            </a:pPr>
            <a:r>
              <a:rPr lang="en-US" sz="1600" dirty="0">
                <a:latin typeface="Cascadia Code" panose="020B0609020000020004" pitchFamily="49" charset="0"/>
                <a:cs typeface="Cascadia Code" panose="020B0609020000020004" pitchFamily="49" charset="0"/>
              </a:rPr>
              <a:t>Create summary</a:t>
            </a:r>
          </a:p>
          <a:p>
            <a:pPr marL="914400" lvl="2" indent="0">
              <a:buNone/>
            </a:pPr>
            <a:r>
              <a:rPr lang="en-US" sz="1600" dirty="0">
                <a:latin typeface="Cascadia Code" panose="020B0609020000020004" pitchFamily="49" charset="0"/>
                <a:cs typeface="Cascadia Code" panose="020B0609020000020004" pitchFamily="49" charset="0"/>
              </a:rPr>
              <a:t>Compare previous months</a:t>
            </a:r>
          </a:p>
          <a:p>
            <a:pPr marL="914400" lvl="2" indent="0">
              <a:buNone/>
            </a:pPr>
            <a:r>
              <a:rPr lang="en-US" sz="1600" dirty="0">
                <a:latin typeface="Cascadia Code" panose="020B0609020000020004" pitchFamily="49" charset="0"/>
                <a:cs typeface="Cascadia Code" panose="020B0609020000020004" pitchFamily="49" charset="0"/>
              </a:rPr>
              <a:t>Generate explanation</a:t>
            </a:r>
          </a:p>
        </p:txBody>
      </p:sp>
    </p:spTree>
    <p:extLst>
      <p:ext uri="{BB962C8B-B14F-4D97-AF65-F5344CB8AC3E}">
        <p14:creationId xmlns:p14="http://schemas.microsoft.com/office/powerpoint/2010/main" val="2946905797"/>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BA7B81D-50C6-EC5C-E26C-7F154B02AE4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BD34428-8967-46E0-EB53-3EC1F7278317}"/>
              </a:ext>
            </a:extLst>
          </p:cNvPr>
          <p:cNvSpPr>
            <a:spLocks noGrp="1"/>
          </p:cNvSpPr>
          <p:nvPr>
            <p:ph type="title"/>
          </p:nvPr>
        </p:nvSpPr>
        <p:spPr/>
        <p:txBody>
          <a:bodyPr/>
          <a:lstStyle/>
          <a:p>
            <a:r>
              <a:rPr lang="en-US" dirty="0"/>
              <a:t>When Agents Add Value vs Overcomplicate Systems</a:t>
            </a:r>
            <a:endParaRPr lang="en-IN" dirty="0"/>
          </a:p>
        </p:txBody>
      </p:sp>
      <p:sp>
        <p:nvSpPr>
          <p:cNvPr id="3" name="Content Placeholder 2">
            <a:extLst>
              <a:ext uri="{FF2B5EF4-FFF2-40B4-BE49-F238E27FC236}">
                <a16:creationId xmlns:a16="http://schemas.microsoft.com/office/drawing/2014/main" id="{179F6ADB-85A5-902D-4ECB-A1BA04DB484E}"/>
              </a:ext>
            </a:extLst>
          </p:cNvPr>
          <p:cNvSpPr>
            <a:spLocks noGrp="1"/>
          </p:cNvSpPr>
          <p:nvPr>
            <p:ph idx="1"/>
          </p:nvPr>
        </p:nvSpPr>
        <p:spPr/>
        <p:txBody>
          <a:bodyPr>
            <a:normAutofit/>
          </a:bodyPr>
          <a:lstStyle/>
          <a:p>
            <a:r>
              <a:rPr lang="en-US" b="1" dirty="0"/>
              <a:t>Example 3: DevOps / SRE copilots</a:t>
            </a:r>
          </a:p>
          <a:p>
            <a:pPr lvl="1"/>
            <a:r>
              <a:rPr lang="en-US" dirty="0"/>
              <a:t>Agents can:</a:t>
            </a:r>
          </a:p>
          <a:p>
            <a:pPr marL="914400" lvl="2" indent="0">
              <a:buNone/>
            </a:pPr>
            <a:r>
              <a:rPr lang="en-US" dirty="0">
                <a:latin typeface="Cascadia Code" panose="020B0609020000020004" pitchFamily="49" charset="0"/>
                <a:cs typeface="Cascadia Code" panose="020B0609020000020004" pitchFamily="49" charset="0"/>
              </a:rPr>
              <a:t>read logs</a:t>
            </a:r>
          </a:p>
          <a:p>
            <a:pPr marL="914400" lvl="2" indent="0">
              <a:buNone/>
            </a:pPr>
            <a:r>
              <a:rPr lang="en-US" dirty="0">
                <a:latin typeface="Cascadia Code" panose="020B0609020000020004" pitchFamily="49" charset="0"/>
                <a:cs typeface="Cascadia Code" panose="020B0609020000020004" pitchFamily="49" charset="0"/>
              </a:rPr>
              <a:t>check alerts</a:t>
            </a:r>
          </a:p>
          <a:p>
            <a:pPr marL="914400" lvl="2" indent="0">
              <a:buNone/>
            </a:pPr>
            <a:r>
              <a:rPr lang="en-US" dirty="0">
                <a:latin typeface="Cascadia Code" panose="020B0609020000020004" pitchFamily="49" charset="0"/>
                <a:cs typeface="Cascadia Code" panose="020B0609020000020004" pitchFamily="49" charset="0"/>
              </a:rPr>
              <a:t>query metrics</a:t>
            </a:r>
          </a:p>
          <a:p>
            <a:pPr marL="914400" lvl="2" indent="0">
              <a:buNone/>
            </a:pPr>
            <a:r>
              <a:rPr lang="en-US" dirty="0">
                <a:latin typeface="Cascadia Code" panose="020B0609020000020004" pitchFamily="49" charset="0"/>
                <a:cs typeface="Cascadia Code" panose="020B0609020000020004" pitchFamily="49" charset="0"/>
              </a:rPr>
              <a:t>retrieve documentation</a:t>
            </a:r>
          </a:p>
          <a:p>
            <a:pPr marL="914400" lvl="2" indent="0">
              <a:buNone/>
            </a:pPr>
            <a:endParaRPr lang="en-US" dirty="0">
              <a:latin typeface="Cascadia Code" panose="020B0609020000020004" pitchFamily="49" charset="0"/>
              <a:cs typeface="Cascadia Code" panose="020B0609020000020004" pitchFamily="49" charset="0"/>
            </a:endParaRPr>
          </a:p>
        </p:txBody>
      </p:sp>
    </p:spTree>
    <p:extLst>
      <p:ext uri="{BB962C8B-B14F-4D97-AF65-F5344CB8AC3E}">
        <p14:creationId xmlns:p14="http://schemas.microsoft.com/office/powerpoint/2010/main" val="86879400"/>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ECC5AC7-7525-1A2C-790B-F68BBAF89423}"/>
              </a:ext>
            </a:extLst>
          </p:cNvPr>
          <p:cNvSpPr>
            <a:spLocks noGrp="1"/>
          </p:cNvSpPr>
          <p:nvPr>
            <p:ph type="title"/>
          </p:nvPr>
        </p:nvSpPr>
        <p:spPr/>
        <p:txBody>
          <a:bodyPr/>
          <a:lstStyle/>
          <a:p>
            <a:r>
              <a:rPr lang="en-IN" dirty="0"/>
              <a:t>When Agents Overcomplicate Systems</a:t>
            </a:r>
          </a:p>
        </p:txBody>
      </p:sp>
      <p:sp>
        <p:nvSpPr>
          <p:cNvPr id="3" name="Content Placeholder 2">
            <a:extLst>
              <a:ext uri="{FF2B5EF4-FFF2-40B4-BE49-F238E27FC236}">
                <a16:creationId xmlns:a16="http://schemas.microsoft.com/office/drawing/2014/main" id="{B289B38B-5362-B5F2-8E25-81D6AE8807B3}"/>
              </a:ext>
            </a:extLst>
          </p:cNvPr>
          <p:cNvSpPr>
            <a:spLocks noGrp="1"/>
          </p:cNvSpPr>
          <p:nvPr>
            <p:ph idx="1"/>
          </p:nvPr>
        </p:nvSpPr>
        <p:spPr/>
        <p:txBody>
          <a:bodyPr>
            <a:normAutofit/>
          </a:bodyPr>
          <a:lstStyle/>
          <a:p>
            <a:r>
              <a:rPr lang="en-US" dirty="0"/>
              <a:t>Many problems </a:t>
            </a:r>
            <a:r>
              <a:rPr lang="en-US" b="1" dirty="0"/>
              <a:t>do not need agents</a:t>
            </a:r>
            <a:r>
              <a:rPr lang="en-US" dirty="0"/>
              <a:t>.</a:t>
            </a:r>
          </a:p>
          <a:p>
            <a:r>
              <a:rPr lang="en-US" dirty="0"/>
              <a:t>Example:</a:t>
            </a:r>
          </a:p>
          <a:p>
            <a:pPr marL="0" indent="0">
              <a:buNone/>
            </a:pPr>
            <a:r>
              <a:rPr lang="en-US" dirty="0"/>
              <a:t>	</a:t>
            </a:r>
            <a:r>
              <a:rPr lang="en-US" sz="2400" dirty="0">
                <a:latin typeface="Cascadia Code" panose="020B0609020000020004" pitchFamily="49" charset="0"/>
                <a:cs typeface="Cascadia Code" panose="020B0609020000020004" pitchFamily="49" charset="0"/>
              </a:rPr>
              <a:t>User: Show incidents in last 24 hours</a:t>
            </a:r>
          </a:p>
          <a:p>
            <a:r>
              <a:rPr lang="en-US" dirty="0"/>
              <a:t>Agent would:</a:t>
            </a:r>
          </a:p>
          <a:p>
            <a:pPr marL="0" indent="0">
              <a:buNone/>
            </a:pPr>
            <a:r>
              <a:rPr lang="en-US" dirty="0">
                <a:latin typeface="Cascadia Code" panose="020B0609020000020004" pitchFamily="49" charset="0"/>
                <a:cs typeface="Cascadia Code" panose="020B0609020000020004" pitchFamily="49" charset="0"/>
              </a:rPr>
              <a:t>	</a:t>
            </a:r>
            <a:r>
              <a:rPr lang="en-US" sz="2400" dirty="0">
                <a:latin typeface="Cascadia Code" panose="020B0609020000020004" pitchFamily="49" charset="0"/>
                <a:cs typeface="Cascadia Code" panose="020B0609020000020004" pitchFamily="49" charset="0"/>
              </a:rPr>
              <a:t>Think → choose SQL tool → run query</a:t>
            </a:r>
            <a:endParaRPr lang="en-US" dirty="0">
              <a:latin typeface="Cascadia Code" panose="020B0609020000020004" pitchFamily="49" charset="0"/>
              <a:cs typeface="Cascadia Code" panose="020B0609020000020004" pitchFamily="49" charset="0"/>
            </a:endParaRPr>
          </a:p>
          <a:p>
            <a:r>
              <a:rPr lang="en-US" dirty="0"/>
              <a:t>But a </a:t>
            </a:r>
            <a:r>
              <a:rPr lang="en-US" b="1" dirty="0"/>
              <a:t>simple SQL query chain</a:t>
            </a:r>
            <a:r>
              <a:rPr lang="en-US" dirty="0"/>
              <a:t> is faster.</a:t>
            </a:r>
          </a:p>
        </p:txBody>
      </p:sp>
    </p:spTree>
    <p:extLst>
      <p:ext uri="{BB962C8B-B14F-4D97-AF65-F5344CB8AC3E}">
        <p14:creationId xmlns:p14="http://schemas.microsoft.com/office/powerpoint/2010/main" val="2032386260"/>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7A419EA-272A-14C2-7A44-D9B4FB33E8F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D7AE7AA-59FC-604F-F60D-04544C738FE9}"/>
              </a:ext>
            </a:extLst>
          </p:cNvPr>
          <p:cNvSpPr>
            <a:spLocks noGrp="1"/>
          </p:cNvSpPr>
          <p:nvPr>
            <p:ph type="title"/>
          </p:nvPr>
        </p:nvSpPr>
        <p:spPr/>
        <p:txBody>
          <a:bodyPr/>
          <a:lstStyle/>
          <a:p>
            <a:r>
              <a:rPr lang="en-IN"/>
              <a:t>When Agents Overcomplicate Systems</a:t>
            </a:r>
            <a:endParaRPr lang="en-IN" dirty="0"/>
          </a:p>
        </p:txBody>
      </p:sp>
      <p:sp>
        <p:nvSpPr>
          <p:cNvPr id="3" name="Content Placeholder 2">
            <a:extLst>
              <a:ext uri="{FF2B5EF4-FFF2-40B4-BE49-F238E27FC236}">
                <a16:creationId xmlns:a16="http://schemas.microsoft.com/office/drawing/2014/main" id="{59859959-F256-1703-91C3-FB677EC2D488}"/>
              </a:ext>
            </a:extLst>
          </p:cNvPr>
          <p:cNvSpPr>
            <a:spLocks noGrp="1"/>
          </p:cNvSpPr>
          <p:nvPr>
            <p:ph idx="1"/>
          </p:nvPr>
        </p:nvSpPr>
        <p:spPr/>
        <p:txBody>
          <a:bodyPr>
            <a:normAutofit fontScale="70000" lnSpcReduction="20000"/>
          </a:bodyPr>
          <a:lstStyle/>
          <a:p>
            <a:r>
              <a:rPr lang="en-US" b="1" dirty="0"/>
              <a:t>Overengineering</a:t>
            </a:r>
            <a:r>
              <a:rPr lang="en-US" dirty="0"/>
              <a:t> AI agents often involves building complex multi-agent systems when simpler workflows or single agents suffice.</a:t>
            </a:r>
          </a:p>
          <a:p>
            <a:r>
              <a:rPr lang="en-US" dirty="0"/>
              <a:t>A classic example is content generation for marketing emails.</a:t>
            </a:r>
          </a:p>
          <a:p>
            <a:r>
              <a:rPr lang="en-US" dirty="0"/>
              <a:t>Marketing Content Case</a:t>
            </a:r>
          </a:p>
          <a:p>
            <a:pPr lvl="1"/>
            <a:r>
              <a:rPr lang="en-US" dirty="0"/>
              <a:t>A team designed a multi-agent setup with specialized agents for request analysis, content generation, structure creation, syntactic validation, semantic checks, spam prevention, optimization, security, scoring, HTML normalization, and more, all coordinated by an orchestrator. This added massive overhead in token usage, latency, handoffs, and debugging failures due to information silos between agents.​</a:t>
            </a:r>
          </a:p>
          <a:p>
            <a:r>
              <a:rPr lang="en-US" dirty="0"/>
              <a:t>Simpler Alternative</a:t>
            </a:r>
          </a:p>
          <a:p>
            <a:pPr lvl="1"/>
            <a:r>
              <a:rPr lang="en-US" dirty="0"/>
              <a:t>Instead, a single agent with well-designed tools (e.g., validation prompts, character-limit checks, and field references) handles the tightly coupled tasks sequentially: plan, generate, validate, and fix. This cuts costs, speeds up execution, and maintains full context without coordination complexity.</a:t>
            </a:r>
          </a:p>
          <a:p>
            <a:r>
              <a:rPr lang="en-US" dirty="0"/>
              <a:t>Key Takeaway</a:t>
            </a:r>
          </a:p>
          <a:p>
            <a:pPr lvl="1"/>
            <a:r>
              <a:rPr lang="en-US" dirty="0"/>
              <a:t>Use multi-agents only for true needs like parallel tasks, tool overload (&gt;10-20 tools), or security isolation; otherwise, it creates failure points without gains.</a:t>
            </a:r>
          </a:p>
          <a:p>
            <a:endParaRPr lang="en-IN" dirty="0"/>
          </a:p>
        </p:txBody>
      </p:sp>
    </p:spTree>
    <p:extLst>
      <p:ext uri="{BB962C8B-B14F-4D97-AF65-F5344CB8AC3E}">
        <p14:creationId xmlns:p14="http://schemas.microsoft.com/office/powerpoint/2010/main" val="1786450394"/>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E357B04-E0C3-FAA3-5BFD-F28FD4FE14BA}"/>
              </a:ext>
            </a:extLst>
          </p:cNvPr>
          <p:cNvSpPr>
            <a:spLocks noGrp="1"/>
          </p:cNvSpPr>
          <p:nvPr>
            <p:ph type="title"/>
          </p:nvPr>
        </p:nvSpPr>
        <p:spPr/>
        <p:txBody>
          <a:bodyPr/>
          <a:lstStyle/>
          <a:p>
            <a:r>
              <a:rPr lang="en-IN" dirty="0"/>
              <a:t>Common Agent Failure Patterns</a:t>
            </a:r>
          </a:p>
        </p:txBody>
      </p:sp>
      <p:sp>
        <p:nvSpPr>
          <p:cNvPr id="3" name="Content Placeholder 2">
            <a:extLst>
              <a:ext uri="{FF2B5EF4-FFF2-40B4-BE49-F238E27FC236}">
                <a16:creationId xmlns:a16="http://schemas.microsoft.com/office/drawing/2014/main" id="{22B94FC3-ECF7-287D-37DD-4090993B3AE7}"/>
              </a:ext>
            </a:extLst>
          </p:cNvPr>
          <p:cNvSpPr>
            <a:spLocks noGrp="1"/>
          </p:cNvSpPr>
          <p:nvPr>
            <p:ph idx="1"/>
          </p:nvPr>
        </p:nvSpPr>
        <p:spPr/>
        <p:txBody>
          <a:bodyPr>
            <a:normAutofit lnSpcReduction="10000"/>
          </a:bodyPr>
          <a:lstStyle/>
          <a:p>
            <a:r>
              <a:rPr lang="en-US" dirty="0"/>
              <a:t>Agents are powerful but </a:t>
            </a:r>
            <a:r>
              <a:rPr lang="en-US" b="1" dirty="0"/>
              <a:t>unreliable if not designed carefully</a:t>
            </a:r>
            <a:r>
              <a:rPr lang="en-US" dirty="0"/>
              <a:t>.</a:t>
            </a:r>
          </a:p>
          <a:p>
            <a:r>
              <a:rPr lang="en-US" dirty="0"/>
              <a:t>Here are the most common problems.</a:t>
            </a:r>
          </a:p>
          <a:p>
            <a:r>
              <a:rPr lang="en-US" b="1" dirty="0"/>
              <a:t>Tool Selection Errors</a:t>
            </a:r>
          </a:p>
          <a:p>
            <a:pPr lvl="1"/>
            <a:r>
              <a:rPr lang="en-US" dirty="0"/>
              <a:t>Agent chooses the </a:t>
            </a:r>
            <a:r>
              <a:rPr lang="en-US" b="1" dirty="0"/>
              <a:t>wrong tool</a:t>
            </a:r>
            <a:r>
              <a:rPr lang="en-US" dirty="0"/>
              <a:t>.</a:t>
            </a:r>
          </a:p>
          <a:p>
            <a:pPr lvl="2"/>
            <a:r>
              <a:rPr lang="en-US" dirty="0"/>
              <a:t>Agent uses RAG search instead of log analysis</a:t>
            </a:r>
          </a:p>
          <a:p>
            <a:pPr lvl="1"/>
            <a:r>
              <a:rPr lang="en-US" b="1" dirty="0"/>
              <a:t>Infinite Tool Loops</a:t>
            </a:r>
          </a:p>
          <a:p>
            <a:pPr lvl="2"/>
            <a:r>
              <a:rPr lang="en-US" dirty="0"/>
              <a:t>Agent repeatedly calls tools.</a:t>
            </a:r>
          </a:p>
          <a:p>
            <a:pPr lvl="1"/>
            <a:r>
              <a:rPr lang="en-US" b="1" dirty="0"/>
              <a:t>Hallucinated Tool Results</a:t>
            </a:r>
          </a:p>
          <a:p>
            <a:pPr lvl="2"/>
            <a:r>
              <a:rPr lang="en-US" dirty="0"/>
              <a:t>LLM sometimes </a:t>
            </a:r>
            <a:r>
              <a:rPr lang="en-US" b="1" dirty="0"/>
              <a:t>imagines results instead of calling tools</a:t>
            </a:r>
            <a:r>
              <a:rPr lang="en-US" dirty="0"/>
              <a:t>.</a:t>
            </a:r>
          </a:p>
          <a:p>
            <a:pPr lvl="1"/>
            <a:r>
              <a:rPr lang="en-US" b="1" dirty="0"/>
              <a:t>Partial Failure Handling</a:t>
            </a:r>
          </a:p>
          <a:p>
            <a:pPr lvl="2"/>
            <a:r>
              <a:rPr lang="en-US" dirty="0"/>
              <a:t>A tool fails but the agent </a:t>
            </a:r>
            <a:r>
              <a:rPr lang="en-US" b="1" dirty="0"/>
              <a:t>doesn't recover</a:t>
            </a:r>
            <a:r>
              <a:rPr lang="en-US" dirty="0"/>
              <a:t>.</a:t>
            </a:r>
          </a:p>
          <a:p>
            <a:endParaRPr lang="en-IN" dirty="0"/>
          </a:p>
        </p:txBody>
      </p:sp>
    </p:spTree>
    <p:extLst>
      <p:ext uri="{BB962C8B-B14F-4D97-AF65-F5344CB8AC3E}">
        <p14:creationId xmlns:p14="http://schemas.microsoft.com/office/powerpoint/2010/main" val="4114690598"/>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F4A15752-A1DF-CCA5-8FC1-45BAB9C11A67}"/>
            </a:ext>
          </a:extLst>
        </p:cNvPr>
        <p:cNvGrpSpPr/>
        <p:nvPr/>
      </p:nvGrpSpPr>
      <p:grpSpPr>
        <a:xfrm>
          <a:off x="0" y="0"/>
          <a:ext cx="0" cy="0"/>
          <a:chOff x="0" y="0"/>
          <a:chExt cx="0" cy="0"/>
        </a:xfrm>
      </p:grpSpPr>
      <p:sp>
        <p:nvSpPr>
          <p:cNvPr id="26" name="Rectangle 25">
            <a:extLst>
              <a:ext uri="{FF2B5EF4-FFF2-40B4-BE49-F238E27FC236}">
                <a16:creationId xmlns:a16="http://schemas.microsoft.com/office/drawing/2014/main" id="{1A3C89F8-0D2F-47FF-B903-151248265F4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gradFill flip="none" rotWithShape="1">
            <a:gsLst>
              <a:gs pos="0">
                <a:schemeClr val="accent1"/>
              </a:gs>
              <a:gs pos="100000">
                <a:schemeClr val="accent2"/>
              </a:gs>
            </a:gsLst>
            <a:lin ang="81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FFFFFF"/>
              </a:solidFill>
            </a:endParaRPr>
          </a:p>
        </p:txBody>
      </p:sp>
      <p:sp>
        <p:nvSpPr>
          <p:cNvPr id="2" name="Title 1">
            <a:extLst>
              <a:ext uri="{FF2B5EF4-FFF2-40B4-BE49-F238E27FC236}">
                <a16:creationId xmlns:a16="http://schemas.microsoft.com/office/drawing/2014/main" id="{1E6C629B-16AB-6473-5273-5378EA6CBEED}"/>
              </a:ext>
            </a:extLst>
          </p:cNvPr>
          <p:cNvSpPr>
            <a:spLocks noGrp="1"/>
          </p:cNvSpPr>
          <p:nvPr>
            <p:ph type="title"/>
          </p:nvPr>
        </p:nvSpPr>
        <p:spPr>
          <a:xfrm>
            <a:off x="3880430" y="583345"/>
            <a:ext cx="7160357" cy="4164820"/>
          </a:xfrm>
        </p:spPr>
        <p:txBody>
          <a:bodyPr vert="horz" lIns="91440" tIns="45720" rIns="91440" bIns="45720" rtlCol="0" anchor="t">
            <a:normAutofit/>
          </a:bodyPr>
          <a:lstStyle/>
          <a:p>
            <a:pPr algn="r"/>
            <a:r>
              <a:rPr lang="en-US" sz="7400" b="1" kern="1200">
                <a:solidFill>
                  <a:srgbClr val="FFFFFF"/>
                </a:solidFill>
                <a:latin typeface="+mj-lt"/>
                <a:ea typeface="+mj-ea"/>
                <a:cs typeface="+mj-cs"/>
              </a:rPr>
              <a:t>Demo:</a:t>
            </a:r>
            <a:br>
              <a:rPr lang="en-US" sz="7400" b="1" kern="1200">
                <a:solidFill>
                  <a:srgbClr val="FFFFFF"/>
                </a:solidFill>
                <a:latin typeface="+mj-lt"/>
                <a:ea typeface="+mj-ea"/>
                <a:cs typeface="+mj-cs"/>
              </a:rPr>
            </a:br>
            <a:r>
              <a:rPr lang="en-US" sz="7400" b="1" kern="1200">
                <a:solidFill>
                  <a:srgbClr val="FFFFFF"/>
                </a:solidFill>
                <a:latin typeface="+mj-lt"/>
                <a:ea typeface="+mj-ea"/>
                <a:cs typeface="+mj-cs"/>
              </a:rPr>
              <a:t>Convert RAG Flow into a Simple Agent</a:t>
            </a:r>
          </a:p>
        </p:txBody>
      </p:sp>
      <p:sp>
        <p:nvSpPr>
          <p:cNvPr id="28" name="Graphic 13">
            <a:extLst>
              <a:ext uri="{FF2B5EF4-FFF2-40B4-BE49-F238E27FC236}">
                <a16:creationId xmlns:a16="http://schemas.microsoft.com/office/drawing/2014/main" id="{C5CB530E-515E-412C-9DF1-5F8FFBD6F38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474359" y="583345"/>
            <a:ext cx="139039" cy="139039"/>
          </a:xfrm>
          <a:custGeom>
            <a:avLst/>
            <a:gdLst>
              <a:gd name="connsiteX0" fmla="*/ 129602 w 139039"/>
              <a:gd name="connsiteY0" fmla="*/ 60082 h 139039"/>
              <a:gd name="connsiteX1" fmla="*/ 78957 w 139039"/>
              <a:gd name="connsiteY1" fmla="*/ 60082 h 139039"/>
              <a:gd name="connsiteX2" fmla="*/ 78957 w 139039"/>
              <a:gd name="connsiteY2" fmla="*/ 9437 h 139039"/>
              <a:gd name="connsiteX3" fmla="*/ 69520 w 139039"/>
              <a:gd name="connsiteY3" fmla="*/ 0 h 139039"/>
              <a:gd name="connsiteX4" fmla="*/ 60082 w 139039"/>
              <a:gd name="connsiteY4" fmla="*/ 9437 h 139039"/>
              <a:gd name="connsiteX5" fmla="*/ 60082 w 139039"/>
              <a:gd name="connsiteY5" fmla="*/ 60082 h 139039"/>
              <a:gd name="connsiteX6" fmla="*/ 9437 w 139039"/>
              <a:gd name="connsiteY6" fmla="*/ 60082 h 139039"/>
              <a:gd name="connsiteX7" fmla="*/ 0 w 139039"/>
              <a:gd name="connsiteY7" fmla="*/ 69520 h 139039"/>
              <a:gd name="connsiteX8" fmla="*/ 9437 w 139039"/>
              <a:gd name="connsiteY8" fmla="*/ 78957 h 139039"/>
              <a:gd name="connsiteX9" fmla="*/ 60082 w 139039"/>
              <a:gd name="connsiteY9" fmla="*/ 78957 h 139039"/>
              <a:gd name="connsiteX10" fmla="*/ 60082 w 139039"/>
              <a:gd name="connsiteY10" fmla="*/ 129602 h 139039"/>
              <a:gd name="connsiteX11" fmla="*/ 69520 w 139039"/>
              <a:gd name="connsiteY11" fmla="*/ 139039 h 139039"/>
              <a:gd name="connsiteX12" fmla="*/ 78957 w 139039"/>
              <a:gd name="connsiteY12" fmla="*/ 129602 h 139039"/>
              <a:gd name="connsiteX13" fmla="*/ 78957 w 139039"/>
              <a:gd name="connsiteY13" fmla="*/ 78957 h 139039"/>
              <a:gd name="connsiteX14" fmla="*/ 129602 w 139039"/>
              <a:gd name="connsiteY14" fmla="*/ 78957 h 139039"/>
              <a:gd name="connsiteX15" fmla="*/ 139039 w 139039"/>
              <a:gd name="connsiteY15" fmla="*/ 69520 h 139039"/>
              <a:gd name="connsiteX16" fmla="*/ 129602 w 139039"/>
              <a:gd name="connsiteY16" fmla="*/ 60082 h 1390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39039" h="139039">
                <a:moveTo>
                  <a:pt x="129602" y="60082"/>
                </a:moveTo>
                <a:lnTo>
                  <a:pt x="78957" y="60082"/>
                </a:lnTo>
                <a:lnTo>
                  <a:pt x="78957" y="9437"/>
                </a:lnTo>
                <a:cubicBezTo>
                  <a:pt x="78957" y="4225"/>
                  <a:pt x="74731" y="0"/>
                  <a:pt x="69520" y="0"/>
                </a:cubicBezTo>
                <a:cubicBezTo>
                  <a:pt x="64308" y="0"/>
                  <a:pt x="60082" y="4225"/>
                  <a:pt x="60082" y="9437"/>
                </a:cubicBezTo>
                <a:lnTo>
                  <a:pt x="60082" y="60082"/>
                </a:lnTo>
                <a:lnTo>
                  <a:pt x="9437" y="60082"/>
                </a:lnTo>
                <a:cubicBezTo>
                  <a:pt x="4225" y="60082"/>
                  <a:pt x="0" y="64308"/>
                  <a:pt x="0" y="69520"/>
                </a:cubicBezTo>
                <a:cubicBezTo>
                  <a:pt x="0" y="74731"/>
                  <a:pt x="4225" y="78957"/>
                  <a:pt x="9437" y="78957"/>
                </a:cubicBezTo>
                <a:lnTo>
                  <a:pt x="60082" y="78957"/>
                </a:lnTo>
                <a:lnTo>
                  <a:pt x="60082" y="129602"/>
                </a:lnTo>
                <a:cubicBezTo>
                  <a:pt x="60082" y="134814"/>
                  <a:pt x="64308" y="139039"/>
                  <a:pt x="69520" y="139039"/>
                </a:cubicBezTo>
                <a:cubicBezTo>
                  <a:pt x="74731" y="139039"/>
                  <a:pt x="78957" y="134814"/>
                  <a:pt x="78957" y="129602"/>
                </a:cubicBezTo>
                <a:lnTo>
                  <a:pt x="78957" y="78957"/>
                </a:lnTo>
                <a:lnTo>
                  <a:pt x="129602" y="78957"/>
                </a:lnTo>
                <a:cubicBezTo>
                  <a:pt x="134814" y="78957"/>
                  <a:pt x="139039" y="74731"/>
                  <a:pt x="139039" y="69520"/>
                </a:cubicBezTo>
                <a:cubicBezTo>
                  <a:pt x="139039" y="64308"/>
                  <a:pt x="134814" y="60082"/>
                  <a:pt x="129602" y="60082"/>
                </a:cubicBezTo>
                <a:close/>
              </a:path>
            </a:pathLst>
          </a:custGeom>
          <a:solidFill>
            <a:srgbClr val="FFFFFF"/>
          </a:solidFill>
          <a:ln w="603" cap="flat">
            <a:noFill/>
            <a:prstDash val="solid"/>
            <a:miter/>
          </a:ln>
        </p:spPr>
        <p:txBody>
          <a:bodyPr rtlCol="0" anchor="ctr"/>
          <a:lstStyle/>
          <a:p>
            <a:endParaRPr lang="en-US">
              <a:solidFill>
                <a:srgbClr val="FFFFFF"/>
              </a:solidFill>
            </a:endParaRPr>
          </a:p>
        </p:txBody>
      </p:sp>
      <p:sp>
        <p:nvSpPr>
          <p:cNvPr id="30" name="Graphic 12">
            <a:extLst>
              <a:ext uri="{FF2B5EF4-FFF2-40B4-BE49-F238E27FC236}">
                <a16:creationId xmlns:a16="http://schemas.microsoft.com/office/drawing/2014/main" id="{712D4376-A578-4FF1-94FC-245E7A6A489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833139" y="812640"/>
            <a:ext cx="91138" cy="91138"/>
          </a:xfrm>
          <a:custGeom>
            <a:avLst/>
            <a:gdLst>
              <a:gd name="connsiteX0" fmla="*/ 91138 w 91138"/>
              <a:gd name="connsiteY0" fmla="*/ 45569 h 91138"/>
              <a:gd name="connsiteX1" fmla="*/ 45569 w 91138"/>
              <a:gd name="connsiteY1" fmla="*/ 91138 h 91138"/>
              <a:gd name="connsiteX2" fmla="*/ 0 w 91138"/>
              <a:gd name="connsiteY2" fmla="*/ 45569 h 91138"/>
              <a:gd name="connsiteX3" fmla="*/ 45569 w 91138"/>
              <a:gd name="connsiteY3" fmla="*/ 0 h 91138"/>
              <a:gd name="connsiteX4" fmla="*/ 91138 w 91138"/>
              <a:gd name="connsiteY4" fmla="*/ 45569 h 911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1138" h="91138">
                <a:moveTo>
                  <a:pt x="91138" y="45569"/>
                </a:moveTo>
                <a:cubicBezTo>
                  <a:pt x="91138" y="70736"/>
                  <a:pt x="70736" y="91138"/>
                  <a:pt x="45569" y="91138"/>
                </a:cubicBezTo>
                <a:cubicBezTo>
                  <a:pt x="20402" y="91138"/>
                  <a:pt x="0" y="70736"/>
                  <a:pt x="0" y="45569"/>
                </a:cubicBezTo>
                <a:cubicBezTo>
                  <a:pt x="0" y="20402"/>
                  <a:pt x="20402" y="0"/>
                  <a:pt x="45569" y="0"/>
                </a:cubicBezTo>
                <a:cubicBezTo>
                  <a:pt x="70736" y="0"/>
                  <a:pt x="91138" y="20402"/>
                  <a:pt x="91138" y="45569"/>
                </a:cubicBezTo>
                <a:close/>
              </a:path>
            </a:pathLst>
          </a:custGeom>
          <a:solidFill>
            <a:srgbClr val="FFFFFF"/>
          </a:solidFill>
          <a:ln w="422" cap="flat">
            <a:noFill/>
            <a:prstDash val="solid"/>
            <a:miter/>
          </a:ln>
        </p:spPr>
        <p:txBody>
          <a:bodyPr rtlCol="0" anchor="ctr"/>
          <a:lstStyle/>
          <a:p>
            <a:endParaRPr lang="en-US">
              <a:solidFill>
                <a:srgbClr val="FFFFFF"/>
              </a:solidFill>
            </a:endParaRPr>
          </a:p>
        </p:txBody>
      </p:sp>
      <p:sp>
        <p:nvSpPr>
          <p:cNvPr id="32" name="Graphic 15">
            <a:extLst>
              <a:ext uri="{FF2B5EF4-FFF2-40B4-BE49-F238E27FC236}">
                <a16:creationId xmlns:a16="http://schemas.microsoft.com/office/drawing/2014/main" id="{AEA7509D-F04F-40CB-A0B3-EEF16499CC9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458819" y="1037066"/>
            <a:ext cx="127714" cy="127714"/>
          </a:xfrm>
          <a:custGeom>
            <a:avLst/>
            <a:gdLst>
              <a:gd name="connsiteX0" fmla="*/ 63857 w 127714"/>
              <a:gd name="connsiteY0" fmla="*/ 18874 h 127714"/>
              <a:gd name="connsiteX1" fmla="*/ 108840 w 127714"/>
              <a:gd name="connsiteY1" fmla="*/ 63857 h 127714"/>
              <a:gd name="connsiteX2" fmla="*/ 63857 w 127714"/>
              <a:gd name="connsiteY2" fmla="*/ 108840 h 127714"/>
              <a:gd name="connsiteX3" fmla="*/ 18874 w 127714"/>
              <a:gd name="connsiteY3" fmla="*/ 63857 h 127714"/>
              <a:gd name="connsiteX4" fmla="*/ 63857 w 127714"/>
              <a:gd name="connsiteY4" fmla="*/ 18874 h 127714"/>
              <a:gd name="connsiteX5" fmla="*/ 63857 w 127714"/>
              <a:gd name="connsiteY5" fmla="*/ 0 h 127714"/>
              <a:gd name="connsiteX6" fmla="*/ 0 w 127714"/>
              <a:gd name="connsiteY6" fmla="*/ 63857 h 127714"/>
              <a:gd name="connsiteX7" fmla="*/ 63857 w 127714"/>
              <a:gd name="connsiteY7" fmla="*/ 127714 h 127714"/>
              <a:gd name="connsiteX8" fmla="*/ 127714 w 127714"/>
              <a:gd name="connsiteY8" fmla="*/ 63857 h 127714"/>
              <a:gd name="connsiteX9" fmla="*/ 63857 w 127714"/>
              <a:gd name="connsiteY9" fmla="*/ 0 h 1277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27714" h="127714">
                <a:moveTo>
                  <a:pt x="63857" y="18874"/>
                </a:moveTo>
                <a:cubicBezTo>
                  <a:pt x="88700" y="18874"/>
                  <a:pt x="108840" y="39014"/>
                  <a:pt x="108840" y="63857"/>
                </a:cubicBezTo>
                <a:cubicBezTo>
                  <a:pt x="108840" y="88700"/>
                  <a:pt x="88700" y="108840"/>
                  <a:pt x="63857" y="108840"/>
                </a:cubicBezTo>
                <a:cubicBezTo>
                  <a:pt x="39014" y="108840"/>
                  <a:pt x="18874" y="88700"/>
                  <a:pt x="18874" y="63857"/>
                </a:cubicBezTo>
                <a:cubicBezTo>
                  <a:pt x="18898" y="39024"/>
                  <a:pt x="39024" y="18898"/>
                  <a:pt x="63857" y="18874"/>
                </a:cubicBezTo>
                <a:moveTo>
                  <a:pt x="63857" y="0"/>
                </a:moveTo>
                <a:cubicBezTo>
                  <a:pt x="28590" y="0"/>
                  <a:pt x="0" y="28590"/>
                  <a:pt x="0" y="63857"/>
                </a:cubicBezTo>
                <a:cubicBezTo>
                  <a:pt x="0" y="99124"/>
                  <a:pt x="28590" y="127714"/>
                  <a:pt x="63857" y="127714"/>
                </a:cubicBezTo>
                <a:cubicBezTo>
                  <a:pt x="99124" y="127714"/>
                  <a:pt x="127714" y="99124"/>
                  <a:pt x="127714" y="63857"/>
                </a:cubicBezTo>
                <a:cubicBezTo>
                  <a:pt x="127714" y="28590"/>
                  <a:pt x="99124" y="0"/>
                  <a:pt x="63857" y="0"/>
                </a:cubicBezTo>
                <a:close/>
              </a:path>
            </a:pathLst>
          </a:custGeom>
          <a:solidFill>
            <a:srgbClr val="FFFFFF"/>
          </a:solidFill>
          <a:ln w="610" cap="flat">
            <a:noFill/>
            <a:prstDash val="solid"/>
            <a:miter/>
          </a:ln>
        </p:spPr>
        <p:txBody>
          <a:bodyPr rtlCol="0" anchor="ctr"/>
          <a:lstStyle/>
          <a:p>
            <a:endParaRPr lang="en-US">
              <a:solidFill>
                <a:srgbClr val="FFFFFF"/>
              </a:solidFill>
            </a:endParaRPr>
          </a:p>
        </p:txBody>
      </p:sp>
      <p:cxnSp>
        <p:nvCxnSpPr>
          <p:cNvPr id="34" name="Straight Connector 33">
            <a:extLst>
              <a:ext uri="{FF2B5EF4-FFF2-40B4-BE49-F238E27FC236}">
                <a16:creationId xmlns:a16="http://schemas.microsoft.com/office/drawing/2014/main" id="{56020367-4FD5-4596-8E10-C5F095CD8DBF}"/>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856114" y="3503032"/>
            <a:ext cx="0" cy="3346090"/>
          </a:xfrm>
          <a:prstGeom prst="line">
            <a:avLst/>
          </a:prstGeom>
          <a:ln w="25400" cap="sq">
            <a:solidFill>
              <a:srgbClr val="FFFFFF"/>
            </a:solidFill>
            <a:bevel/>
          </a:ln>
        </p:spPr>
        <p:style>
          <a:lnRef idx="1">
            <a:schemeClr val="accent1"/>
          </a:lnRef>
          <a:fillRef idx="0">
            <a:schemeClr val="accent1"/>
          </a:fillRef>
          <a:effectRef idx="0">
            <a:schemeClr val="accent1"/>
          </a:effectRef>
          <a:fontRef idx="minor">
            <a:schemeClr val="tx1"/>
          </a:fontRef>
        </p:style>
      </p:cxnSp>
      <p:sp>
        <p:nvSpPr>
          <p:cNvPr id="36" name="Graphic 22">
            <a:extLst>
              <a:ext uri="{FF2B5EF4-FFF2-40B4-BE49-F238E27FC236}">
                <a16:creationId xmlns:a16="http://schemas.microsoft.com/office/drawing/2014/main" id="{508BEF50-7B1E-49A4-BC19-5F4F1D755E6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0836425" y="5636680"/>
            <a:ext cx="151536" cy="151536"/>
          </a:xfrm>
          <a:custGeom>
            <a:avLst/>
            <a:gdLst>
              <a:gd name="connsiteX0" fmla="*/ 141251 w 151536"/>
              <a:gd name="connsiteY0" fmla="*/ 65483 h 151536"/>
              <a:gd name="connsiteX1" fmla="*/ 86053 w 151536"/>
              <a:gd name="connsiteY1" fmla="*/ 65483 h 151536"/>
              <a:gd name="connsiteX2" fmla="*/ 86053 w 151536"/>
              <a:gd name="connsiteY2" fmla="*/ 10285 h 151536"/>
              <a:gd name="connsiteX3" fmla="*/ 75768 w 151536"/>
              <a:gd name="connsiteY3" fmla="*/ 0 h 151536"/>
              <a:gd name="connsiteX4" fmla="*/ 65483 w 151536"/>
              <a:gd name="connsiteY4" fmla="*/ 10285 h 151536"/>
              <a:gd name="connsiteX5" fmla="*/ 65483 w 151536"/>
              <a:gd name="connsiteY5" fmla="*/ 65483 h 151536"/>
              <a:gd name="connsiteX6" fmla="*/ 10285 w 151536"/>
              <a:gd name="connsiteY6" fmla="*/ 65483 h 151536"/>
              <a:gd name="connsiteX7" fmla="*/ 0 w 151536"/>
              <a:gd name="connsiteY7" fmla="*/ 75768 h 151536"/>
              <a:gd name="connsiteX8" fmla="*/ 10285 w 151536"/>
              <a:gd name="connsiteY8" fmla="*/ 86053 h 151536"/>
              <a:gd name="connsiteX9" fmla="*/ 65483 w 151536"/>
              <a:gd name="connsiteY9" fmla="*/ 86053 h 151536"/>
              <a:gd name="connsiteX10" fmla="*/ 65483 w 151536"/>
              <a:gd name="connsiteY10" fmla="*/ 141251 h 151536"/>
              <a:gd name="connsiteX11" fmla="*/ 75768 w 151536"/>
              <a:gd name="connsiteY11" fmla="*/ 151536 h 151536"/>
              <a:gd name="connsiteX12" fmla="*/ 86053 w 151536"/>
              <a:gd name="connsiteY12" fmla="*/ 141251 h 151536"/>
              <a:gd name="connsiteX13" fmla="*/ 86053 w 151536"/>
              <a:gd name="connsiteY13" fmla="*/ 86053 h 151536"/>
              <a:gd name="connsiteX14" fmla="*/ 141251 w 151536"/>
              <a:gd name="connsiteY14" fmla="*/ 86053 h 151536"/>
              <a:gd name="connsiteX15" fmla="*/ 151536 w 151536"/>
              <a:gd name="connsiteY15" fmla="*/ 75768 h 151536"/>
              <a:gd name="connsiteX16" fmla="*/ 141251 w 151536"/>
              <a:gd name="connsiteY16" fmla="*/ 65483 h 1515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51536" h="151536">
                <a:moveTo>
                  <a:pt x="141251" y="65483"/>
                </a:moveTo>
                <a:lnTo>
                  <a:pt x="86053" y="65483"/>
                </a:lnTo>
                <a:lnTo>
                  <a:pt x="86053" y="10285"/>
                </a:lnTo>
                <a:cubicBezTo>
                  <a:pt x="86053" y="4605"/>
                  <a:pt x="81448" y="0"/>
                  <a:pt x="75768" y="0"/>
                </a:cubicBezTo>
                <a:cubicBezTo>
                  <a:pt x="70088" y="0"/>
                  <a:pt x="65483" y="4605"/>
                  <a:pt x="65483" y="10285"/>
                </a:cubicBezTo>
                <a:lnTo>
                  <a:pt x="65483" y="65483"/>
                </a:lnTo>
                <a:lnTo>
                  <a:pt x="10285" y="65483"/>
                </a:lnTo>
                <a:cubicBezTo>
                  <a:pt x="4605" y="65483"/>
                  <a:pt x="0" y="70088"/>
                  <a:pt x="0" y="75768"/>
                </a:cubicBezTo>
                <a:cubicBezTo>
                  <a:pt x="0" y="81448"/>
                  <a:pt x="4605" y="86053"/>
                  <a:pt x="10285" y="86053"/>
                </a:cubicBezTo>
                <a:lnTo>
                  <a:pt x="65483" y="86053"/>
                </a:lnTo>
                <a:lnTo>
                  <a:pt x="65483" y="141251"/>
                </a:lnTo>
                <a:cubicBezTo>
                  <a:pt x="65483" y="146931"/>
                  <a:pt x="70088" y="151536"/>
                  <a:pt x="75768" y="151536"/>
                </a:cubicBezTo>
                <a:cubicBezTo>
                  <a:pt x="81448" y="151536"/>
                  <a:pt x="86053" y="146931"/>
                  <a:pt x="86053" y="141251"/>
                </a:cubicBezTo>
                <a:lnTo>
                  <a:pt x="86053" y="86053"/>
                </a:lnTo>
                <a:lnTo>
                  <a:pt x="141251" y="86053"/>
                </a:lnTo>
                <a:cubicBezTo>
                  <a:pt x="146931" y="86053"/>
                  <a:pt x="151536" y="81448"/>
                  <a:pt x="151536" y="75768"/>
                </a:cubicBezTo>
                <a:cubicBezTo>
                  <a:pt x="151536" y="70088"/>
                  <a:pt x="146931" y="65483"/>
                  <a:pt x="141251" y="65483"/>
                </a:cubicBezTo>
                <a:close/>
              </a:path>
            </a:pathLst>
          </a:custGeom>
          <a:solidFill>
            <a:srgbClr val="FFFFFF"/>
          </a:solidFill>
          <a:ln w="646" cap="flat">
            <a:noFill/>
            <a:prstDash val="solid"/>
            <a:miter/>
          </a:ln>
        </p:spPr>
        <p:txBody>
          <a:bodyPr rtlCol="0" anchor="ctr"/>
          <a:lstStyle/>
          <a:p>
            <a:endParaRPr lang="en-US">
              <a:solidFill>
                <a:srgbClr val="FFFFFF"/>
              </a:solidFill>
            </a:endParaRPr>
          </a:p>
        </p:txBody>
      </p:sp>
      <p:sp>
        <p:nvSpPr>
          <p:cNvPr id="38" name="Graphic 23">
            <a:extLst>
              <a:ext uri="{FF2B5EF4-FFF2-40B4-BE49-F238E27FC236}">
                <a16:creationId xmlns:a16="http://schemas.microsoft.com/office/drawing/2014/main" id="{3FBAD350-5664-4811-A208-657FB882D35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1245175" y="6096759"/>
            <a:ext cx="108625" cy="108625"/>
          </a:xfrm>
          <a:custGeom>
            <a:avLst/>
            <a:gdLst>
              <a:gd name="connsiteX0" fmla="*/ 54313 w 108625"/>
              <a:gd name="connsiteY0" fmla="*/ 16053 h 108625"/>
              <a:gd name="connsiteX1" fmla="*/ 92572 w 108625"/>
              <a:gd name="connsiteY1" fmla="*/ 54313 h 108625"/>
              <a:gd name="connsiteX2" fmla="*/ 54313 w 108625"/>
              <a:gd name="connsiteY2" fmla="*/ 92572 h 108625"/>
              <a:gd name="connsiteX3" fmla="*/ 16053 w 108625"/>
              <a:gd name="connsiteY3" fmla="*/ 54313 h 108625"/>
              <a:gd name="connsiteX4" fmla="*/ 54313 w 108625"/>
              <a:gd name="connsiteY4" fmla="*/ 16053 h 108625"/>
              <a:gd name="connsiteX5" fmla="*/ 54313 w 108625"/>
              <a:gd name="connsiteY5" fmla="*/ 0 h 108625"/>
              <a:gd name="connsiteX6" fmla="*/ 0 w 108625"/>
              <a:gd name="connsiteY6" fmla="*/ 54313 h 108625"/>
              <a:gd name="connsiteX7" fmla="*/ 54313 w 108625"/>
              <a:gd name="connsiteY7" fmla="*/ 108625 h 108625"/>
              <a:gd name="connsiteX8" fmla="*/ 108625 w 108625"/>
              <a:gd name="connsiteY8" fmla="*/ 54313 h 108625"/>
              <a:gd name="connsiteX9" fmla="*/ 54313 w 108625"/>
              <a:gd name="connsiteY9" fmla="*/ 0 h 1086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08625" h="108625">
                <a:moveTo>
                  <a:pt x="54313" y="16053"/>
                </a:moveTo>
                <a:cubicBezTo>
                  <a:pt x="75442" y="16053"/>
                  <a:pt x="92572" y="33182"/>
                  <a:pt x="92572" y="54313"/>
                </a:cubicBezTo>
                <a:cubicBezTo>
                  <a:pt x="92572" y="75442"/>
                  <a:pt x="75442" y="92572"/>
                  <a:pt x="54313" y="92572"/>
                </a:cubicBezTo>
                <a:cubicBezTo>
                  <a:pt x="33182" y="92572"/>
                  <a:pt x="16053" y="75442"/>
                  <a:pt x="16053" y="54313"/>
                </a:cubicBezTo>
                <a:cubicBezTo>
                  <a:pt x="16074" y="33191"/>
                  <a:pt x="33191" y="16074"/>
                  <a:pt x="54313" y="16053"/>
                </a:cubicBezTo>
                <a:moveTo>
                  <a:pt x="54313" y="0"/>
                </a:moveTo>
                <a:cubicBezTo>
                  <a:pt x="24317" y="0"/>
                  <a:pt x="0" y="24317"/>
                  <a:pt x="0" y="54313"/>
                </a:cubicBezTo>
                <a:cubicBezTo>
                  <a:pt x="0" y="84309"/>
                  <a:pt x="24317" y="108625"/>
                  <a:pt x="54313" y="108625"/>
                </a:cubicBezTo>
                <a:cubicBezTo>
                  <a:pt x="84309" y="108625"/>
                  <a:pt x="108625" y="84309"/>
                  <a:pt x="108625" y="54313"/>
                </a:cubicBezTo>
                <a:cubicBezTo>
                  <a:pt x="108625" y="24317"/>
                  <a:pt x="84309" y="0"/>
                  <a:pt x="54313" y="0"/>
                </a:cubicBezTo>
                <a:close/>
              </a:path>
            </a:pathLst>
          </a:custGeom>
          <a:solidFill>
            <a:srgbClr val="FFFFFF"/>
          </a:solidFill>
          <a:ln w="516" cap="flat">
            <a:noFill/>
            <a:prstDash val="solid"/>
            <a:miter/>
          </a:ln>
        </p:spPr>
        <p:txBody>
          <a:bodyPr rtlCol="0" anchor="ctr"/>
          <a:lstStyle/>
          <a:p>
            <a:endParaRPr lang="en-US">
              <a:solidFill>
                <a:srgbClr val="FFFFFF"/>
              </a:solidFill>
            </a:endParaRPr>
          </a:p>
        </p:txBody>
      </p:sp>
      <p:sp>
        <p:nvSpPr>
          <p:cNvPr id="40" name="Graphic 21">
            <a:extLst>
              <a:ext uri="{FF2B5EF4-FFF2-40B4-BE49-F238E27FC236}">
                <a16:creationId xmlns:a16="http://schemas.microsoft.com/office/drawing/2014/main" id="{C39ADB8F-D187-49D7-BDCF-C1B6DC72706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0554288" y="6238029"/>
            <a:ext cx="95759" cy="95759"/>
          </a:xfrm>
          <a:custGeom>
            <a:avLst/>
            <a:gdLst>
              <a:gd name="connsiteX0" fmla="*/ 95759 w 95759"/>
              <a:gd name="connsiteY0" fmla="*/ 47880 h 95759"/>
              <a:gd name="connsiteX1" fmla="*/ 47880 w 95759"/>
              <a:gd name="connsiteY1" fmla="*/ 95759 h 95759"/>
              <a:gd name="connsiteX2" fmla="*/ 0 w 95759"/>
              <a:gd name="connsiteY2" fmla="*/ 47880 h 95759"/>
              <a:gd name="connsiteX3" fmla="*/ 47880 w 95759"/>
              <a:gd name="connsiteY3" fmla="*/ 0 h 95759"/>
              <a:gd name="connsiteX4" fmla="*/ 95759 w 95759"/>
              <a:gd name="connsiteY4" fmla="*/ 47880 h 9575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5759" h="95759">
                <a:moveTo>
                  <a:pt x="95759" y="47880"/>
                </a:moveTo>
                <a:cubicBezTo>
                  <a:pt x="95759" y="74323"/>
                  <a:pt x="74323" y="95759"/>
                  <a:pt x="47880" y="95759"/>
                </a:cubicBezTo>
                <a:cubicBezTo>
                  <a:pt x="21436" y="95759"/>
                  <a:pt x="0" y="74323"/>
                  <a:pt x="0" y="47880"/>
                </a:cubicBezTo>
                <a:cubicBezTo>
                  <a:pt x="0" y="21436"/>
                  <a:pt x="21436" y="0"/>
                  <a:pt x="47880" y="0"/>
                </a:cubicBezTo>
                <a:cubicBezTo>
                  <a:pt x="74323" y="0"/>
                  <a:pt x="95759" y="21436"/>
                  <a:pt x="95759" y="47880"/>
                </a:cubicBezTo>
                <a:close/>
              </a:path>
            </a:pathLst>
          </a:custGeom>
          <a:solidFill>
            <a:srgbClr val="FFFFFF"/>
          </a:solidFill>
          <a:ln w="469" cap="flat">
            <a:noFill/>
            <a:prstDash val="solid"/>
            <a:miter/>
          </a:ln>
        </p:spPr>
        <p:txBody>
          <a:bodyPr rtlCol="0" anchor="ctr"/>
          <a:lstStyle/>
          <a:p>
            <a:endParaRPr lang="en-US">
              <a:solidFill>
                <a:srgbClr val="FFFFFF"/>
              </a:solidFill>
            </a:endParaRPr>
          </a:p>
        </p:txBody>
      </p:sp>
    </p:spTree>
    <p:extLst>
      <p:ext uri="{BB962C8B-B14F-4D97-AF65-F5344CB8AC3E}">
        <p14:creationId xmlns:p14="http://schemas.microsoft.com/office/powerpoint/2010/main" val="374267135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500"/>
                                  </p:stCondLst>
                                  <p:iterate>
                                    <p:tmPct val="10000"/>
                                  </p:iterate>
                                  <p:childTnLst>
                                    <p:set>
                                      <p:cBhvr>
                                        <p:cTn id="6" dur="1" fill="hold">
                                          <p:stCondLst>
                                            <p:cond delay="0"/>
                                          </p:stCondLst>
                                        </p:cTn>
                                        <p:tgtEl>
                                          <p:spTgt spid="2"/>
                                        </p:tgtEl>
                                        <p:attrNameLst>
                                          <p:attrName>style.visibility</p:attrName>
                                        </p:attrNameLst>
                                      </p:cBhvr>
                                      <p:to>
                                        <p:strVal val="visible"/>
                                      </p:to>
                                    </p:set>
                                    <p:animEffect transition="in" filter="fade">
                                      <p:cBhvr>
                                        <p:cTn id="7" dur="7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2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FD727D0D-C160-D699-3C9C-27B207C5A500}"/>
            </a:ext>
          </a:extLst>
        </p:cNvPr>
        <p:cNvGrpSpPr/>
        <p:nvPr/>
      </p:nvGrpSpPr>
      <p:grpSpPr>
        <a:xfrm>
          <a:off x="0" y="0"/>
          <a:ext cx="0" cy="0"/>
          <a:chOff x="0" y="0"/>
          <a:chExt cx="0" cy="0"/>
        </a:xfrm>
      </p:grpSpPr>
      <p:sp>
        <p:nvSpPr>
          <p:cNvPr id="7" name="Rectangle 6">
            <a:extLst>
              <a:ext uri="{FF2B5EF4-FFF2-40B4-BE49-F238E27FC236}">
                <a16:creationId xmlns:a16="http://schemas.microsoft.com/office/drawing/2014/main" id="{1A3C89F8-0D2F-47FF-B903-151248265F4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gradFill flip="none" rotWithShape="1">
            <a:gsLst>
              <a:gs pos="0">
                <a:schemeClr val="accent1"/>
              </a:gs>
              <a:gs pos="100000">
                <a:schemeClr val="accent2"/>
              </a:gs>
            </a:gsLst>
            <a:lin ang="81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FFFFFF"/>
              </a:solidFill>
            </a:endParaRPr>
          </a:p>
        </p:txBody>
      </p:sp>
      <p:sp>
        <p:nvSpPr>
          <p:cNvPr id="2" name="Title 1">
            <a:extLst>
              <a:ext uri="{FF2B5EF4-FFF2-40B4-BE49-F238E27FC236}">
                <a16:creationId xmlns:a16="http://schemas.microsoft.com/office/drawing/2014/main" id="{6A2C03F7-DF13-E668-ACED-E1EF2E706D30}"/>
              </a:ext>
            </a:extLst>
          </p:cNvPr>
          <p:cNvSpPr>
            <a:spLocks noGrp="1"/>
          </p:cNvSpPr>
          <p:nvPr>
            <p:ph type="title"/>
          </p:nvPr>
        </p:nvSpPr>
        <p:spPr>
          <a:xfrm>
            <a:off x="3880430" y="583345"/>
            <a:ext cx="7160357" cy="4164820"/>
          </a:xfrm>
        </p:spPr>
        <p:txBody>
          <a:bodyPr vert="horz" lIns="91440" tIns="45720" rIns="91440" bIns="45720" rtlCol="0" anchor="t">
            <a:normAutofit/>
          </a:bodyPr>
          <a:lstStyle/>
          <a:p>
            <a:pPr algn="r"/>
            <a:r>
              <a:rPr lang="en-US" sz="8000" dirty="0">
                <a:solidFill>
                  <a:srgbClr val="FFFFFF"/>
                </a:solidFill>
              </a:rPr>
              <a:t>Agent Flow Design</a:t>
            </a:r>
            <a:endParaRPr lang="en-US" sz="8000" kern="1200" dirty="0">
              <a:solidFill>
                <a:srgbClr val="FFFFFF"/>
              </a:solidFill>
              <a:latin typeface="+mj-lt"/>
              <a:ea typeface="+mj-ea"/>
              <a:cs typeface="+mj-cs"/>
            </a:endParaRPr>
          </a:p>
        </p:txBody>
      </p:sp>
      <p:sp>
        <p:nvSpPr>
          <p:cNvPr id="9" name="Graphic 13">
            <a:extLst>
              <a:ext uri="{FF2B5EF4-FFF2-40B4-BE49-F238E27FC236}">
                <a16:creationId xmlns:a16="http://schemas.microsoft.com/office/drawing/2014/main" id="{C5CB530E-515E-412C-9DF1-5F8FFBD6F38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474359" y="583345"/>
            <a:ext cx="139039" cy="139039"/>
          </a:xfrm>
          <a:custGeom>
            <a:avLst/>
            <a:gdLst>
              <a:gd name="connsiteX0" fmla="*/ 129602 w 139039"/>
              <a:gd name="connsiteY0" fmla="*/ 60082 h 139039"/>
              <a:gd name="connsiteX1" fmla="*/ 78957 w 139039"/>
              <a:gd name="connsiteY1" fmla="*/ 60082 h 139039"/>
              <a:gd name="connsiteX2" fmla="*/ 78957 w 139039"/>
              <a:gd name="connsiteY2" fmla="*/ 9437 h 139039"/>
              <a:gd name="connsiteX3" fmla="*/ 69520 w 139039"/>
              <a:gd name="connsiteY3" fmla="*/ 0 h 139039"/>
              <a:gd name="connsiteX4" fmla="*/ 60082 w 139039"/>
              <a:gd name="connsiteY4" fmla="*/ 9437 h 139039"/>
              <a:gd name="connsiteX5" fmla="*/ 60082 w 139039"/>
              <a:gd name="connsiteY5" fmla="*/ 60082 h 139039"/>
              <a:gd name="connsiteX6" fmla="*/ 9437 w 139039"/>
              <a:gd name="connsiteY6" fmla="*/ 60082 h 139039"/>
              <a:gd name="connsiteX7" fmla="*/ 0 w 139039"/>
              <a:gd name="connsiteY7" fmla="*/ 69520 h 139039"/>
              <a:gd name="connsiteX8" fmla="*/ 9437 w 139039"/>
              <a:gd name="connsiteY8" fmla="*/ 78957 h 139039"/>
              <a:gd name="connsiteX9" fmla="*/ 60082 w 139039"/>
              <a:gd name="connsiteY9" fmla="*/ 78957 h 139039"/>
              <a:gd name="connsiteX10" fmla="*/ 60082 w 139039"/>
              <a:gd name="connsiteY10" fmla="*/ 129602 h 139039"/>
              <a:gd name="connsiteX11" fmla="*/ 69520 w 139039"/>
              <a:gd name="connsiteY11" fmla="*/ 139039 h 139039"/>
              <a:gd name="connsiteX12" fmla="*/ 78957 w 139039"/>
              <a:gd name="connsiteY12" fmla="*/ 129602 h 139039"/>
              <a:gd name="connsiteX13" fmla="*/ 78957 w 139039"/>
              <a:gd name="connsiteY13" fmla="*/ 78957 h 139039"/>
              <a:gd name="connsiteX14" fmla="*/ 129602 w 139039"/>
              <a:gd name="connsiteY14" fmla="*/ 78957 h 139039"/>
              <a:gd name="connsiteX15" fmla="*/ 139039 w 139039"/>
              <a:gd name="connsiteY15" fmla="*/ 69520 h 139039"/>
              <a:gd name="connsiteX16" fmla="*/ 129602 w 139039"/>
              <a:gd name="connsiteY16" fmla="*/ 60082 h 1390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39039" h="139039">
                <a:moveTo>
                  <a:pt x="129602" y="60082"/>
                </a:moveTo>
                <a:lnTo>
                  <a:pt x="78957" y="60082"/>
                </a:lnTo>
                <a:lnTo>
                  <a:pt x="78957" y="9437"/>
                </a:lnTo>
                <a:cubicBezTo>
                  <a:pt x="78957" y="4225"/>
                  <a:pt x="74731" y="0"/>
                  <a:pt x="69520" y="0"/>
                </a:cubicBezTo>
                <a:cubicBezTo>
                  <a:pt x="64308" y="0"/>
                  <a:pt x="60082" y="4225"/>
                  <a:pt x="60082" y="9437"/>
                </a:cubicBezTo>
                <a:lnTo>
                  <a:pt x="60082" y="60082"/>
                </a:lnTo>
                <a:lnTo>
                  <a:pt x="9437" y="60082"/>
                </a:lnTo>
                <a:cubicBezTo>
                  <a:pt x="4225" y="60082"/>
                  <a:pt x="0" y="64308"/>
                  <a:pt x="0" y="69520"/>
                </a:cubicBezTo>
                <a:cubicBezTo>
                  <a:pt x="0" y="74731"/>
                  <a:pt x="4225" y="78957"/>
                  <a:pt x="9437" y="78957"/>
                </a:cubicBezTo>
                <a:lnTo>
                  <a:pt x="60082" y="78957"/>
                </a:lnTo>
                <a:lnTo>
                  <a:pt x="60082" y="129602"/>
                </a:lnTo>
                <a:cubicBezTo>
                  <a:pt x="60082" y="134814"/>
                  <a:pt x="64308" y="139039"/>
                  <a:pt x="69520" y="139039"/>
                </a:cubicBezTo>
                <a:cubicBezTo>
                  <a:pt x="74731" y="139039"/>
                  <a:pt x="78957" y="134814"/>
                  <a:pt x="78957" y="129602"/>
                </a:cubicBezTo>
                <a:lnTo>
                  <a:pt x="78957" y="78957"/>
                </a:lnTo>
                <a:lnTo>
                  <a:pt x="129602" y="78957"/>
                </a:lnTo>
                <a:cubicBezTo>
                  <a:pt x="134814" y="78957"/>
                  <a:pt x="139039" y="74731"/>
                  <a:pt x="139039" y="69520"/>
                </a:cubicBezTo>
                <a:cubicBezTo>
                  <a:pt x="139039" y="64308"/>
                  <a:pt x="134814" y="60082"/>
                  <a:pt x="129602" y="60082"/>
                </a:cubicBezTo>
                <a:close/>
              </a:path>
            </a:pathLst>
          </a:custGeom>
          <a:solidFill>
            <a:srgbClr val="FFFFFF"/>
          </a:solidFill>
          <a:ln w="603" cap="flat">
            <a:noFill/>
            <a:prstDash val="solid"/>
            <a:miter/>
          </a:ln>
        </p:spPr>
        <p:txBody>
          <a:bodyPr rtlCol="0" anchor="ctr"/>
          <a:lstStyle/>
          <a:p>
            <a:endParaRPr lang="en-US">
              <a:solidFill>
                <a:srgbClr val="FFFFFF"/>
              </a:solidFill>
            </a:endParaRPr>
          </a:p>
        </p:txBody>
      </p:sp>
      <p:sp>
        <p:nvSpPr>
          <p:cNvPr id="11" name="Graphic 12">
            <a:extLst>
              <a:ext uri="{FF2B5EF4-FFF2-40B4-BE49-F238E27FC236}">
                <a16:creationId xmlns:a16="http://schemas.microsoft.com/office/drawing/2014/main" id="{712D4376-A578-4FF1-94FC-245E7A6A489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833139" y="812640"/>
            <a:ext cx="91138" cy="91138"/>
          </a:xfrm>
          <a:custGeom>
            <a:avLst/>
            <a:gdLst>
              <a:gd name="connsiteX0" fmla="*/ 91138 w 91138"/>
              <a:gd name="connsiteY0" fmla="*/ 45569 h 91138"/>
              <a:gd name="connsiteX1" fmla="*/ 45569 w 91138"/>
              <a:gd name="connsiteY1" fmla="*/ 91138 h 91138"/>
              <a:gd name="connsiteX2" fmla="*/ 0 w 91138"/>
              <a:gd name="connsiteY2" fmla="*/ 45569 h 91138"/>
              <a:gd name="connsiteX3" fmla="*/ 45569 w 91138"/>
              <a:gd name="connsiteY3" fmla="*/ 0 h 91138"/>
              <a:gd name="connsiteX4" fmla="*/ 91138 w 91138"/>
              <a:gd name="connsiteY4" fmla="*/ 45569 h 911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1138" h="91138">
                <a:moveTo>
                  <a:pt x="91138" y="45569"/>
                </a:moveTo>
                <a:cubicBezTo>
                  <a:pt x="91138" y="70736"/>
                  <a:pt x="70736" y="91138"/>
                  <a:pt x="45569" y="91138"/>
                </a:cubicBezTo>
                <a:cubicBezTo>
                  <a:pt x="20402" y="91138"/>
                  <a:pt x="0" y="70736"/>
                  <a:pt x="0" y="45569"/>
                </a:cubicBezTo>
                <a:cubicBezTo>
                  <a:pt x="0" y="20402"/>
                  <a:pt x="20402" y="0"/>
                  <a:pt x="45569" y="0"/>
                </a:cubicBezTo>
                <a:cubicBezTo>
                  <a:pt x="70736" y="0"/>
                  <a:pt x="91138" y="20402"/>
                  <a:pt x="91138" y="45569"/>
                </a:cubicBezTo>
                <a:close/>
              </a:path>
            </a:pathLst>
          </a:custGeom>
          <a:solidFill>
            <a:srgbClr val="FFFFFF"/>
          </a:solidFill>
          <a:ln w="422" cap="flat">
            <a:noFill/>
            <a:prstDash val="solid"/>
            <a:miter/>
          </a:ln>
        </p:spPr>
        <p:txBody>
          <a:bodyPr rtlCol="0" anchor="ctr"/>
          <a:lstStyle/>
          <a:p>
            <a:endParaRPr lang="en-US">
              <a:solidFill>
                <a:srgbClr val="FFFFFF"/>
              </a:solidFill>
            </a:endParaRPr>
          </a:p>
        </p:txBody>
      </p:sp>
      <p:sp>
        <p:nvSpPr>
          <p:cNvPr id="13" name="Graphic 15">
            <a:extLst>
              <a:ext uri="{FF2B5EF4-FFF2-40B4-BE49-F238E27FC236}">
                <a16:creationId xmlns:a16="http://schemas.microsoft.com/office/drawing/2014/main" id="{AEA7509D-F04F-40CB-A0B3-EEF16499CC9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458819" y="1037066"/>
            <a:ext cx="127714" cy="127714"/>
          </a:xfrm>
          <a:custGeom>
            <a:avLst/>
            <a:gdLst>
              <a:gd name="connsiteX0" fmla="*/ 63857 w 127714"/>
              <a:gd name="connsiteY0" fmla="*/ 18874 h 127714"/>
              <a:gd name="connsiteX1" fmla="*/ 108840 w 127714"/>
              <a:gd name="connsiteY1" fmla="*/ 63857 h 127714"/>
              <a:gd name="connsiteX2" fmla="*/ 63857 w 127714"/>
              <a:gd name="connsiteY2" fmla="*/ 108840 h 127714"/>
              <a:gd name="connsiteX3" fmla="*/ 18874 w 127714"/>
              <a:gd name="connsiteY3" fmla="*/ 63857 h 127714"/>
              <a:gd name="connsiteX4" fmla="*/ 63857 w 127714"/>
              <a:gd name="connsiteY4" fmla="*/ 18874 h 127714"/>
              <a:gd name="connsiteX5" fmla="*/ 63857 w 127714"/>
              <a:gd name="connsiteY5" fmla="*/ 0 h 127714"/>
              <a:gd name="connsiteX6" fmla="*/ 0 w 127714"/>
              <a:gd name="connsiteY6" fmla="*/ 63857 h 127714"/>
              <a:gd name="connsiteX7" fmla="*/ 63857 w 127714"/>
              <a:gd name="connsiteY7" fmla="*/ 127714 h 127714"/>
              <a:gd name="connsiteX8" fmla="*/ 127714 w 127714"/>
              <a:gd name="connsiteY8" fmla="*/ 63857 h 127714"/>
              <a:gd name="connsiteX9" fmla="*/ 63857 w 127714"/>
              <a:gd name="connsiteY9" fmla="*/ 0 h 1277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27714" h="127714">
                <a:moveTo>
                  <a:pt x="63857" y="18874"/>
                </a:moveTo>
                <a:cubicBezTo>
                  <a:pt x="88700" y="18874"/>
                  <a:pt x="108840" y="39014"/>
                  <a:pt x="108840" y="63857"/>
                </a:cubicBezTo>
                <a:cubicBezTo>
                  <a:pt x="108840" y="88700"/>
                  <a:pt x="88700" y="108840"/>
                  <a:pt x="63857" y="108840"/>
                </a:cubicBezTo>
                <a:cubicBezTo>
                  <a:pt x="39014" y="108840"/>
                  <a:pt x="18874" y="88700"/>
                  <a:pt x="18874" y="63857"/>
                </a:cubicBezTo>
                <a:cubicBezTo>
                  <a:pt x="18898" y="39024"/>
                  <a:pt x="39024" y="18898"/>
                  <a:pt x="63857" y="18874"/>
                </a:cubicBezTo>
                <a:moveTo>
                  <a:pt x="63857" y="0"/>
                </a:moveTo>
                <a:cubicBezTo>
                  <a:pt x="28590" y="0"/>
                  <a:pt x="0" y="28590"/>
                  <a:pt x="0" y="63857"/>
                </a:cubicBezTo>
                <a:cubicBezTo>
                  <a:pt x="0" y="99124"/>
                  <a:pt x="28590" y="127714"/>
                  <a:pt x="63857" y="127714"/>
                </a:cubicBezTo>
                <a:cubicBezTo>
                  <a:pt x="99124" y="127714"/>
                  <a:pt x="127714" y="99124"/>
                  <a:pt x="127714" y="63857"/>
                </a:cubicBezTo>
                <a:cubicBezTo>
                  <a:pt x="127714" y="28590"/>
                  <a:pt x="99124" y="0"/>
                  <a:pt x="63857" y="0"/>
                </a:cubicBezTo>
                <a:close/>
              </a:path>
            </a:pathLst>
          </a:custGeom>
          <a:solidFill>
            <a:srgbClr val="FFFFFF"/>
          </a:solidFill>
          <a:ln w="610" cap="flat">
            <a:noFill/>
            <a:prstDash val="solid"/>
            <a:miter/>
          </a:ln>
        </p:spPr>
        <p:txBody>
          <a:bodyPr rtlCol="0" anchor="ctr"/>
          <a:lstStyle/>
          <a:p>
            <a:endParaRPr lang="en-US">
              <a:solidFill>
                <a:srgbClr val="FFFFFF"/>
              </a:solidFill>
            </a:endParaRPr>
          </a:p>
        </p:txBody>
      </p:sp>
      <p:cxnSp>
        <p:nvCxnSpPr>
          <p:cNvPr id="15" name="Straight Connector 14">
            <a:extLst>
              <a:ext uri="{FF2B5EF4-FFF2-40B4-BE49-F238E27FC236}">
                <a16:creationId xmlns:a16="http://schemas.microsoft.com/office/drawing/2014/main" id="{56020367-4FD5-4596-8E10-C5F095CD8DBF}"/>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856114" y="3503032"/>
            <a:ext cx="0" cy="3346090"/>
          </a:xfrm>
          <a:prstGeom prst="line">
            <a:avLst/>
          </a:prstGeom>
          <a:ln w="25400" cap="sq">
            <a:solidFill>
              <a:srgbClr val="FFFFFF"/>
            </a:solidFill>
            <a:bevel/>
          </a:ln>
        </p:spPr>
        <p:style>
          <a:lnRef idx="1">
            <a:schemeClr val="accent1"/>
          </a:lnRef>
          <a:fillRef idx="0">
            <a:schemeClr val="accent1"/>
          </a:fillRef>
          <a:effectRef idx="0">
            <a:schemeClr val="accent1"/>
          </a:effectRef>
          <a:fontRef idx="minor">
            <a:schemeClr val="tx1"/>
          </a:fontRef>
        </p:style>
      </p:cxnSp>
      <p:sp>
        <p:nvSpPr>
          <p:cNvPr id="17" name="Graphic 22">
            <a:extLst>
              <a:ext uri="{FF2B5EF4-FFF2-40B4-BE49-F238E27FC236}">
                <a16:creationId xmlns:a16="http://schemas.microsoft.com/office/drawing/2014/main" id="{508BEF50-7B1E-49A4-BC19-5F4F1D755E6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0836425" y="5636680"/>
            <a:ext cx="151536" cy="151536"/>
          </a:xfrm>
          <a:custGeom>
            <a:avLst/>
            <a:gdLst>
              <a:gd name="connsiteX0" fmla="*/ 141251 w 151536"/>
              <a:gd name="connsiteY0" fmla="*/ 65483 h 151536"/>
              <a:gd name="connsiteX1" fmla="*/ 86053 w 151536"/>
              <a:gd name="connsiteY1" fmla="*/ 65483 h 151536"/>
              <a:gd name="connsiteX2" fmla="*/ 86053 w 151536"/>
              <a:gd name="connsiteY2" fmla="*/ 10285 h 151536"/>
              <a:gd name="connsiteX3" fmla="*/ 75768 w 151536"/>
              <a:gd name="connsiteY3" fmla="*/ 0 h 151536"/>
              <a:gd name="connsiteX4" fmla="*/ 65483 w 151536"/>
              <a:gd name="connsiteY4" fmla="*/ 10285 h 151536"/>
              <a:gd name="connsiteX5" fmla="*/ 65483 w 151536"/>
              <a:gd name="connsiteY5" fmla="*/ 65483 h 151536"/>
              <a:gd name="connsiteX6" fmla="*/ 10285 w 151536"/>
              <a:gd name="connsiteY6" fmla="*/ 65483 h 151536"/>
              <a:gd name="connsiteX7" fmla="*/ 0 w 151536"/>
              <a:gd name="connsiteY7" fmla="*/ 75768 h 151536"/>
              <a:gd name="connsiteX8" fmla="*/ 10285 w 151536"/>
              <a:gd name="connsiteY8" fmla="*/ 86053 h 151536"/>
              <a:gd name="connsiteX9" fmla="*/ 65483 w 151536"/>
              <a:gd name="connsiteY9" fmla="*/ 86053 h 151536"/>
              <a:gd name="connsiteX10" fmla="*/ 65483 w 151536"/>
              <a:gd name="connsiteY10" fmla="*/ 141251 h 151536"/>
              <a:gd name="connsiteX11" fmla="*/ 75768 w 151536"/>
              <a:gd name="connsiteY11" fmla="*/ 151536 h 151536"/>
              <a:gd name="connsiteX12" fmla="*/ 86053 w 151536"/>
              <a:gd name="connsiteY12" fmla="*/ 141251 h 151536"/>
              <a:gd name="connsiteX13" fmla="*/ 86053 w 151536"/>
              <a:gd name="connsiteY13" fmla="*/ 86053 h 151536"/>
              <a:gd name="connsiteX14" fmla="*/ 141251 w 151536"/>
              <a:gd name="connsiteY14" fmla="*/ 86053 h 151536"/>
              <a:gd name="connsiteX15" fmla="*/ 151536 w 151536"/>
              <a:gd name="connsiteY15" fmla="*/ 75768 h 151536"/>
              <a:gd name="connsiteX16" fmla="*/ 141251 w 151536"/>
              <a:gd name="connsiteY16" fmla="*/ 65483 h 1515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51536" h="151536">
                <a:moveTo>
                  <a:pt x="141251" y="65483"/>
                </a:moveTo>
                <a:lnTo>
                  <a:pt x="86053" y="65483"/>
                </a:lnTo>
                <a:lnTo>
                  <a:pt x="86053" y="10285"/>
                </a:lnTo>
                <a:cubicBezTo>
                  <a:pt x="86053" y="4605"/>
                  <a:pt x="81448" y="0"/>
                  <a:pt x="75768" y="0"/>
                </a:cubicBezTo>
                <a:cubicBezTo>
                  <a:pt x="70088" y="0"/>
                  <a:pt x="65483" y="4605"/>
                  <a:pt x="65483" y="10285"/>
                </a:cubicBezTo>
                <a:lnTo>
                  <a:pt x="65483" y="65483"/>
                </a:lnTo>
                <a:lnTo>
                  <a:pt x="10285" y="65483"/>
                </a:lnTo>
                <a:cubicBezTo>
                  <a:pt x="4605" y="65483"/>
                  <a:pt x="0" y="70088"/>
                  <a:pt x="0" y="75768"/>
                </a:cubicBezTo>
                <a:cubicBezTo>
                  <a:pt x="0" y="81448"/>
                  <a:pt x="4605" y="86053"/>
                  <a:pt x="10285" y="86053"/>
                </a:cubicBezTo>
                <a:lnTo>
                  <a:pt x="65483" y="86053"/>
                </a:lnTo>
                <a:lnTo>
                  <a:pt x="65483" y="141251"/>
                </a:lnTo>
                <a:cubicBezTo>
                  <a:pt x="65483" y="146931"/>
                  <a:pt x="70088" y="151536"/>
                  <a:pt x="75768" y="151536"/>
                </a:cubicBezTo>
                <a:cubicBezTo>
                  <a:pt x="81448" y="151536"/>
                  <a:pt x="86053" y="146931"/>
                  <a:pt x="86053" y="141251"/>
                </a:cubicBezTo>
                <a:lnTo>
                  <a:pt x="86053" y="86053"/>
                </a:lnTo>
                <a:lnTo>
                  <a:pt x="141251" y="86053"/>
                </a:lnTo>
                <a:cubicBezTo>
                  <a:pt x="146931" y="86053"/>
                  <a:pt x="151536" y="81448"/>
                  <a:pt x="151536" y="75768"/>
                </a:cubicBezTo>
                <a:cubicBezTo>
                  <a:pt x="151536" y="70088"/>
                  <a:pt x="146931" y="65483"/>
                  <a:pt x="141251" y="65483"/>
                </a:cubicBezTo>
                <a:close/>
              </a:path>
            </a:pathLst>
          </a:custGeom>
          <a:solidFill>
            <a:srgbClr val="FFFFFF"/>
          </a:solidFill>
          <a:ln w="646" cap="flat">
            <a:noFill/>
            <a:prstDash val="solid"/>
            <a:miter/>
          </a:ln>
        </p:spPr>
        <p:txBody>
          <a:bodyPr rtlCol="0" anchor="ctr"/>
          <a:lstStyle/>
          <a:p>
            <a:endParaRPr lang="en-US">
              <a:solidFill>
                <a:srgbClr val="FFFFFF"/>
              </a:solidFill>
            </a:endParaRPr>
          </a:p>
        </p:txBody>
      </p:sp>
      <p:sp>
        <p:nvSpPr>
          <p:cNvPr id="19" name="Graphic 23">
            <a:extLst>
              <a:ext uri="{FF2B5EF4-FFF2-40B4-BE49-F238E27FC236}">
                <a16:creationId xmlns:a16="http://schemas.microsoft.com/office/drawing/2014/main" id="{3FBAD350-5664-4811-A208-657FB882D35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1245175" y="6096759"/>
            <a:ext cx="108625" cy="108625"/>
          </a:xfrm>
          <a:custGeom>
            <a:avLst/>
            <a:gdLst>
              <a:gd name="connsiteX0" fmla="*/ 54313 w 108625"/>
              <a:gd name="connsiteY0" fmla="*/ 16053 h 108625"/>
              <a:gd name="connsiteX1" fmla="*/ 92572 w 108625"/>
              <a:gd name="connsiteY1" fmla="*/ 54313 h 108625"/>
              <a:gd name="connsiteX2" fmla="*/ 54313 w 108625"/>
              <a:gd name="connsiteY2" fmla="*/ 92572 h 108625"/>
              <a:gd name="connsiteX3" fmla="*/ 16053 w 108625"/>
              <a:gd name="connsiteY3" fmla="*/ 54313 h 108625"/>
              <a:gd name="connsiteX4" fmla="*/ 54313 w 108625"/>
              <a:gd name="connsiteY4" fmla="*/ 16053 h 108625"/>
              <a:gd name="connsiteX5" fmla="*/ 54313 w 108625"/>
              <a:gd name="connsiteY5" fmla="*/ 0 h 108625"/>
              <a:gd name="connsiteX6" fmla="*/ 0 w 108625"/>
              <a:gd name="connsiteY6" fmla="*/ 54313 h 108625"/>
              <a:gd name="connsiteX7" fmla="*/ 54313 w 108625"/>
              <a:gd name="connsiteY7" fmla="*/ 108625 h 108625"/>
              <a:gd name="connsiteX8" fmla="*/ 108625 w 108625"/>
              <a:gd name="connsiteY8" fmla="*/ 54313 h 108625"/>
              <a:gd name="connsiteX9" fmla="*/ 54313 w 108625"/>
              <a:gd name="connsiteY9" fmla="*/ 0 h 1086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08625" h="108625">
                <a:moveTo>
                  <a:pt x="54313" y="16053"/>
                </a:moveTo>
                <a:cubicBezTo>
                  <a:pt x="75442" y="16053"/>
                  <a:pt x="92572" y="33182"/>
                  <a:pt x="92572" y="54313"/>
                </a:cubicBezTo>
                <a:cubicBezTo>
                  <a:pt x="92572" y="75442"/>
                  <a:pt x="75442" y="92572"/>
                  <a:pt x="54313" y="92572"/>
                </a:cubicBezTo>
                <a:cubicBezTo>
                  <a:pt x="33182" y="92572"/>
                  <a:pt x="16053" y="75442"/>
                  <a:pt x="16053" y="54313"/>
                </a:cubicBezTo>
                <a:cubicBezTo>
                  <a:pt x="16074" y="33191"/>
                  <a:pt x="33191" y="16074"/>
                  <a:pt x="54313" y="16053"/>
                </a:cubicBezTo>
                <a:moveTo>
                  <a:pt x="54313" y="0"/>
                </a:moveTo>
                <a:cubicBezTo>
                  <a:pt x="24317" y="0"/>
                  <a:pt x="0" y="24317"/>
                  <a:pt x="0" y="54313"/>
                </a:cubicBezTo>
                <a:cubicBezTo>
                  <a:pt x="0" y="84309"/>
                  <a:pt x="24317" y="108625"/>
                  <a:pt x="54313" y="108625"/>
                </a:cubicBezTo>
                <a:cubicBezTo>
                  <a:pt x="84309" y="108625"/>
                  <a:pt x="108625" y="84309"/>
                  <a:pt x="108625" y="54313"/>
                </a:cubicBezTo>
                <a:cubicBezTo>
                  <a:pt x="108625" y="24317"/>
                  <a:pt x="84309" y="0"/>
                  <a:pt x="54313" y="0"/>
                </a:cubicBezTo>
                <a:close/>
              </a:path>
            </a:pathLst>
          </a:custGeom>
          <a:solidFill>
            <a:srgbClr val="FFFFFF"/>
          </a:solidFill>
          <a:ln w="516" cap="flat">
            <a:noFill/>
            <a:prstDash val="solid"/>
            <a:miter/>
          </a:ln>
        </p:spPr>
        <p:txBody>
          <a:bodyPr rtlCol="0" anchor="ctr"/>
          <a:lstStyle/>
          <a:p>
            <a:endParaRPr lang="en-US">
              <a:solidFill>
                <a:srgbClr val="FFFFFF"/>
              </a:solidFill>
            </a:endParaRPr>
          </a:p>
        </p:txBody>
      </p:sp>
      <p:sp>
        <p:nvSpPr>
          <p:cNvPr id="21" name="Graphic 21">
            <a:extLst>
              <a:ext uri="{FF2B5EF4-FFF2-40B4-BE49-F238E27FC236}">
                <a16:creationId xmlns:a16="http://schemas.microsoft.com/office/drawing/2014/main" id="{C39ADB8F-D187-49D7-BDCF-C1B6DC72706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0554288" y="6238029"/>
            <a:ext cx="95759" cy="95759"/>
          </a:xfrm>
          <a:custGeom>
            <a:avLst/>
            <a:gdLst>
              <a:gd name="connsiteX0" fmla="*/ 95759 w 95759"/>
              <a:gd name="connsiteY0" fmla="*/ 47880 h 95759"/>
              <a:gd name="connsiteX1" fmla="*/ 47880 w 95759"/>
              <a:gd name="connsiteY1" fmla="*/ 95759 h 95759"/>
              <a:gd name="connsiteX2" fmla="*/ 0 w 95759"/>
              <a:gd name="connsiteY2" fmla="*/ 47880 h 95759"/>
              <a:gd name="connsiteX3" fmla="*/ 47880 w 95759"/>
              <a:gd name="connsiteY3" fmla="*/ 0 h 95759"/>
              <a:gd name="connsiteX4" fmla="*/ 95759 w 95759"/>
              <a:gd name="connsiteY4" fmla="*/ 47880 h 9575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5759" h="95759">
                <a:moveTo>
                  <a:pt x="95759" y="47880"/>
                </a:moveTo>
                <a:cubicBezTo>
                  <a:pt x="95759" y="74323"/>
                  <a:pt x="74323" y="95759"/>
                  <a:pt x="47880" y="95759"/>
                </a:cubicBezTo>
                <a:cubicBezTo>
                  <a:pt x="21436" y="95759"/>
                  <a:pt x="0" y="74323"/>
                  <a:pt x="0" y="47880"/>
                </a:cubicBezTo>
                <a:cubicBezTo>
                  <a:pt x="0" y="21436"/>
                  <a:pt x="21436" y="0"/>
                  <a:pt x="47880" y="0"/>
                </a:cubicBezTo>
                <a:cubicBezTo>
                  <a:pt x="74323" y="0"/>
                  <a:pt x="95759" y="21436"/>
                  <a:pt x="95759" y="47880"/>
                </a:cubicBezTo>
                <a:close/>
              </a:path>
            </a:pathLst>
          </a:custGeom>
          <a:solidFill>
            <a:srgbClr val="FFFFFF"/>
          </a:solidFill>
          <a:ln w="469" cap="flat">
            <a:noFill/>
            <a:prstDash val="solid"/>
            <a:miter/>
          </a:ln>
        </p:spPr>
        <p:txBody>
          <a:bodyPr rtlCol="0" anchor="ctr"/>
          <a:lstStyle/>
          <a:p>
            <a:endParaRPr lang="en-US">
              <a:solidFill>
                <a:srgbClr val="FFFFFF"/>
              </a:solidFill>
            </a:endParaRPr>
          </a:p>
        </p:txBody>
      </p:sp>
    </p:spTree>
    <p:extLst>
      <p:ext uri="{BB962C8B-B14F-4D97-AF65-F5344CB8AC3E}">
        <p14:creationId xmlns:p14="http://schemas.microsoft.com/office/powerpoint/2010/main" val="323777417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500"/>
                                  </p:stCondLst>
                                  <p:iterate>
                                    <p:tmPct val="10000"/>
                                  </p:iterate>
                                  <p:childTnLst>
                                    <p:set>
                                      <p:cBhvr>
                                        <p:cTn id="6" dur="1" fill="hold">
                                          <p:stCondLst>
                                            <p:cond delay="0"/>
                                          </p:stCondLst>
                                        </p:cTn>
                                        <p:tgtEl>
                                          <p:spTgt spid="2"/>
                                        </p:tgtEl>
                                        <p:attrNameLst>
                                          <p:attrName>style.visibility</p:attrName>
                                        </p:attrNameLst>
                                      </p:cBhvr>
                                      <p:to>
                                        <p:strVal val="visible"/>
                                      </p:to>
                                    </p:set>
                                    <p:animEffect transition="in" filter="fade">
                                      <p:cBhvr>
                                        <p:cTn id="7" dur="7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2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0A82A7-C58D-7018-5D79-A617C89B1C46}"/>
              </a:ext>
            </a:extLst>
          </p:cNvPr>
          <p:cNvSpPr>
            <a:spLocks noGrp="1"/>
          </p:cNvSpPr>
          <p:nvPr>
            <p:ph type="title"/>
          </p:nvPr>
        </p:nvSpPr>
        <p:spPr>
          <a:xfrm>
            <a:off x="762000" y="1138265"/>
            <a:ext cx="5791199" cy="1401183"/>
          </a:xfrm>
        </p:spPr>
        <p:txBody>
          <a:bodyPr anchor="t">
            <a:normAutofit/>
          </a:bodyPr>
          <a:lstStyle/>
          <a:p>
            <a:r>
              <a:rPr lang="en-IN" sz="3200"/>
              <a:t>Step-by-Step Reasoning Flows</a:t>
            </a:r>
          </a:p>
        </p:txBody>
      </p:sp>
      <p:cxnSp>
        <p:nvCxnSpPr>
          <p:cNvPr id="10" name="Straight Connector 9">
            <a:extLst>
              <a:ext uri="{FF2B5EF4-FFF2-40B4-BE49-F238E27FC236}">
                <a16:creationId xmlns:a16="http://schemas.microsoft.com/office/drawing/2014/main" id="{FC23E3B9-5ABF-58B3-E2B0-E9A5DAA90037}"/>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865140" y="871146"/>
            <a:ext cx="736939"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p:sp>
        <p:nvSpPr>
          <p:cNvPr id="3" name="Content Placeholder 2">
            <a:extLst>
              <a:ext uri="{FF2B5EF4-FFF2-40B4-BE49-F238E27FC236}">
                <a16:creationId xmlns:a16="http://schemas.microsoft.com/office/drawing/2014/main" id="{F32E5955-4D6B-AA7B-B1F4-87404B046895}"/>
              </a:ext>
            </a:extLst>
          </p:cNvPr>
          <p:cNvSpPr>
            <a:spLocks noGrp="1"/>
          </p:cNvSpPr>
          <p:nvPr>
            <p:ph idx="1"/>
          </p:nvPr>
        </p:nvSpPr>
        <p:spPr>
          <a:xfrm>
            <a:off x="762000" y="2551176"/>
            <a:ext cx="5791199" cy="3602935"/>
          </a:xfrm>
        </p:spPr>
        <p:txBody>
          <a:bodyPr>
            <a:normAutofit/>
          </a:bodyPr>
          <a:lstStyle/>
          <a:p>
            <a:r>
              <a:rPr lang="en-US" sz="2000" dirty="0"/>
              <a:t>Agents solve problems </a:t>
            </a:r>
            <a:r>
              <a:rPr lang="en-US" sz="2000" b="1" dirty="0"/>
              <a:t>one step at a time</a:t>
            </a:r>
            <a:r>
              <a:rPr lang="en-US" sz="2000" dirty="0"/>
              <a:t> instead of answering immediately.</a:t>
            </a:r>
          </a:p>
          <a:p>
            <a:r>
              <a:rPr lang="en-US" sz="2000" dirty="0"/>
              <a:t>Think of it as </a:t>
            </a:r>
            <a:r>
              <a:rPr lang="en-US" sz="2000" b="1" dirty="0"/>
              <a:t>investigation steps</a:t>
            </a:r>
            <a:r>
              <a:rPr lang="en-US" sz="2000" dirty="0"/>
              <a:t>.</a:t>
            </a:r>
          </a:p>
          <a:p>
            <a:r>
              <a:rPr lang="en-US" sz="2000" b="1" dirty="0"/>
              <a:t>Simple Flow:</a:t>
            </a:r>
          </a:p>
          <a:p>
            <a:r>
              <a:rPr lang="en-US" sz="2000" dirty="0"/>
              <a:t>This step-by-step process is often described as:</a:t>
            </a:r>
          </a:p>
          <a:p>
            <a:pPr marL="457200" lvl="1" indent="0">
              <a:buNone/>
            </a:pPr>
            <a:r>
              <a:rPr lang="en-US" sz="2000" dirty="0">
                <a:latin typeface="Cascadia Code" panose="020B0609020000020004" pitchFamily="49" charset="0"/>
                <a:cs typeface="Cascadia Code" panose="020B0609020000020004" pitchFamily="49" charset="0"/>
              </a:rPr>
              <a:t>Thought → Action → Observation</a:t>
            </a:r>
          </a:p>
          <a:p>
            <a:pPr lvl="1"/>
            <a:r>
              <a:rPr lang="en-US" sz="1600" dirty="0"/>
              <a:t>Meaning:</a:t>
            </a:r>
          </a:p>
          <a:p>
            <a:pPr lvl="2"/>
            <a:r>
              <a:rPr lang="en-US" sz="1200" b="1" dirty="0"/>
              <a:t>Thought</a:t>
            </a:r>
            <a:r>
              <a:rPr lang="en-US" sz="1200" dirty="0"/>
              <a:t> → what the agent decides</a:t>
            </a:r>
          </a:p>
          <a:p>
            <a:pPr lvl="2"/>
            <a:r>
              <a:rPr lang="en-US" sz="1200" b="1" dirty="0"/>
              <a:t>Action</a:t>
            </a:r>
            <a:r>
              <a:rPr lang="en-US" sz="1200" dirty="0"/>
              <a:t> → tool execution</a:t>
            </a:r>
          </a:p>
          <a:p>
            <a:pPr lvl="2"/>
            <a:r>
              <a:rPr lang="en-US" sz="1200" b="1" dirty="0"/>
              <a:t>Observation</a:t>
            </a:r>
            <a:r>
              <a:rPr lang="en-US" sz="1200" dirty="0"/>
              <a:t> → result from tool</a:t>
            </a:r>
          </a:p>
          <a:p>
            <a:endParaRPr lang="en-IN" sz="2000" dirty="0"/>
          </a:p>
        </p:txBody>
      </p:sp>
      <p:sp>
        <p:nvSpPr>
          <p:cNvPr id="12" name="Rectangle 11">
            <a:extLst>
              <a:ext uri="{FF2B5EF4-FFF2-40B4-BE49-F238E27FC236}">
                <a16:creationId xmlns:a16="http://schemas.microsoft.com/office/drawing/2014/main" id="{DF8BC164-E230-753F-2C7E-B4EE7BA77CF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7388086" y="0"/>
            <a:ext cx="4803913" cy="6858000"/>
          </a:xfrm>
          <a:prstGeom prst="rect">
            <a:avLst/>
          </a:prstGeom>
          <a:solidFill>
            <a:schemeClr val="bg1">
              <a:lumMod val="95000"/>
              <a:alpha val="6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Picture 4">
            <a:extLst>
              <a:ext uri="{FF2B5EF4-FFF2-40B4-BE49-F238E27FC236}">
                <a16:creationId xmlns:a16="http://schemas.microsoft.com/office/drawing/2014/main" id="{ED0F366B-285E-7C02-2AF0-BB7D00130CBC}"/>
              </a:ext>
            </a:extLst>
          </p:cNvPr>
          <p:cNvPicPr>
            <a:picLocks noChangeAspect="1"/>
          </p:cNvPicPr>
          <p:nvPr/>
        </p:nvPicPr>
        <p:blipFill>
          <a:blip r:embed="rId2"/>
          <a:stretch>
            <a:fillRect/>
          </a:stretch>
        </p:blipFill>
        <p:spPr>
          <a:xfrm>
            <a:off x="8049626" y="842824"/>
            <a:ext cx="3401321" cy="5167037"/>
          </a:xfrm>
          <a:prstGeom prst="rect">
            <a:avLst/>
          </a:prstGeom>
        </p:spPr>
      </p:pic>
    </p:spTree>
    <p:extLst>
      <p:ext uri="{BB962C8B-B14F-4D97-AF65-F5344CB8AC3E}">
        <p14:creationId xmlns:p14="http://schemas.microsoft.com/office/powerpoint/2010/main" val="1274103576"/>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A886EF9-3CC7-D3E3-4AB4-3D18708550BB}"/>
              </a:ext>
            </a:extLst>
          </p:cNvPr>
          <p:cNvSpPr>
            <a:spLocks noGrp="1"/>
          </p:cNvSpPr>
          <p:nvPr>
            <p:ph type="title"/>
          </p:nvPr>
        </p:nvSpPr>
        <p:spPr/>
        <p:txBody>
          <a:bodyPr/>
          <a:lstStyle/>
          <a:p>
            <a:r>
              <a:rPr lang="en-IN" dirty="0"/>
              <a:t>Tool Selection Logic</a:t>
            </a:r>
          </a:p>
        </p:txBody>
      </p:sp>
      <p:sp>
        <p:nvSpPr>
          <p:cNvPr id="3" name="Content Placeholder 2">
            <a:extLst>
              <a:ext uri="{FF2B5EF4-FFF2-40B4-BE49-F238E27FC236}">
                <a16:creationId xmlns:a16="http://schemas.microsoft.com/office/drawing/2014/main" id="{E3C7F6DC-1B50-17AA-F958-E637469638DD}"/>
              </a:ext>
            </a:extLst>
          </p:cNvPr>
          <p:cNvSpPr>
            <a:spLocks noGrp="1"/>
          </p:cNvSpPr>
          <p:nvPr>
            <p:ph idx="1"/>
          </p:nvPr>
        </p:nvSpPr>
        <p:spPr/>
        <p:txBody>
          <a:bodyPr>
            <a:normAutofit/>
          </a:bodyPr>
          <a:lstStyle/>
          <a:p>
            <a:r>
              <a:rPr lang="en-US" sz="2400" dirty="0"/>
              <a:t>The agent must decide </a:t>
            </a:r>
            <a:r>
              <a:rPr lang="en-US" sz="2400" b="1" dirty="0"/>
              <a:t>which tool to use</a:t>
            </a:r>
            <a:r>
              <a:rPr lang="en-US" sz="2400" dirty="0"/>
              <a:t>.</a:t>
            </a:r>
          </a:p>
          <a:p>
            <a:r>
              <a:rPr lang="en-US" sz="2400" dirty="0"/>
              <a:t>It does this by comparing the </a:t>
            </a:r>
            <a:r>
              <a:rPr lang="en-US" sz="2400" b="1" dirty="0"/>
              <a:t>user question</a:t>
            </a:r>
            <a:r>
              <a:rPr lang="en-US" sz="2400" dirty="0"/>
              <a:t> with the </a:t>
            </a:r>
            <a:r>
              <a:rPr lang="en-US" sz="2400" b="1" dirty="0"/>
              <a:t>tool descriptions</a:t>
            </a:r>
            <a:r>
              <a:rPr lang="en-US" sz="2400" dirty="0"/>
              <a:t>.</a:t>
            </a:r>
          </a:p>
          <a:p>
            <a:r>
              <a:rPr lang="en-US" sz="2400" dirty="0"/>
              <a:t>Example tools:</a:t>
            </a:r>
          </a:p>
          <a:p>
            <a:endParaRPr lang="en-IN" dirty="0"/>
          </a:p>
          <a:p>
            <a:endParaRPr lang="en-IN" dirty="0"/>
          </a:p>
          <a:p>
            <a:endParaRPr lang="en-IN" dirty="0"/>
          </a:p>
          <a:p>
            <a:pPr lvl="1"/>
            <a:r>
              <a:rPr lang="en-US" dirty="0"/>
              <a:t>If question involves data → use SQL</a:t>
            </a:r>
          </a:p>
          <a:p>
            <a:pPr lvl="1"/>
            <a:r>
              <a:rPr lang="en-US" dirty="0"/>
              <a:t>If question involves system behavior → analyze logs</a:t>
            </a:r>
          </a:p>
          <a:p>
            <a:pPr lvl="1"/>
            <a:r>
              <a:rPr lang="en-US" dirty="0"/>
              <a:t>If question asks "how to fix" → search documentation</a:t>
            </a:r>
            <a:endParaRPr lang="en-IN" dirty="0"/>
          </a:p>
        </p:txBody>
      </p:sp>
      <p:graphicFrame>
        <p:nvGraphicFramePr>
          <p:cNvPr id="14" name="Table 13">
            <a:extLst>
              <a:ext uri="{FF2B5EF4-FFF2-40B4-BE49-F238E27FC236}">
                <a16:creationId xmlns:a16="http://schemas.microsoft.com/office/drawing/2014/main" id="{A573F104-B422-A858-D22B-B431A18F2A4C}"/>
              </a:ext>
            </a:extLst>
          </p:cNvPr>
          <p:cNvGraphicFramePr>
            <a:graphicFrameLocks noGrp="1"/>
          </p:cNvGraphicFramePr>
          <p:nvPr>
            <p:extLst>
              <p:ext uri="{D42A27DB-BD31-4B8C-83A1-F6EECF244321}">
                <p14:modId xmlns:p14="http://schemas.microsoft.com/office/powerpoint/2010/main" val="504610603"/>
              </p:ext>
            </p:extLst>
          </p:nvPr>
        </p:nvGraphicFramePr>
        <p:xfrm>
          <a:off x="1148080" y="3086946"/>
          <a:ext cx="8128000" cy="1483360"/>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3137230276"/>
                    </a:ext>
                  </a:extLst>
                </a:gridCol>
                <a:gridCol w="4064000">
                  <a:extLst>
                    <a:ext uri="{9D8B030D-6E8A-4147-A177-3AD203B41FA5}">
                      <a16:colId xmlns:a16="http://schemas.microsoft.com/office/drawing/2014/main" val="833270302"/>
                    </a:ext>
                  </a:extLst>
                </a:gridCol>
              </a:tblGrid>
              <a:tr h="370840">
                <a:tc>
                  <a:txBody>
                    <a:bodyPr/>
                    <a:lstStyle/>
                    <a:p>
                      <a:r>
                        <a:rPr lang="en-US" dirty="0"/>
                        <a:t>Tool</a:t>
                      </a:r>
                      <a:endParaRPr lang="en-IN" dirty="0"/>
                    </a:p>
                  </a:txBody>
                  <a:tcPr/>
                </a:tc>
                <a:tc>
                  <a:txBody>
                    <a:bodyPr/>
                    <a:lstStyle/>
                    <a:p>
                      <a:r>
                        <a:rPr lang="en-US" dirty="0"/>
                        <a:t>Purpose</a:t>
                      </a:r>
                      <a:endParaRPr lang="en-IN" dirty="0"/>
                    </a:p>
                  </a:txBody>
                  <a:tcPr/>
                </a:tc>
                <a:extLst>
                  <a:ext uri="{0D108BD9-81ED-4DB2-BD59-A6C34878D82A}">
                    <a16:rowId xmlns:a16="http://schemas.microsoft.com/office/drawing/2014/main" val="3802689940"/>
                  </a:ext>
                </a:extLst>
              </a:tr>
              <a:tr h="370840">
                <a:tc>
                  <a:txBody>
                    <a:bodyPr/>
                    <a:lstStyle/>
                    <a:p>
                      <a:r>
                        <a:rPr lang="en-US" dirty="0"/>
                        <a:t>SQL tool</a:t>
                      </a:r>
                      <a:endParaRPr lang="en-IN" dirty="0"/>
                    </a:p>
                  </a:txBody>
                  <a:tcPr/>
                </a:tc>
                <a:tc>
                  <a:txBody>
                    <a:bodyPr/>
                    <a:lstStyle/>
                    <a:p>
                      <a:r>
                        <a:rPr lang="en-IN" dirty="0"/>
                        <a:t>Query incident database</a:t>
                      </a:r>
                    </a:p>
                  </a:txBody>
                  <a:tcPr/>
                </a:tc>
                <a:extLst>
                  <a:ext uri="{0D108BD9-81ED-4DB2-BD59-A6C34878D82A}">
                    <a16:rowId xmlns:a16="http://schemas.microsoft.com/office/drawing/2014/main" val="1142328970"/>
                  </a:ext>
                </a:extLst>
              </a:tr>
              <a:tr h="370840">
                <a:tc>
                  <a:txBody>
                    <a:bodyPr/>
                    <a:lstStyle/>
                    <a:p>
                      <a:r>
                        <a:rPr lang="en-US" dirty="0"/>
                        <a:t>Log analyzer</a:t>
                      </a:r>
                      <a:endParaRPr lang="en-IN" dirty="0"/>
                    </a:p>
                  </a:txBody>
                  <a:tcPr/>
                </a:tc>
                <a:tc>
                  <a:txBody>
                    <a:bodyPr/>
                    <a:lstStyle/>
                    <a:p>
                      <a:r>
                        <a:rPr lang="en-IN" dirty="0"/>
                        <a:t>Detect spikes in errors</a:t>
                      </a:r>
                    </a:p>
                  </a:txBody>
                  <a:tcPr/>
                </a:tc>
                <a:extLst>
                  <a:ext uri="{0D108BD9-81ED-4DB2-BD59-A6C34878D82A}">
                    <a16:rowId xmlns:a16="http://schemas.microsoft.com/office/drawing/2014/main" val="3598237533"/>
                  </a:ext>
                </a:extLst>
              </a:tr>
              <a:tr h="370840">
                <a:tc>
                  <a:txBody>
                    <a:bodyPr/>
                    <a:lstStyle/>
                    <a:p>
                      <a:r>
                        <a:rPr lang="en-US" dirty="0"/>
                        <a:t>RAG search</a:t>
                      </a:r>
                      <a:endParaRPr lang="en-IN" dirty="0"/>
                    </a:p>
                  </a:txBody>
                  <a:tcPr/>
                </a:tc>
                <a:tc>
                  <a:txBody>
                    <a:bodyPr/>
                    <a:lstStyle/>
                    <a:p>
                      <a:r>
                        <a:rPr lang="en-IN" dirty="0"/>
                        <a:t>Retrieve documentation</a:t>
                      </a:r>
                    </a:p>
                  </a:txBody>
                  <a:tcPr/>
                </a:tc>
                <a:extLst>
                  <a:ext uri="{0D108BD9-81ED-4DB2-BD59-A6C34878D82A}">
                    <a16:rowId xmlns:a16="http://schemas.microsoft.com/office/drawing/2014/main" val="471284253"/>
                  </a:ext>
                </a:extLst>
              </a:tr>
            </a:tbl>
          </a:graphicData>
        </a:graphic>
      </p:graphicFrame>
    </p:spTree>
    <p:extLst>
      <p:ext uri="{BB962C8B-B14F-4D97-AF65-F5344CB8AC3E}">
        <p14:creationId xmlns:p14="http://schemas.microsoft.com/office/powerpoint/2010/main" val="817869131"/>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4D49926-679B-4F77-85E9-DA7EA5C206F1}"/>
              </a:ext>
            </a:extLst>
          </p:cNvPr>
          <p:cNvSpPr>
            <a:spLocks noGrp="1"/>
          </p:cNvSpPr>
          <p:nvPr>
            <p:ph type="title"/>
          </p:nvPr>
        </p:nvSpPr>
        <p:spPr/>
        <p:txBody>
          <a:bodyPr/>
          <a:lstStyle/>
          <a:p>
            <a:r>
              <a:rPr lang="en-IN" dirty="0"/>
              <a:t>Managing Intermediate State</a:t>
            </a:r>
          </a:p>
        </p:txBody>
      </p:sp>
      <p:sp>
        <p:nvSpPr>
          <p:cNvPr id="3" name="Content Placeholder 2">
            <a:extLst>
              <a:ext uri="{FF2B5EF4-FFF2-40B4-BE49-F238E27FC236}">
                <a16:creationId xmlns:a16="http://schemas.microsoft.com/office/drawing/2014/main" id="{C2BFB210-E27C-B26E-4A9B-106979F3A623}"/>
              </a:ext>
            </a:extLst>
          </p:cNvPr>
          <p:cNvSpPr>
            <a:spLocks noGrp="1"/>
          </p:cNvSpPr>
          <p:nvPr>
            <p:ph idx="1"/>
          </p:nvPr>
        </p:nvSpPr>
        <p:spPr/>
        <p:txBody>
          <a:bodyPr>
            <a:normAutofit lnSpcReduction="10000"/>
          </a:bodyPr>
          <a:lstStyle/>
          <a:p>
            <a:r>
              <a:rPr lang="en-US" dirty="0"/>
              <a:t>Agents need to </a:t>
            </a:r>
            <a:r>
              <a:rPr lang="en-US" b="1" dirty="0"/>
              <a:t>remember results from previous steps</a:t>
            </a:r>
            <a:r>
              <a:rPr lang="en-US" dirty="0"/>
              <a:t>.</a:t>
            </a:r>
          </a:p>
          <a:p>
            <a:r>
              <a:rPr lang="en-US" dirty="0"/>
              <a:t>This is called </a:t>
            </a:r>
            <a:r>
              <a:rPr lang="en-US" b="1" dirty="0"/>
              <a:t>intermediate state</a:t>
            </a:r>
            <a:r>
              <a:rPr lang="en-US" dirty="0"/>
              <a:t>.</a:t>
            </a:r>
          </a:p>
          <a:p>
            <a:r>
              <a:rPr lang="en-US" dirty="0"/>
              <a:t>Example:</a:t>
            </a:r>
          </a:p>
          <a:p>
            <a:pPr marL="457200" lvl="1" indent="0">
              <a:buNone/>
            </a:pPr>
            <a:r>
              <a:rPr lang="en-US" dirty="0">
                <a:latin typeface="Cascadia Code" panose="020B0609020000020004" pitchFamily="49" charset="0"/>
                <a:cs typeface="Cascadia Code" panose="020B0609020000020004" pitchFamily="49" charset="0"/>
              </a:rPr>
              <a:t>Step 1 → SQL result</a:t>
            </a:r>
          </a:p>
          <a:p>
            <a:pPr marL="457200" lvl="1" indent="0">
              <a:buNone/>
            </a:pPr>
            <a:r>
              <a:rPr lang="en-US" dirty="0"/>
              <a:t>	</a:t>
            </a:r>
            <a:r>
              <a:rPr lang="en-US" dirty="0">
                <a:latin typeface="Cascadia Code" panose="020B0609020000020004" pitchFamily="49" charset="0"/>
                <a:cs typeface="Cascadia Code" panose="020B0609020000020004" pitchFamily="49" charset="0"/>
              </a:rPr>
              <a:t>"Login outage occurred at 10:15"</a:t>
            </a:r>
          </a:p>
          <a:p>
            <a:pPr marL="457200" lvl="1" indent="0">
              <a:buNone/>
            </a:pPr>
            <a:r>
              <a:rPr lang="en-US" dirty="0"/>
              <a:t>Next step uses that information:</a:t>
            </a:r>
          </a:p>
          <a:p>
            <a:pPr marL="457200" lvl="1" indent="0">
              <a:buNone/>
            </a:pPr>
            <a:r>
              <a:rPr lang="en-US" dirty="0">
                <a:latin typeface="Cascadia Code" panose="020B0609020000020004" pitchFamily="49" charset="0"/>
                <a:cs typeface="Cascadia Code" panose="020B0609020000020004" pitchFamily="49" charset="0"/>
              </a:rPr>
              <a:t>Step 2 → Analyze logs around 10:15</a:t>
            </a:r>
          </a:p>
          <a:p>
            <a:r>
              <a:rPr lang="en-US" dirty="0"/>
              <a:t>State is basically </a:t>
            </a:r>
            <a:r>
              <a:rPr lang="en-US" b="1" dirty="0"/>
              <a:t>temporary memory during reasoning</a:t>
            </a:r>
            <a:r>
              <a:rPr lang="en-US" dirty="0"/>
              <a:t>.</a:t>
            </a:r>
          </a:p>
          <a:p>
            <a:r>
              <a:rPr lang="en-US" dirty="0"/>
              <a:t>The agent uses these values to generate the final answer.</a:t>
            </a:r>
          </a:p>
          <a:p>
            <a:r>
              <a:rPr lang="en-US" dirty="0"/>
              <a:t>Without state, the agent would </a:t>
            </a:r>
            <a:r>
              <a:rPr lang="en-US" b="1" dirty="0"/>
              <a:t>forget earlier steps</a:t>
            </a:r>
            <a:r>
              <a:rPr lang="en-US" dirty="0"/>
              <a:t>.</a:t>
            </a:r>
          </a:p>
          <a:p>
            <a:endParaRPr lang="en-IN" dirty="0"/>
          </a:p>
        </p:txBody>
      </p:sp>
    </p:spTree>
    <p:extLst>
      <p:ext uri="{BB962C8B-B14F-4D97-AF65-F5344CB8AC3E}">
        <p14:creationId xmlns:p14="http://schemas.microsoft.com/office/powerpoint/2010/main" val="1268658898"/>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495C485-9C96-BC47-36E9-15E5D3011E2D}"/>
              </a:ext>
            </a:extLst>
          </p:cNvPr>
          <p:cNvSpPr>
            <a:spLocks noGrp="1"/>
          </p:cNvSpPr>
          <p:nvPr>
            <p:ph type="title"/>
          </p:nvPr>
        </p:nvSpPr>
        <p:spPr/>
        <p:txBody>
          <a:bodyPr/>
          <a:lstStyle/>
          <a:p>
            <a:r>
              <a:rPr lang="en-IN" dirty="0"/>
              <a:t>Handling Partial Failures</a:t>
            </a:r>
          </a:p>
        </p:txBody>
      </p:sp>
      <p:sp>
        <p:nvSpPr>
          <p:cNvPr id="3" name="Content Placeholder 2">
            <a:extLst>
              <a:ext uri="{FF2B5EF4-FFF2-40B4-BE49-F238E27FC236}">
                <a16:creationId xmlns:a16="http://schemas.microsoft.com/office/drawing/2014/main" id="{7CEBDD58-D83E-CD9C-5546-CE3FFA9F92E8}"/>
              </a:ext>
            </a:extLst>
          </p:cNvPr>
          <p:cNvSpPr>
            <a:spLocks noGrp="1"/>
          </p:cNvSpPr>
          <p:nvPr>
            <p:ph idx="1"/>
          </p:nvPr>
        </p:nvSpPr>
        <p:spPr>
          <a:xfrm>
            <a:off x="838200" y="1825625"/>
            <a:ext cx="5542280" cy="4351338"/>
          </a:xfrm>
        </p:spPr>
        <p:txBody>
          <a:bodyPr>
            <a:normAutofit lnSpcReduction="10000"/>
          </a:bodyPr>
          <a:lstStyle/>
          <a:p>
            <a:r>
              <a:rPr lang="en-US" sz="1800" dirty="0"/>
              <a:t>Sometimes a tool </a:t>
            </a:r>
            <a:r>
              <a:rPr lang="en-US" sz="1800" b="1" dirty="0"/>
              <a:t>fails or returns incomplete data</a:t>
            </a:r>
            <a:r>
              <a:rPr lang="en-US" sz="1800" dirty="0"/>
              <a:t>.</a:t>
            </a:r>
          </a:p>
          <a:p>
            <a:r>
              <a:rPr lang="en-US" sz="1800" dirty="0"/>
              <a:t>Good agents </a:t>
            </a:r>
            <a:r>
              <a:rPr lang="en-US" sz="1800" b="1" dirty="0"/>
              <a:t>recover instead of stopping</a:t>
            </a:r>
            <a:r>
              <a:rPr lang="en-US" sz="1800" dirty="0"/>
              <a:t>.</a:t>
            </a:r>
          </a:p>
          <a:p>
            <a:r>
              <a:rPr lang="en-US" sz="1800" dirty="0"/>
              <a:t>Example failure:</a:t>
            </a:r>
          </a:p>
          <a:p>
            <a:pPr marL="457200" lvl="1" indent="0">
              <a:buNone/>
            </a:pPr>
            <a:r>
              <a:rPr lang="en-US" sz="1200" dirty="0">
                <a:latin typeface="Cascadia Code" panose="020B0609020000020004" pitchFamily="49" charset="0"/>
                <a:cs typeface="Cascadia Code" panose="020B0609020000020004" pitchFamily="49" charset="0"/>
              </a:rPr>
              <a:t>SQL query fails</a:t>
            </a:r>
          </a:p>
          <a:p>
            <a:r>
              <a:rPr lang="en-US" sz="1800" dirty="0"/>
              <a:t>Agent options:</a:t>
            </a:r>
          </a:p>
          <a:p>
            <a:pPr marL="457200" lvl="1" indent="0">
              <a:buNone/>
            </a:pPr>
            <a:r>
              <a:rPr lang="en-US" sz="1200" dirty="0">
                <a:latin typeface="Cascadia Code" panose="020B0609020000020004" pitchFamily="49" charset="0"/>
                <a:cs typeface="Cascadia Code" panose="020B0609020000020004" pitchFamily="49" charset="0"/>
              </a:rPr>
              <a:t>Retry SQL</a:t>
            </a:r>
          </a:p>
          <a:p>
            <a:pPr marL="457200" lvl="1" indent="0">
              <a:buNone/>
            </a:pPr>
            <a:r>
              <a:rPr lang="en-US" sz="1200" dirty="0">
                <a:latin typeface="Cascadia Code" panose="020B0609020000020004" pitchFamily="49" charset="0"/>
                <a:cs typeface="Cascadia Code" panose="020B0609020000020004" pitchFamily="49" charset="0"/>
              </a:rPr>
              <a:t>Or</a:t>
            </a:r>
          </a:p>
          <a:p>
            <a:pPr marL="457200" lvl="1" indent="0">
              <a:buNone/>
            </a:pPr>
            <a:r>
              <a:rPr lang="en-US" sz="1200" dirty="0">
                <a:latin typeface="Cascadia Code" panose="020B0609020000020004" pitchFamily="49" charset="0"/>
                <a:cs typeface="Cascadia Code" panose="020B0609020000020004" pitchFamily="49" charset="0"/>
              </a:rPr>
              <a:t>Use logs instead</a:t>
            </a:r>
          </a:p>
          <a:p>
            <a:r>
              <a:rPr lang="en-US" sz="1800" dirty="0"/>
              <a:t>Another example:</a:t>
            </a:r>
          </a:p>
          <a:p>
            <a:pPr marL="457200" lvl="1" indent="0">
              <a:buNone/>
            </a:pPr>
            <a:r>
              <a:rPr lang="en-US" sz="1600" dirty="0">
                <a:latin typeface="Cascadia Code" panose="020B0609020000020004" pitchFamily="49" charset="0"/>
                <a:cs typeface="Cascadia Code" panose="020B0609020000020004" pitchFamily="49" charset="0"/>
              </a:rPr>
              <a:t>Log analyzer returns partial results</a:t>
            </a:r>
          </a:p>
          <a:p>
            <a:pPr lvl="1"/>
            <a:r>
              <a:rPr lang="en-US" sz="1600" dirty="0"/>
              <a:t>Agent can still continue:</a:t>
            </a:r>
          </a:p>
          <a:p>
            <a:pPr marL="457200" lvl="1" indent="0">
              <a:buNone/>
            </a:pPr>
            <a:r>
              <a:rPr lang="en-US" sz="1600" dirty="0">
                <a:latin typeface="Cascadia Code" panose="020B0609020000020004" pitchFamily="49" charset="0"/>
                <a:cs typeface="Cascadia Code" panose="020B0609020000020004" pitchFamily="49" charset="0"/>
              </a:rPr>
              <a:t>Use available data</a:t>
            </a:r>
          </a:p>
          <a:p>
            <a:pPr marL="457200" lvl="1" indent="0">
              <a:buNone/>
            </a:pPr>
            <a:r>
              <a:rPr lang="en-US" sz="1600" dirty="0">
                <a:latin typeface="Cascadia Code" panose="020B0609020000020004" pitchFamily="49" charset="0"/>
                <a:cs typeface="Cascadia Code" panose="020B0609020000020004" pitchFamily="49" charset="0"/>
              </a:rPr>
              <a:t>Search documentation</a:t>
            </a:r>
          </a:p>
          <a:p>
            <a:pPr marL="457200" lvl="1" indent="0">
              <a:buNone/>
            </a:pPr>
            <a:r>
              <a:rPr lang="en-US" sz="1600" dirty="0">
                <a:latin typeface="Cascadia Code" panose="020B0609020000020004" pitchFamily="49" charset="0"/>
                <a:cs typeface="Cascadia Code" panose="020B0609020000020004" pitchFamily="49" charset="0"/>
              </a:rPr>
              <a:t>Generate best explanation</a:t>
            </a:r>
          </a:p>
          <a:p>
            <a:r>
              <a:rPr lang="en-US" sz="1800" dirty="0"/>
              <a:t>This is called </a:t>
            </a:r>
            <a:r>
              <a:rPr lang="en-US" sz="1800" b="1" dirty="0"/>
              <a:t>graceful degradation</a:t>
            </a:r>
            <a:r>
              <a:rPr lang="en-US" sz="1800" dirty="0"/>
              <a:t>.</a:t>
            </a:r>
          </a:p>
        </p:txBody>
      </p:sp>
      <p:sp>
        <p:nvSpPr>
          <p:cNvPr id="6" name="Content Placeholder 2">
            <a:extLst>
              <a:ext uri="{FF2B5EF4-FFF2-40B4-BE49-F238E27FC236}">
                <a16:creationId xmlns:a16="http://schemas.microsoft.com/office/drawing/2014/main" id="{B5457186-2EAE-18C2-727C-7F086DDDBCBA}"/>
              </a:ext>
            </a:extLst>
          </p:cNvPr>
          <p:cNvSpPr txBox="1">
            <a:spLocks/>
          </p:cNvSpPr>
          <p:nvPr/>
        </p:nvSpPr>
        <p:spPr>
          <a:xfrm>
            <a:off x="6380480" y="1825625"/>
            <a:ext cx="5125720" cy="4351338"/>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sz="1800" dirty="0"/>
              <a:t>Meaning:</a:t>
            </a:r>
          </a:p>
          <a:p>
            <a:pPr lvl="1"/>
            <a:r>
              <a:rPr lang="en-US" sz="1400" dirty="0"/>
              <a:t>Even if one step fails, the system still produces an answer.</a:t>
            </a:r>
          </a:p>
          <a:p>
            <a:r>
              <a:rPr lang="en-US" sz="1800" dirty="0"/>
              <a:t>Example workflow:</a:t>
            </a:r>
          </a:p>
          <a:p>
            <a:pPr marL="457200" lvl="1" indent="0">
              <a:buNone/>
            </a:pPr>
            <a:r>
              <a:rPr lang="en-US" sz="1400" dirty="0">
                <a:latin typeface="Cascadia Code" panose="020B0609020000020004" pitchFamily="49" charset="0"/>
                <a:cs typeface="Cascadia Code" panose="020B0609020000020004" pitchFamily="49" charset="0"/>
              </a:rPr>
              <a:t>Step 1 → SQL query (failed)</a:t>
            </a:r>
          </a:p>
          <a:p>
            <a:pPr marL="457200" lvl="1" indent="0">
              <a:buNone/>
            </a:pPr>
            <a:r>
              <a:rPr lang="en-US" sz="1400" dirty="0">
                <a:latin typeface="Cascadia Code" panose="020B0609020000020004" pitchFamily="49" charset="0"/>
                <a:cs typeface="Cascadia Code" panose="020B0609020000020004" pitchFamily="49" charset="0"/>
              </a:rPr>
              <a:t>Step 2 → Retry</a:t>
            </a:r>
          </a:p>
          <a:p>
            <a:pPr marL="457200" lvl="1" indent="0">
              <a:buNone/>
            </a:pPr>
            <a:r>
              <a:rPr lang="en-US" sz="1400" dirty="0">
                <a:latin typeface="Cascadia Code" panose="020B0609020000020004" pitchFamily="49" charset="0"/>
                <a:cs typeface="Cascadia Code" panose="020B0609020000020004" pitchFamily="49" charset="0"/>
              </a:rPr>
              <a:t>Step 3 → Log analysis</a:t>
            </a:r>
          </a:p>
          <a:p>
            <a:pPr marL="457200" lvl="1" indent="0">
              <a:buNone/>
            </a:pPr>
            <a:r>
              <a:rPr lang="en-US" sz="1400" dirty="0">
                <a:latin typeface="Cascadia Code" panose="020B0609020000020004" pitchFamily="49" charset="0"/>
                <a:cs typeface="Cascadia Code" panose="020B0609020000020004" pitchFamily="49" charset="0"/>
              </a:rPr>
              <a:t>Step 4 → Generate answer</a:t>
            </a:r>
          </a:p>
        </p:txBody>
      </p:sp>
    </p:spTree>
    <p:extLst>
      <p:ext uri="{BB962C8B-B14F-4D97-AF65-F5344CB8AC3E}">
        <p14:creationId xmlns:p14="http://schemas.microsoft.com/office/powerpoint/2010/main" val="423281887"/>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1AE5C0FF-0F4E-FAC6-6CDF-AE45C2CCE118}"/>
            </a:ext>
          </a:extLst>
        </p:cNvPr>
        <p:cNvGrpSpPr/>
        <p:nvPr/>
      </p:nvGrpSpPr>
      <p:grpSpPr>
        <a:xfrm>
          <a:off x="0" y="0"/>
          <a:ext cx="0" cy="0"/>
          <a:chOff x="0" y="0"/>
          <a:chExt cx="0" cy="0"/>
        </a:xfrm>
      </p:grpSpPr>
      <p:sp>
        <p:nvSpPr>
          <p:cNvPr id="26" name="Rectangle 25">
            <a:extLst>
              <a:ext uri="{FF2B5EF4-FFF2-40B4-BE49-F238E27FC236}">
                <a16:creationId xmlns:a16="http://schemas.microsoft.com/office/drawing/2014/main" id="{1A3C89F8-0D2F-47FF-B903-151248265F4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gradFill flip="none" rotWithShape="1">
            <a:gsLst>
              <a:gs pos="0">
                <a:schemeClr val="accent1"/>
              </a:gs>
              <a:gs pos="100000">
                <a:schemeClr val="accent2"/>
              </a:gs>
            </a:gsLst>
            <a:lin ang="81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FFFFFF"/>
              </a:solidFill>
            </a:endParaRPr>
          </a:p>
        </p:txBody>
      </p:sp>
      <p:sp>
        <p:nvSpPr>
          <p:cNvPr id="2" name="Title 1">
            <a:extLst>
              <a:ext uri="{FF2B5EF4-FFF2-40B4-BE49-F238E27FC236}">
                <a16:creationId xmlns:a16="http://schemas.microsoft.com/office/drawing/2014/main" id="{512701C2-8497-1C6C-EF39-94E31A15226B}"/>
              </a:ext>
            </a:extLst>
          </p:cNvPr>
          <p:cNvSpPr>
            <a:spLocks noGrp="1"/>
          </p:cNvSpPr>
          <p:nvPr>
            <p:ph type="title"/>
          </p:nvPr>
        </p:nvSpPr>
        <p:spPr>
          <a:xfrm>
            <a:off x="3880430" y="583345"/>
            <a:ext cx="7160357" cy="4164820"/>
          </a:xfrm>
        </p:spPr>
        <p:txBody>
          <a:bodyPr vert="horz" lIns="91440" tIns="45720" rIns="91440" bIns="45720" rtlCol="0" anchor="t">
            <a:normAutofit/>
          </a:bodyPr>
          <a:lstStyle/>
          <a:p>
            <a:pPr algn="r"/>
            <a:r>
              <a:rPr lang="en-US" sz="7400" b="1" kern="1200" dirty="0">
                <a:solidFill>
                  <a:srgbClr val="FFFFFF"/>
                </a:solidFill>
                <a:latin typeface="+mj-lt"/>
                <a:ea typeface="+mj-ea"/>
                <a:cs typeface="+mj-cs"/>
              </a:rPr>
              <a:t>Demo:</a:t>
            </a:r>
            <a:br>
              <a:rPr lang="en-US" sz="7400" b="1" kern="1200" dirty="0">
                <a:solidFill>
                  <a:srgbClr val="FFFFFF"/>
                </a:solidFill>
                <a:latin typeface="+mj-lt"/>
                <a:ea typeface="+mj-ea"/>
                <a:cs typeface="+mj-cs"/>
              </a:rPr>
            </a:br>
            <a:r>
              <a:rPr lang="en-US" sz="7400" b="1" kern="1200" dirty="0">
                <a:solidFill>
                  <a:srgbClr val="FFFFFF"/>
                </a:solidFill>
                <a:latin typeface="+mj-lt"/>
                <a:ea typeface="+mj-ea"/>
                <a:cs typeface="+mj-cs"/>
              </a:rPr>
              <a:t>Build a multi-step agent workflow</a:t>
            </a:r>
          </a:p>
        </p:txBody>
      </p:sp>
      <p:sp>
        <p:nvSpPr>
          <p:cNvPr id="28" name="Graphic 13">
            <a:extLst>
              <a:ext uri="{FF2B5EF4-FFF2-40B4-BE49-F238E27FC236}">
                <a16:creationId xmlns:a16="http://schemas.microsoft.com/office/drawing/2014/main" id="{C5CB530E-515E-412C-9DF1-5F8FFBD6F38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474359" y="583345"/>
            <a:ext cx="139039" cy="139039"/>
          </a:xfrm>
          <a:custGeom>
            <a:avLst/>
            <a:gdLst>
              <a:gd name="connsiteX0" fmla="*/ 129602 w 139039"/>
              <a:gd name="connsiteY0" fmla="*/ 60082 h 139039"/>
              <a:gd name="connsiteX1" fmla="*/ 78957 w 139039"/>
              <a:gd name="connsiteY1" fmla="*/ 60082 h 139039"/>
              <a:gd name="connsiteX2" fmla="*/ 78957 w 139039"/>
              <a:gd name="connsiteY2" fmla="*/ 9437 h 139039"/>
              <a:gd name="connsiteX3" fmla="*/ 69520 w 139039"/>
              <a:gd name="connsiteY3" fmla="*/ 0 h 139039"/>
              <a:gd name="connsiteX4" fmla="*/ 60082 w 139039"/>
              <a:gd name="connsiteY4" fmla="*/ 9437 h 139039"/>
              <a:gd name="connsiteX5" fmla="*/ 60082 w 139039"/>
              <a:gd name="connsiteY5" fmla="*/ 60082 h 139039"/>
              <a:gd name="connsiteX6" fmla="*/ 9437 w 139039"/>
              <a:gd name="connsiteY6" fmla="*/ 60082 h 139039"/>
              <a:gd name="connsiteX7" fmla="*/ 0 w 139039"/>
              <a:gd name="connsiteY7" fmla="*/ 69520 h 139039"/>
              <a:gd name="connsiteX8" fmla="*/ 9437 w 139039"/>
              <a:gd name="connsiteY8" fmla="*/ 78957 h 139039"/>
              <a:gd name="connsiteX9" fmla="*/ 60082 w 139039"/>
              <a:gd name="connsiteY9" fmla="*/ 78957 h 139039"/>
              <a:gd name="connsiteX10" fmla="*/ 60082 w 139039"/>
              <a:gd name="connsiteY10" fmla="*/ 129602 h 139039"/>
              <a:gd name="connsiteX11" fmla="*/ 69520 w 139039"/>
              <a:gd name="connsiteY11" fmla="*/ 139039 h 139039"/>
              <a:gd name="connsiteX12" fmla="*/ 78957 w 139039"/>
              <a:gd name="connsiteY12" fmla="*/ 129602 h 139039"/>
              <a:gd name="connsiteX13" fmla="*/ 78957 w 139039"/>
              <a:gd name="connsiteY13" fmla="*/ 78957 h 139039"/>
              <a:gd name="connsiteX14" fmla="*/ 129602 w 139039"/>
              <a:gd name="connsiteY14" fmla="*/ 78957 h 139039"/>
              <a:gd name="connsiteX15" fmla="*/ 139039 w 139039"/>
              <a:gd name="connsiteY15" fmla="*/ 69520 h 139039"/>
              <a:gd name="connsiteX16" fmla="*/ 129602 w 139039"/>
              <a:gd name="connsiteY16" fmla="*/ 60082 h 1390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39039" h="139039">
                <a:moveTo>
                  <a:pt x="129602" y="60082"/>
                </a:moveTo>
                <a:lnTo>
                  <a:pt x="78957" y="60082"/>
                </a:lnTo>
                <a:lnTo>
                  <a:pt x="78957" y="9437"/>
                </a:lnTo>
                <a:cubicBezTo>
                  <a:pt x="78957" y="4225"/>
                  <a:pt x="74731" y="0"/>
                  <a:pt x="69520" y="0"/>
                </a:cubicBezTo>
                <a:cubicBezTo>
                  <a:pt x="64308" y="0"/>
                  <a:pt x="60082" y="4225"/>
                  <a:pt x="60082" y="9437"/>
                </a:cubicBezTo>
                <a:lnTo>
                  <a:pt x="60082" y="60082"/>
                </a:lnTo>
                <a:lnTo>
                  <a:pt x="9437" y="60082"/>
                </a:lnTo>
                <a:cubicBezTo>
                  <a:pt x="4225" y="60082"/>
                  <a:pt x="0" y="64308"/>
                  <a:pt x="0" y="69520"/>
                </a:cubicBezTo>
                <a:cubicBezTo>
                  <a:pt x="0" y="74731"/>
                  <a:pt x="4225" y="78957"/>
                  <a:pt x="9437" y="78957"/>
                </a:cubicBezTo>
                <a:lnTo>
                  <a:pt x="60082" y="78957"/>
                </a:lnTo>
                <a:lnTo>
                  <a:pt x="60082" y="129602"/>
                </a:lnTo>
                <a:cubicBezTo>
                  <a:pt x="60082" y="134814"/>
                  <a:pt x="64308" y="139039"/>
                  <a:pt x="69520" y="139039"/>
                </a:cubicBezTo>
                <a:cubicBezTo>
                  <a:pt x="74731" y="139039"/>
                  <a:pt x="78957" y="134814"/>
                  <a:pt x="78957" y="129602"/>
                </a:cubicBezTo>
                <a:lnTo>
                  <a:pt x="78957" y="78957"/>
                </a:lnTo>
                <a:lnTo>
                  <a:pt x="129602" y="78957"/>
                </a:lnTo>
                <a:cubicBezTo>
                  <a:pt x="134814" y="78957"/>
                  <a:pt x="139039" y="74731"/>
                  <a:pt x="139039" y="69520"/>
                </a:cubicBezTo>
                <a:cubicBezTo>
                  <a:pt x="139039" y="64308"/>
                  <a:pt x="134814" y="60082"/>
                  <a:pt x="129602" y="60082"/>
                </a:cubicBezTo>
                <a:close/>
              </a:path>
            </a:pathLst>
          </a:custGeom>
          <a:solidFill>
            <a:srgbClr val="FFFFFF"/>
          </a:solidFill>
          <a:ln w="603" cap="flat">
            <a:noFill/>
            <a:prstDash val="solid"/>
            <a:miter/>
          </a:ln>
        </p:spPr>
        <p:txBody>
          <a:bodyPr rtlCol="0" anchor="ctr"/>
          <a:lstStyle/>
          <a:p>
            <a:endParaRPr lang="en-US">
              <a:solidFill>
                <a:srgbClr val="FFFFFF"/>
              </a:solidFill>
            </a:endParaRPr>
          </a:p>
        </p:txBody>
      </p:sp>
      <p:sp>
        <p:nvSpPr>
          <p:cNvPr id="30" name="Graphic 12">
            <a:extLst>
              <a:ext uri="{FF2B5EF4-FFF2-40B4-BE49-F238E27FC236}">
                <a16:creationId xmlns:a16="http://schemas.microsoft.com/office/drawing/2014/main" id="{712D4376-A578-4FF1-94FC-245E7A6A489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833139" y="812640"/>
            <a:ext cx="91138" cy="91138"/>
          </a:xfrm>
          <a:custGeom>
            <a:avLst/>
            <a:gdLst>
              <a:gd name="connsiteX0" fmla="*/ 91138 w 91138"/>
              <a:gd name="connsiteY0" fmla="*/ 45569 h 91138"/>
              <a:gd name="connsiteX1" fmla="*/ 45569 w 91138"/>
              <a:gd name="connsiteY1" fmla="*/ 91138 h 91138"/>
              <a:gd name="connsiteX2" fmla="*/ 0 w 91138"/>
              <a:gd name="connsiteY2" fmla="*/ 45569 h 91138"/>
              <a:gd name="connsiteX3" fmla="*/ 45569 w 91138"/>
              <a:gd name="connsiteY3" fmla="*/ 0 h 91138"/>
              <a:gd name="connsiteX4" fmla="*/ 91138 w 91138"/>
              <a:gd name="connsiteY4" fmla="*/ 45569 h 911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1138" h="91138">
                <a:moveTo>
                  <a:pt x="91138" y="45569"/>
                </a:moveTo>
                <a:cubicBezTo>
                  <a:pt x="91138" y="70736"/>
                  <a:pt x="70736" y="91138"/>
                  <a:pt x="45569" y="91138"/>
                </a:cubicBezTo>
                <a:cubicBezTo>
                  <a:pt x="20402" y="91138"/>
                  <a:pt x="0" y="70736"/>
                  <a:pt x="0" y="45569"/>
                </a:cubicBezTo>
                <a:cubicBezTo>
                  <a:pt x="0" y="20402"/>
                  <a:pt x="20402" y="0"/>
                  <a:pt x="45569" y="0"/>
                </a:cubicBezTo>
                <a:cubicBezTo>
                  <a:pt x="70736" y="0"/>
                  <a:pt x="91138" y="20402"/>
                  <a:pt x="91138" y="45569"/>
                </a:cubicBezTo>
                <a:close/>
              </a:path>
            </a:pathLst>
          </a:custGeom>
          <a:solidFill>
            <a:srgbClr val="FFFFFF"/>
          </a:solidFill>
          <a:ln w="422" cap="flat">
            <a:noFill/>
            <a:prstDash val="solid"/>
            <a:miter/>
          </a:ln>
        </p:spPr>
        <p:txBody>
          <a:bodyPr rtlCol="0" anchor="ctr"/>
          <a:lstStyle/>
          <a:p>
            <a:endParaRPr lang="en-US">
              <a:solidFill>
                <a:srgbClr val="FFFFFF"/>
              </a:solidFill>
            </a:endParaRPr>
          </a:p>
        </p:txBody>
      </p:sp>
      <p:sp>
        <p:nvSpPr>
          <p:cNvPr id="32" name="Graphic 15">
            <a:extLst>
              <a:ext uri="{FF2B5EF4-FFF2-40B4-BE49-F238E27FC236}">
                <a16:creationId xmlns:a16="http://schemas.microsoft.com/office/drawing/2014/main" id="{AEA7509D-F04F-40CB-A0B3-EEF16499CC9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458819" y="1037066"/>
            <a:ext cx="127714" cy="127714"/>
          </a:xfrm>
          <a:custGeom>
            <a:avLst/>
            <a:gdLst>
              <a:gd name="connsiteX0" fmla="*/ 63857 w 127714"/>
              <a:gd name="connsiteY0" fmla="*/ 18874 h 127714"/>
              <a:gd name="connsiteX1" fmla="*/ 108840 w 127714"/>
              <a:gd name="connsiteY1" fmla="*/ 63857 h 127714"/>
              <a:gd name="connsiteX2" fmla="*/ 63857 w 127714"/>
              <a:gd name="connsiteY2" fmla="*/ 108840 h 127714"/>
              <a:gd name="connsiteX3" fmla="*/ 18874 w 127714"/>
              <a:gd name="connsiteY3" fmla="*/ 63857 h 127714"/>
              <a:gd name="connsiteX4" fmla="*/ 63857 w 127714"/>
              <a:gd name="connsiteY4" fmla="*/ 18874 h 127714"/>
              <a:gd name="connsiteX5" fmla="*/ 63857 w 127714"/>
              <a:gd name="connsiteY5" fmla="*/ 0 h 127714"/>
              <a:gd name="connsiteX6" fmla="*/ 0 w 127714"/>
              <a:gd name="connsiteY6" fmla="*/ 63857 h 127714"/>
              <a:gd name="connsiteX7" fmla="*/ 63857 w 127714"/>
              <a:gd name="connsiteY7" fmla="*/ 127714 h 127714"/>
              <a:gd name="connsiteX8" fmla="*/ 127714 w 127714"/>
              <a:gd name="connsiteY8" fmla="*/ 63857 h 127714"/>
              <a:gd name="connsiteX9" fmla="*/ 63857 w 127714"/>
              <a:gd name="connsiteY9" fmla="*/ 0 h 1277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27714" h="127714">
                <a:moveTo>
                  <a:pt x="63857" y="18874"/>
                </a:moveTo>
                <a:cubicBezTo>
                  <a:pt x="88700" y="18874"/>
                  <a:pt x="108840" y="39014"/>
                  <a:pt x="108840" y="63857"/>
                </a:cubicBezTo>
                <a:cubicBezTo>
                  <a:pt x="108840" y="88700"/>
                  <a:pt x="88700" y="108840"/>
                  <a:pt x="63857" y="108840"/>
                </a:cubicBezTo>
                <a:cubicBezTo>
                  <a:pt x="39014" y="108840"/>
                  <a:pt x="18874" y="88700"/>
                  <a:pt x="18874" y="63857"/>
                </a:cubicBezTo>
                <a:cubicBezTo>
                  <a:pt x="18898" y="39024"/>
                  <a:pt x="39024" y="18898"/>
                  <a:pt x="63857" y="18874"/>
                </a:cubicBezTo>
                <a:moveTo>
                  <a:pt x="63857" y="0"/>
                </a:moveTo>
                <a:cubicBezTo>
                  <a:pt x="28590" y="0"/>
                  <a:pt x="0" y="28590"/>
                  <a:pt x="0" y="63857"/>
                </a:cubicBezTo>
                <a:cubicBezTo>
                  <a:pt x="0" y="99124"/>
                  <a:pt x="28590" y="127714"/>
                  <a:pt x="63857" y="127714"/>
                </a:cubicBezTo>
                <a:cubicBezTo>
                  <a:pt x="99124" y="127714"/>
                  <a:pt x="127714" y="99124"/>
                  <a:pt x="127714" y="63857"/>
                </a:cubicBezTo>
                <a:cubicBezTo>
                  <a:pt x="127714" y="28590"/>
                  <a:pt x="99124" y="0"/>
                  <a:pt x="63857" y="0"/>
                </a:cubicBezTo>
                <a:close/>
              </a:path>
            </a:pathLst>
          </a:custGeom>
          <a:solidFill>
            <a:srgbClr val="FFFFFF"/>
          </a:solidFill>
          <a:ln w="610" cap="flat">
            <a:noFill/>
            <a:prstDash val="solid"/>
            <a:miter/>
          </a:ln>
        </p:spPr>
        <p:txBody>
          <a:bodyPr rtlCol="0" anchor="ctr"/>
          <a:lstStyle/>
          <a:p>
            <a:endParaRPr lang="en-US">
              <a:solidFill>
                <a:srgbClr val="FFFFFF"/>
              </a:solidFill>
            </a:endParaRPr>
          </a:p>
        </p:txBody>
      </p:sp>
      <p:cxnSp>
        <p:nvCxnSpPr>
          <p:cNvPr id="34" name="Straight Connector 33">
            <a:extLst>
              <a:ext uri="{FF2B5EF4-FFF2-40B4-BE49-F238E27FC236}">
                <a16:creationId xmlns:a16="http://schemas.microsoft.com/office/drawing/2014/main" id="{56020367-4FD5-4596-8E10-C5F095CD8DBF}"/>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856114" y="3503032"/>
            <a:ext cx="0" cy="3346090"/>
          </a:xfrm>
          <a:prstGeom prst="line">
            <a:avLst/>
          </a:prstGeom>
          <a:ln w="25400" cap="sq">
            <a:solidFill>
              <a:srgbClr val="FFFFFF"/>
            </a:solidFill>
            <a:bevel/>
          </a:ln>
        </p:spPr>
        <p:style>
          <a:lnRef idx="1">
            <a:schemeClr val="accent1"/>
          </a:lnRef>
          <a:fillRef idx="0">
            <a:schemeClr val="accent1"/>
          </a:fillRef>
          <a:effectRef idx="0">
            <a:schemeClr val="accent1"/>
          </a:effectRef>
          <a:fontRef idx="minor">
            <a:schemeClr val="tx1"/>
          </a:fontRef>
        </p:style>
      </p:cxnSp>
      <p:sp>
        <p:nvSpPr>
          <p:cNvPr id="36" name="Graphic 22">
            <a:extLst>
              <a:ext uri="{FF2B5EF4-FFF2-40B4-BE49-F238E27FC236}">
                <a16:creationId xmlns:a16="http://schemas.microsoft.com/office/drawing/2014/main" id="{508BEF50-7B1E-49A4-BC19-5F4F1D755E6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0836425" y="5636680"/>
            <a:ext cx="151536" cy="151536"/>
          </a:xfrm>
          <a:custGeom>
            <a:avLst/>
            <a:gdLst>
              <a:gd name="connsiteX0" fmla="*/ 141251 w 151536"/>
              <a:gd name="connsiteY0" fmla="*/ 65483 h 151536"/>
              <a:gd name="connsiteX1" fmla="*/ 86053 w 151536"/>
              <a:gd name="connsiteY1" fmla="*/ 65483 h 151536"/>
              <a:gd name="connsiteX2" fmla="*/ 86053 w 151536"/>
              <a:gd name="connsiteY2" fmla="*/ 10285 h 151536"/>
              <a:gd name="connsiteX3" fmla="*/ 75768 w 151536"/>
              <a:gd name="connsiteY3" fmla="*/ 0 h 151536"/>
              <a:gd name="connsiteX4" fmla="*/ 65483 w 151536"/>
              <a:gd name="connsiteY4" fmla="*/ 10285 h 151536"/>
              <a:gd name="connsiteX5" fmla="*/ 65483 w 151536"/>
              <a:gd name="connsiteY5" fmla="*/ 65483 h 151536"/>
              <a:gd name="connsiteX6" fmla="*/ 10285 w 151536"/>
              <a:gd name="connsiteY6" fmla="*/ 65483 h 151536"/>
              <a:gd name="connsiteX7" fmla="*/ 0 w 151536"/>
              <a:gd name="connsiteY7" fmla="*/ 75768 h 151536"/>
              <a:gd name="connsiteX8" fmla="*/ 10285 w 151536"/>
              <a:gd name="connsiteY8" fmla="*/ 86053 h 151536"/>
              <a:gd name="connsiteX9" fmla="*/ 65483 w 151536"/>
              <a:gd name="connsiteY9" fmla="*/ 86053 h 151536"/>
              <a:gd name="connsiteX10" fmla="*/ 65483 w 151536"/>
              <a:gd name="connsiteY10" fmla="*/ 141251 h 151536"/>
              <a:gd name="connsiteX11" fmla="*/ 75768 w 151536"/>
              <a:gd name="connsiteY11" fmla="*/ 151536 h 151536"/>
              <a:gd name="connsiteX12" fmla="*/ 86053 w 151536"/>
              <a:gd name="connsiteY12" fmla="*/ 141251 h 151536"/>
              <a:gd name="connsiteX13" fmla="*/ 86053 w 151536"/>
              <a:gd name="connsiteY13" fmla="*/ 86053 h 151536"/>
              <a:gd name="connsiteX14" fmla="*/ 141251 w 151536"/>
              <a:gd name="connsiteY14" fmla="*/ 86053 h 151536"/>
              <a:gd name="connsiteX15" fmla="*/ 151536 w 151536"/>
              <a:gd name="connsiteY15" fmla="*/ 75768 h 151536"/>
              <a:gd name="connsiteX16" fmla="*/ 141251 w 151536"/>
              <a:gd name="connsiteY16" fmla="*/ 65483 h 1515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51536" h="151536">
                <a:moveTo>
                  <a:pt x="141251" y="65483"/>
                </a:moveTo>
                <a:lnTo>
                  <a:pt x="86053" y="65483"/>
                </a:lnTo>
                <a:lnTo>
                  <a:pt x="86053" y="10285"/>
                </a:lnTo>
                <a:cubicBezTo>
                  <a:pt x="86053" y="4605"/>
                  <a:pt x="81448" y="0"/>
                  <a:pt x="75768" y="0"/>
                </a:cubicBezTo>
                <a:cubicBezTo>
                  <a:pt x="70088" y="0"/>
                  <a:pt x="65483" y="4605"/>
                  <a:pt x="65483" y="10285"/>
                </a:cubicBezTo>
                <a:lnTo>
                  <a:pt x="65483" y="65483"/>
                </a:lnTo>
                <a:lnTo>
                  <a:pt x="10285" y="65483"/>
                </a:lnTo>
                <a:cubicBezTo>
                  <a:pt x="4605" y="65483"/>
                  <a:pt x="0" y="70088"/>
                  <a:pt x="0" y="75768"/>
                </a:cubicBezTo>
                <a:cubicBezTo>
                  <a:pt x="0" y="81448"/>
                  <a:pt x="4605" y="86053"/>
                  <a:pt x="10285" y="86053"/>
                </a:cubicBezTo>
                <a:lnTo>
                  <a:pt x="65483" y="86053"/>
                </a:lnTo>
                <a:lnTo>
                  <a:pt x="65483" y="141251"/>
                </a:lnTo>
                <a:cubicBezTo>
                  <a:pt x="65483" y="146931"/>
                  <a:pt x="70088" y="151536"/>
                  <a:pt x="75768" y="151536"/>
                </a:cubicBezTo>
                <a:cubicBezTo>
                  <a:pt x="81448" y="151536"/>
                  <a:pt x="86053" y="146931"/>
                  <a:pt x="86053" y="141251"/>
                </a:cubicBezTo>
                <a:lnTo>
                  <a:pt x="86053" y="86053"/>
                </a:lnTo>
                <a:lnTo>
                  <a:pt x="141251" y="86053"/>
                </a:lnTo>
                <a:cubicBezTo>
                  <a:pt x="146931" y="86053"/>
                  <a:pt x="151536" y="81448"/>
                  <a:pt x="151536" y="75768"/>
                </a:cubicBezTo>
                <a:cubicBezTo>
                  <a:pt x="151536" y="70088"/>
                  <a:pt x="146931" y="65483"/>
                  <a:pt x="141251" y="65483"/>
                </a:cubicBezTo>
                <a:close/>
              </a:path>
            </a:pathLst>
          </a:custGeom>
          <a:solidFill>
            <a:srgbClr val="FFFFFF"/>
          </a:solidFill>
          <a:ln w="646" cap="flat">
            <a:noFill/>
            <a:prstDash val="solid"/>
            <a:miter/>
          </a:ln>
        </p:spPr>
        <p:txBody>
          <a:bodyPr rtlCol="0" anchor="ctr"/>
          <a:lstStyle/>
          <a:p>
            <a:endParaRPr lang="en-US">
              <a:solidFill>
                <a:srgbClr val="FFFFFF"/>
              </a:solidFill>
            </a:endParaRPr>
          </a:p>
        </p:txBody>
      </p:sp>
      <p:sp>
        <p:nvSpPr>
          <p:cNvPr id="38" name="Graphic 23">
            <a:extLst>
              <a:ext uri="{FF2B5EF4-FFF2-40B4-BE49-F238E27FC236}">
                <a16:creationId xmlns:a16="http://schemas.microsoft.com/office/drawing/2014/main" id="{3FBAD350-5664-4811-A208-657FB882D35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1245175" y="6096759"/>
            <a:ext cx="108625" cy="108625"/>
          </a:xfrm>
          <a:custGeom>
            <a:avLst/>
            <a:gdLst>
              <a:gd name="connsiteX0" fmla="*/ 54313 w 108625"/>
              <a:gd name="connsiteY0" fmla="*/ 16053 h 108625"/>
              <a:gd name="connsiteX1" fmla="*/ 92572 w 108625"/>
              <a:gd name="connsiteY1" fmla="*/ 54313 h 108625"/>
              <a:gd name="connsiteX2" fmla="*/ 54313 w 108625"/>
              <a:gd name="connsiteY2" fmla="*/ 92572 h 108625"/>
              <a:gd name="connsiteX3" fmla="*/ 16053 w 108625"/>
              <a:gd name="connsiteY3" fmla="*/ 54313 h 108625"/>
              <a:gd name="connsiteX4" fmla="*/ 54313 w 108625"/>
              <a:gd name="connsiteY4" fmla="*/ 16053 h 108625"/>
              <a:gd name="connsiteX5" fmla="*/ 54313 w 108625"/>
              <a:gd name="connsiteY5" fmla="*/ 0 h 108625"/>
              <a:gd name="connsiteX6" fmla="*/ 0 w 108625"/>
              <a:gd name="connsiteY6" fmla="*/ 54313 h 108625"/>
              <a:gd name="connsiteX7" fmla="*/ 54313 w 108625"/>
              <a:gd name="connsiteY7" fmla="*/ 108625 h 108625"/>
              <a:gd name="connsiteX8" fmla="*/ 108625 w 108625"/>
              <a:gd name="connsiteY8" fmla="*/ 54313 h 108625"/>
              <a:gd name="connsiteX9" fmla="*/ 54313 w 108625"/>
              <a:gd name="connsiteY9" fmla="*/ 0 h 1086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08625" h="108625">
                <a:moveTo>
                  <a:pt x="54313" y="16053"/>
                </a:moveTo>
                <a:cubicBezTo>
                  <a:pt x="75442" y="16053"/>
                  <a:pt x="92572" y="33182"/>
                  <a:pt x="92572" y="54313"/>
                </a:cubicBezTo>
                <a:cubicBezTo>
                  <a:pt x="92572" y="75442"/>
                  <a:pt x="75442" y="92572"/>
                  <a:pt x="54313" y="92572"/>
                </a:cubicBezTo>
                <a:cubicBezTo>
                  <a:pt x="33182" y="92572"/>
                  <a:pt x="16053" y="75442"/>
                  <a:pt x="16053" y="54313"/>
                </a:cubicBezTo>
                <a:cubicBezTo>
                  <a:pt x="16074" y="33191"/>
                  <a:pt x="33191" y="16074"/>
                  <a:pt x="54313" y="16053"/>
                </a:cubicBezTo>
                <a:moveTo>
                  <a:pt x="54313" y="0"/>
                </a:moveTo>
                <a:cubicBezTo>
                  <a:pt x="24317" y="0"/>
                  <a:pt x="0" y="24317"/>
                  <a:pt x="0" y="54313"/>
                </a:cubicBezTo>
                <a:cubicBezTo>
                  <a:pt x="0" y="84309"/>
                  <a:pt x="24317" y="108625"/>
                  <a:pt x="54313" y="108625"/>
                </a:cubicBezTo>
                <a:cubicBezTo>
                  <a:pt x="84309" y="108625"/>
                  <a:pt x="108625" y="84309"/>
                  <a:pt x="108625" y="54313"/>
                </a:cubicBezTo>
                <a:cubicBezTo>
                  <a:pt x="108625" y="24317"/>
                  <a:pt x="84309" y="0"/>
                  <a:pt x="54313" y="0"/>
                </a:cubicBezTo>
                <a:close/>
              </a:path>
            </a:pathLst>
          </a:custGeom>
          <a:solidFill>
            <a:srgbClr val="FFFFFF"/>
          </a:solidFill>
          <a:ln w="516" cap="flat">
            <a:noFill/>
            <a:prstDash val="solid"/>
            <a:miter/>
          </a:ln>
        </p:spPr>
        <p:txBody>
          <a:bodyPr rtlCol="0" anchor="ctr"/>
          <a:lstStyle/>
          <a:p>
            <a:endParaRPr lang="en-US">
              <a:solidFill>
                <a:srgbClr val="FFFFFF"/>
              </a:solidFill>
            </a:endParaRPr>
          </a:p>
        </p:txBody>
      </p:sp>
      <p:sp>
        <p:nvSpPr>
          <p:cNvPr id="40" name="Graphic 21">
            <a:extLst>
              <a:ext uri="{FF2B5EF4-FFF2-40B4-BE49-F238E27FC236}">
                <a16:creationId xmlns:a16="http://schemas.microsoft.com/office/drawing/2014/main" id="{C39ADB8F-D187-49D7-BDCF-C1B6DC72706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0554288" y="6238029"/>
            <a:ext cx="95759" cy="95759"/>
          </a:xfrm>
          <a:custGeom>
            <a:avLst/>
            <a:gdLst>
              <a:gd name="connsiteX0" fmla="*/ 95759 w 95759"/>
              <a:gd name="connsiteY0" fmla="*/ 47880 h 95759"/>
              <a:gd name="connsiteX1" fmla="*/ 47880 w 95759"/>
              <a:gd name="connsiteY1" fmla="*/ 95759 h 95759"/>
              <a:gd name="connsiteX2" fmla="*/ 0 w 95759"/>
              <a:gd name="connsiteY2" fmla="*/ 47880 h 95759"/>
              <a:gd name="connsiteX3" fmla="*/ 47880 w 95759"/>
              <a:gd name="connsiteY3" fmla="*/ 0 h 95759"/>
              <a:gd name="connsiteX4" fmla="*/ 95759 w 95759"/>
              <a:gd name="connsiteY4" fmla="*/ 47880 h 9575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5759" h="95759">
                <a:moveTo>
                  <a:pt x="95759" y="47880"/>
                </a:moveTo>
                <a:cubicBezTo>
                  <a:pt x="95759" y="74323"/>
                  <a:pt x="74323" y="95759"/>
                  <a:pt x="47880" y="95759"/>
                </a:cubicBezTo>
                <a:cubicBezTo>
                  <a:pt x="21436" y="95759"/>
                  <a:pt x="0" y="74323"/>
                  <a:pt x="0" y="47880"/>
                </a:cubicBezTo>
                <a:cubicBezTo>
                  <a:pt x="0" y="21436"/>
                  <a:pt x="21436" y="0"/>
                  <a:pt x="47880" y="0"/>
                </a:cubicBezTo>
                <a:cubicBezTo>
                  <a:pt x="74323" y="0"/>
                  <a:pt x="95759" y="21436"/>
                  <a:pt x="95759" y="47880"/>
                </a:cubicBezTo>
                <a:close/>
              </a:path>
            </a:pathLst>
          </a:custGeom>
          <a:solidFill>
            <a:srgbClr val="FFFFFF"/>
          </a:solidFill>
          <a:ln w="469" cap="flat">
            <a:noFill/>
            <a:prstDash val="solid"/>
            <a:miter/>
          </a:ln>
        </p:spPr>
        <p:txBody>
          <a:bodyPr rtlCol="0" anchor="ctr"/>
          <a:lstStyle/>
          <a:p>
            <a:endParaRPr lang="en-US">
              <a:solidFill>
                <a:srgbClr val="FFFFFF"/>
              </a:solidFill>
            </a:endParaRPr>
          </a:p>
        </p:txBody>
      </p:sp>
    </p:spTree>
    <p:extLst>
      <p:ext uri="{BB962C8B-B14F-4D97-AF65-F5344CB8AC3E}">
        <p14:creationId xmlns:p14="http://schemas.microsoft.com/office/powerpoint/2010/main" val="182006730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500"/>
                                  </p:stCondLst>
                                  <p:iterate>
                                    <p:tmPct val="10000"/>
                                  </p:iterate>
                                  <p:childTnLst>
                                    <p:set>
                                      <p:cBhvr>
                                        <p:cTn id="6" dur="1" fill="hold">
                                          <p:stCondLst>
                                            <p:cond delay="0"/>
                                          </p:stCondLst>
                                        </p:cTn>
                                        <p:tgtEl>
                                          <p:spTgt spid="2"/>
                                        </p:tgtEl>
                                        <p:attrNameLst>
                                          <p:attrName>style.visibility</p:attrName>
                                        </p:attrNameLst>
                                      </p:cBhvr>
                                      <p:to>
                                        <p:strVal val="visible"/>
                                      </p:to>
                                    </p:set>
                                    <p:animEffect transition="in" filter="fade">
                                      <p:cBhvr>
                                        <p:cTn id="7" dur="7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3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46451049-0CF2-7C84-C5D7-319194553078}"/>
            </a:ext>
          </a:extLst>
        </p:cNvPr>
        <p:cNvGrpSpPr/>
        <p:nvPr/>
      </p:nvGrpSpPr>
      <p:grpSpPr>
        <a:xfrm>
          <a:off x="0" y="0"/>
          <a:ext cx="0" cy="0"/>
          <a:chOff x="0" y="0"/>
          <a:chExt cx="0" cy="0"/>
        </a:xfrm>
      </p:grpSpPr>
      <p:sp>
        <p:nvSpPr>
          <p:cNvPr id="7" name="Rectangle 6">
            <a:extLst>
              <a:ext uri="{FF2B5EF4-FFF2-40B4-BE49-F238E27FC236}">
                <a16:creationId xmlns:a16="http://schemas.microsoft.com/office/drawing/2014/main" id="{1A3C89F8-0D2F-47FF-B903-151248265F4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gradFill flip="none" rotWithShape="1">
            <a:gsLst>
              <a:gs pos="0">
                <a:schemeClr val="accent1"/>
              </a:gs>
              <a:gs pos="100000">
                <a:schemeClr val="accent2"/>
              </a:gs>
            </a:gsLst>
            <a:lin ang="81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FFFFFF"/>
              </a:solidFill>
            </a:endParaRPr>
          </a:p>
        </p:txBody>
      </p:sp>
      <p:sp>
        <p:nvSpPr>
          <p:cNvPr id="2" name="Title 1">
            <a:extLst>
              <a:ext uri="{FF2B5EF4-FFF2-40B4-BE49-F238E27FC236}">
                <a16:creationId xmlns:a16="http://schemas.microsoft.com/office/drawing/2014/main" id="{D3452C65-D395-0B25-1242-861D2C2AFD10}"/>
              </a:ext>
            </a:extLst>
          </p:cNvPr>
          <p:cNvSpPr>
            <a:spLocks noGrp="1"/>
          </p:cNvSpPr>
          <p:nvPr>
            <p:ph type="title"/>
          </p:nvPr>
        </p:nvSpPr>
        <p:spPr>
          <a:xfrm>
            <a:off x="3880430" y="583345"/>
            <a:ext cx="7160357" cy="4164820"/>
          </a:xfrm>
        </p:spPr>
        <p:txBody>
          <a:bodyPr vert="horz" lIns="91440" tIns="45720" rIns="91440" bIns="45720" rtlCol="0" anchor="t">
            <a:normAutofit/>
          </a:bodyPr>
          <a:lstStyle/>
          <a:p>
            <a:pPr algn="r"/>
            <a:r>
              <a:rPr lang="en-US" sz="8000" kern="1200" dirty="0">
                <a:solidFill>
                  <a:srgbClr val="FFFFFF"/>
                </a:solidFill>
                <a:latin typeface="+mj-lt"/>
                <a:ea typeface="+mj-ea"/>
                <a:cs typeface="+mj-cs"/>
              </a:rPr>
              <a:t>Tool Calling in Agents</a:t>
            </a:r>
          </a:p>
        </p:txBody>
      </p:sp>
      <p:sp>
        <p:nvSpPr>
          <p:cNvPr id="9" name="Graphic 13">
            <a:extLst>
              <a:ext uri="{FF2B5EF4-FFF2-40B4-BE49-F238E27FC236}">
                <a16:creationId xmlns:a16="http://schemas.microsoft.com/office/drawing/2014/main" id="{C5CB530E-515E-412C-9DF1-5F8FFBD6F38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474359" y="583345"/>
            <a:ext cx="139039" cy="139039"/>
          </a:xfrm>
          <a:custGeom>
            <a:avLst/>
            <a:gdLst>
              <a:gd name="connsiteX0" fmla="*/ 129602 w 139039"/>
              <a:gd name="connsiteY0" fmla="*/ 60082 h 139039"/>
              <a:gd name="connsiteX1" fmla="*/ 78957 w 139039"/>
              <a:gd name="connsiteY1" fmla="*/ 60082 h 139039"/>
              <a:gd name="connsiteX2" fmla="*/ 78957 w 139039"/>
              <a:gd name="connsiteY2" fmla="*/ 9437 h 139039"/>
              <a:gd name="connsiteX3" fmla="*/ 69520 w 139039"/>
              <a:gd name="connsiteY3" fmla="*/ 0 h 139039"/>
              <a:gd name="connsiteX4" fmla="*/ 60082 w 139039"/>
              <a:gd name="connsiteY4" fmla="*/ 9437 h 139039"/>
              <a:gd name="connsiteX5" fmla="*/ 60082 w 139039"/>
              <a:gd name="connsiteY5" fmla="*/ 60082 h 139039"/>
              <a:gd name="connsiteX6" fmla="*/ 9437 w 139039"/>
              <a:gd name="connsiteY6" fmla="*/ 60082 h 139039"/>
              <a:gd name="connsiteX7" fmla="*/ 0 w 139039"/>
              <a:gd name="connsiteY7" fmla="*/ 69520 h 139039"/>
              <a:gd name="connsiteX8" fmla="*/ 9437 w 139039"/>
              <a:gd name="connsiteY8" fmla="*/ 78957 h 139039"/>
              <a:gd name="connsiteX9" fmla="*/ 60082 w 139039"/>
              <a:gd name="connsiteY9" fmla="*/ 78957 h 139039"/>
              <a:gd name="connsiteX10" fmla="*/ 60082 w 139039"/>
              <a:gd name="connsiteY10" fmla="*/ 129602 h 139039"/>
              <a:gd name="connsiteX11" fmla="*/ 69520 w 139039"/>
              <a:gd name="connsiteY11" fmla="*/ 139039 h 139039"/>
              <a:gd name="connsiteX12" fmla="*/ 78957 w 139039"/>
              <a:gd name="connsiteY12" fmla="*/ 129602 h 139039"/>
              <a:gd name="connsiteX13" fmla="*/ 78957 w 139039"/>
              <a:gd name="connsiteY13" fmla="*/ 78957 h 139039"/>
              <a:gd name="connsiteX14" fmla="*/ 129602 w 139039"/>
              <a:gd name="connsiteY14" fmla="*/ 78957 h 139039"/>
              <a:gd name="connsiteX15" fmla="*/ 139039 w 139039"/>
              <a:gd name="connsiteY15" fmla="*/ 69520 h 139039"/>
              <a:gd name="connsiteX16" fmla="*/ 129602 w 139039"/>
              <a:gd name="connsiteY16" fmla="*/ 60082 h 1390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39039" h="139039">
                <a:moveTo>
                  <a:pt x="129602" y="60082"/>
                </a:moveTo>
                <a:lnTo>
                  <a:pt x="78957" y="60082"/>
                </a:lnTo>
                <a:lnTo>
                  <a:pt x="78957" y="9437"/>
                </a:lnTo>
                <a:cubicBezTo>
                  <a:pt x="78957" y="4225"/>
                  <a:pt x="74731" y="0"/>
                  <a:pt x="69520" y="0"/>
                </a:cubicBezTo>
                <a:cubicBezTo>
                  <a:pt x="64308" y="0"/>
                  <a:pt x="60082" y="4225"/>
                  <a:pt x="60082" y="9437"/>
                </a:cubicBezTo>
                <a:lnTo>
                  <a:pt x="60082" y="60082"/>
                </a:lnTo>
                <a:lnTo>
                  <a:pt x="9437" y="60082"/>
                </a:lnTo>
                <a:cubicBezTo>
                  <a:pt x="4225" y="60082"/>
                  <a:pt x="0" y="64308"/>
                  <a:pt x="0" y="69520"/>
                </a:cubicBezTo>
                <a:cubicBezTo>
                  <a:pt x="0" y="74731"/>
                  <a:pt x="4225" y="78957"/>
                  <a:pt x="9437" y="78957"/>
                </a:cubicBezTo>
                <a:lnTo>
                  <a:pt x="60082" y="78957"/>
                </a:lnTo>
                <a:lnTo>
                  <a:pt x="60082" y="129602"/>
                </a:lnTo>
                <a:cubicBezTo>
                  <a:pt x="60082" y="134814"/>
                  <a:pt x="64308" y="139039"/>
                  <a:pt x="69520" y="139039"/>
                </a:cubicBezTo>
                <a:cubicBezTo>
                  <a:pt x="74731" y="139039"/>
                  <a:pt x="78957" y="134814"/>
                  <a:pt x="78957" y="129602"/>
                </a:cubicBezTo>
                <a:lnTo>
                  <a:pt x="78957" y="78957"/>
                </a:lnTo>
                <a:lnTo>
                  <a:pt x="129602" y="78957"/>
                </a:lnTo>
                <a:cubicBezTo>
                  <a:pt x="134814" y="78957"/>
                  <a:pt x="139039" y="74731"/>
                  <a:pt x="139039" y="69520"/>
                </a:cubicBezTo>
                <a:cubicBezTo>
                  <a:pt x="139039" y="64308"/>
                  <a:pt x="134814" y="60082"/>
                  <a:pt x="129602" y="60082"/>
                </a:cubicBezTo>
                <a:close/>
              </a:path>
            </a:pathLst>
          </a:custGeom>
          <a:solidFill>
            <a:srgbClr val="FFFFFF"/>
          </a:solidFill>
          <a:ln w="603" cap="flat">
            <a:noFill/>
            <a:prstDash val="solid"/>
            <a:miter/>
          </a:ln>
        </p:spPr>
        <p:txBody>
          <a:bodyPr rtlCol="0" anchor="ctr"/>
          <a:lstStyle/>
          <a:p>
            <a:endParaRPr lang="en-US">
              <a:solidFill>
                <a:srgbClr val="FFFFFF"/>
              </a:solidFill>
            </a:endParaRPr>
          </a:p>
        </p:txBody>
      </p:sp>
      <p:sp>
        <p:nvSpPr>
          <p:cNvPr id="11" name="Graphic 12">
            <a:extLst>
              <a:ext uri="{FF2B5EF4-FFF2-40B4-BE49-F238E27FC236}">
                <a16:creationId xmlns:a16="http://schemas.microsoft.com/office/drawing/2014/main" id="{712D4376-A578-4FF1-94FC-245E7A6A489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833139" y="812640"/>
            <a:ext cx="91138" cy="91138"/>
          </a:xfrm>
          <a:custGeom>
            <a:avLst/>
            <a:gdLst>
              <a:gd name="connsiteX0" fmla="*/ 91138 w 91138"/>
              <a:gd name="connsiteY0" fmla="*/ 45569 h 91138"/>
              <a:gd name="connsiteX1" fmla="*/ 45569 w 91138"/>
              <a:gd name="connsiteY1" fmla="*/ 91138 h 91138"/>
              <a:gd name="connsiteX2" fmla="*/ 0 w 91138"/>
              <a:gd name="connsiteY2" fmla="*/ 45569 h 91138"/>
              <a:gd name="connsiteX3" fmla="*/ 45569 w 91138"/>
              <a:gd name="connsiteY3" fmla="*/ 0 h 91138"/>
              <a:gd name="connsiteX4" fmla="*/ 91138 w 91138"/>
              <a:gd name="connsiteY4" fmla="*/ 45569 h 911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1138" h="91138">
                <a:moveTo>
                  <a:pt x="91138" y="45569"/>
                </a:moveTo>
                <a:cubicBezTo>
                  <a:pt x="91138" y="70736"/>
                  <a:pt x="70736" y="91138"/>
                  <a:pt x="45569" y="91138"/>
                </a:cubicBezTo>
                <a:cubicBezTo>
                  <a:pt x="20402" y="91138"/>
                  <a:pt x="0" y="70736"/>
                  <a:pt x="0" y="45569"/>
                </a:cubicBezTo>
                <a:cubicBezTo>
                  <a:pt x="0" y="20402"/>
                  <a:pt x="20402" y="0"/>
                  <a:pt x="45569" y="0"/>
                </a:cubicBezTo>
                <a:cubicBezTo>
                  <a:pt x="70736" y="0"/>
                  <a:pt x="91138" y="20402"/>
                  <a:pt x="91138" y="45569"/>
                </a:cubicBezTo>
                <a:close/>
              </a:path>
            </a:pathLst>
          </a:custGeom>
          <a:solidFill>
            <a:srgbClr val="FFFFFF"/>
          </a:solidFill>
          <a:ln w="422" cap="flat">
            <a:noFill/>
            <a:prstDash val="solid"/>
            <a:miter/>
          </a:ln>
        </p:spPr>
        <p:txBody>
          <a:bodyPr rtlCol="0" anchor="ctr"/>
          <a:lstStyle/>
          <a:p>
            <a:endParaRPr lang="en-US">
              <a:solidFill>
                <a:srgbClr val="FFFFFF"/>
              </a:solidFill>
            </a:endParaRPr>
          </a:p>
        </p:txBody>
      </p:sp>
      <p:sp>
        <p:nvSpPr>
          <p:cNvPr id="13" name="Graphic 15">
            <a:extLst>
              <a:ext uri="{FF2B5EF4-FFF2-40B4-BE49-F238E27FC236}">
                <a16:creationId xmlns:a16="http://schemas.microsoft.com/office/drawing/2014/main" id="{AEA7509D-F04F-40CB-A0B3-EEF16499CC9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458819" y="1037066"/>
            <a:ext cx="127714" cy="127714"/>
          </a:xfrm>
          <a:custGeom>
            <a:avLst/>
            <a:gdLst>
              <a:gd name="connsiteX0" fmla="*/ 63857 w 127714"/>
              <a:gd name="connsiteY0" fmla="*/ 18874 h 127714"/>
              <a:gd name="connsiteX1" fmla="*/ 108840 w 127714"/>
              <a:gd name="connsiteY1" fmla="*/ 63857 h 127714"/>
              <a:gd name="connsiteX2" fmla="*/ 63857 w 127714"/>
              <a:gd name="connsiteY2" fmla="*/ 108840 h 127714"/>
              <a:gd name="connsiteX3" fmla="*/ 18874 w 127714"/>
              <a:gd name="connsiteY3" fmla="*/ 63857 h 127714"/>
              <a:gd name="connsiteX4" fmla="*/ 63857 w 127714"/>
              <a:gd name="connsiteY4" fmla="*/ 18874 h 127714"/>
              <a:gd name="connsiteX5" fmla="*/ 63857 w 127714"/>
              <a:gd name="connsiteY5" fmla="*/ 0 h 127714"/>
              <a:gd name="connsiteX6" fmla="*/ 0 w 127714"/>
              <a:gd name="connsiteY6" fmla="*/ 63857 h 127714"/>
              <a:gd name="connsiteX7" fmla="*/ 63857 w 127714"/>
              <a:gd name="connsiteY7" fmla="*/ 127714 h 127714"/>
              <a:gd name="connsiteX8" fmla="*/ 127714 w 127714"/>
              <a:gd name="connsiteY8" fmla="*/ 63857 h 127714"/>
              <a:gd name="connsiteX9" fmla="*/ 63857 w 127714"/>
              <a:gd name="connsiteY9" fmla="*/ 0 h 1277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27714" h="127714">
                <a:moveTo>
                  <a:pt x="63857" y="18874"/>
                </a:moveTo>
                <a:cubicBezTo>
                  <a:pt x="88700" y="18874"/>
                  <a:pt x="108840" y="39014"/>
                  <a:pt x="108840" y="63857"/>
                </a:cubicBezTo>
                <a:cubicBezTo>
                  <a:pt x="108840" y="88700"/>
                  <a:pt x="88700" y="108840"/>
                  <a:pt x="63857" y="108840"/>
                </a:cubicBezTo>
                <a:cubicBezTo>
                  <a:pt x="39014" y="108840"/>
                  <a:pt x="18874" y="88700"/>
                  <a:pt x="18874" y="63857"/>
                </a:cubicBezTo>
                <a:cubicBezTo>
                  <a:pt x="18898" y="39024"/>
                  <a:pt x="39024" y="18898"/>
                  <a:pt x="63857" y="18874"/>
                </a:cubicBezTo>
                <a:moveTo>
                  <a:pt x="63857" y="0"/>
                </a:moveTo>
                <a:cubicBezTo>
                  <a:pt x="28590" y="0"/>
                  <a:pt x="0" y="28590"/>
                  <a:pt x="0" y="63857"/>
                </a:cubicBezTo>
                <a:cubicBezTo>
                  <a:pt x="0" y="99124"/>
                  <a:pt x="28590" y="127714"/>
                  <a:pt x="63857" y="127714"/>
                </a:cubicBezTo>
                <a:cubicBezTo>
                  <a:pt x="99124" y="127714"/>
                  <a:pt x="127714" y="99124"/>
                  <a:pt x="127714" y="63857"/>
                </a:cubicBezTo>
                <a:cubicBezTo>
                  <a:pt x="127714" y="28590"/>
                  <a:pt x="99124" y="0"/>
                  <a:pt x="63857" y="0"/>
                </a:cubicBezTo>
                <a:close/>
              </a:path>
            </a:pathLst>
          </a:custGeom>
          <a:solidFill>
            <a:srgbClr val="FFFFFF"/>
          </a:solidFill>
          <a:ln w="610" cap="flat">
            <a:noFill/>
            <a:prstDash val="solid"/>
            <a:miter/>
          </a:ln>
        </p:spPr>
        <p:txBody>
          <a:bodyPr rtlCol="0" anchor="ctr"/>
          <a:lstStyle/>
          <a:p>
            <a:endParaRPr lang="en-US">
              <a:solidFill>
                <a:srgbClr val="FFFFFF"/>
              </a:solidFill>
            </a:endParaRPr>
          </a:p>
        </p:txBody>
      </p:sp>
      <p:cxnSp>
        <p:nvCxnSpPr>
          <p:cNvPr id="15" name="Straight Connector 14">
            <a:extLst>
              <a:ext uri="{FF2B5EF4-FFF2-40B4-BE49-F238E27FC236}">
                <a16:creationId xmlns:a16="http://schemas.microsoft.com/office/drawing/2014/main" id="{56020367-4FD5-4596-8E10-C5F095CD8DBF}"/>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856114" y="3503032"/>
            <a:ext cx="0" cy="3346090"/>
          </a:xfrm>
          <a:prstGeom prst="line">
            <a:avLst/>
          </a:prstGeom>
          <a:ln w="25400" cap="sq">
            <a:solidFill>
              <a:srgbClr val="FFFFFF"/>
            </a:solidFill>
            <a:bevel/>
          </a:ln>
        </p:spPr>
        <p:style>
          <a:lnRef idx="1">
            <a:schemeClr val="accent1"/>
          </a:lnRef>
          <a:fillRef idx="0">
            <a:schemeClr val="accent1"/>
          </a:fillRef>
          <a:effectRef idx="0">
            <a:schemeClr val="accent1"/>
          </a:effectRef>
          <a:fontRef idx="minor">
            <a:schemeClr val="tx1"/>
          </a:fontRef>
        </p:style>
      </p:cxnSp>
      <p:sp>
        <p:nvSpPr>
          <p:cNvPr id="17" name="Graphic 22">
            <a:extLst>
              <a:ext uri="{FF2B5EF4-FFF2-40B4-BE49-F238E27FC236}">
                <a16:creationId xmlns:a16="http://schemas.microsoft.com/office/drawing/2014/main" id="{508BEF50-7B1E-49A4-BC19-5F4F1D755E6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0836425" y="5636680"/>
            <a:ext cx="151536" cy="151536"/>
          </a:xfrm>
          <a:custGeom>
            <a:avLst/>
            <a:gdLst>
              <a:gd name="connsiteX0" fmla="*/ 141251 w 151536"/>
              <a:gd name="connsiteY0" fmla="*/ 65483 h 151536"/>
              <a:gd name="connsiteX1" fmla="*/ 86053 w 151536"/>
              <a:gd name="connsiteY1" fmla="*/ 65483 h 151536"/>
              <a:gd name="connsiteX2" fmla="*/ 86053 w 151536"/>
              <a:gd name="connsiteY2" fmla="*/ 10285 h 151536"/>
              <a:gd name="connsiteX3" fmla="*/ 75768 w 151536"/>
              <a:gd name="connsiteY3" fmla="*/ 0 h 151536"/>
              <a:gd name="connsiteX4" fmla="*/ 65483 w 151536"/>
              <a:gd name="connsiteY4" fmla="*/ 10285 h 151536"/>
              <a:gd name="connsiteX5" fmla="*/ 65483 w 151536"/>
              <a:gd name="connsiteY5" fmla="*/ 65483 h 151536"/>
              <a:gd name="connsiteX6" fmla="*/ 10285 w 151536"/>
              <a:gd name="connsiteY6" fmla="*/ 65483 h 151536"/>
              <a:gd name="connsiteX7" fmla="*/ 0 w 151536"/>
              <a:gd name="connsiteY7" fmla="*/ 75768 h 151536"/>
              <a:gd name="connsiteX8" fmla="*/ 10285 w 151536"/>
              <a:gd name="connsiteY8" fmla="*/ 86053 h 151536"/>
              <a:gd name="connsiteX9" fmla="*/ 65483 w 151536"/>
              <a:gd name="connsiteY9" fmla="*/ 86053 h 151536"/>
              <a:gd name="connsiteX10" fmla="*/ 65483 w 151536"/>
              <a:gd name="connsiteY10" fmla="*/ 141251 h 151536"/>
              <a:gd name="connsiteX11" fmla="*/ 75768 w 151536"/>
              <a:gd name="connsiteY11" fmla="*/ 151536 h 151536"/>
              <a:gd name="connsiteX12" fmla="*/ 86053 w 151536"/>
              <a:gd name="connsiteY12" fmla="*/ 141251 h 151536"/>
              <a:gd name="connsiteX13" fmla="*/ 86053 w 151536"/>
              <a:gd name="connsiteY13" fmla="*/ 86053 h 151536"/>
              <a:gd name="connsiteX14" fmla="*/ 141251 w 151536"/>
              <a:gd name="connsiteY14" fmla="*/ 86053 h 151536"/>
              <a:gd name="connsiteX15" fmla="*/ 151536 w 151536"/>
              <a:gd name="connsiteY15" fmla="*/ 75768 h 151536"/>
              <a:gd name="connsiteX16" fmla="*/ 141251 w 151536"/>
              <a:gd name="connsiteY16" fmla="*/ 65483 h 1515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51536" h="151536">
                <a:moveTo>
                  <a:pt x="141251" y="65483"/>
                </a:moveTo>
                <a:lnTo>
                  <a:pt x="86053" y="65483"/>
                </a:lnTo>
                <a:lnTo>
                  <a:pt x="86053" y="10285"/>
                </a:lnTo>
                <a:cubicBezTo>
                  <a:pt x="86053" y="4605"/>
                  <a:pt x="81448" y="0"/>
                  <a:pt x="75768" y="0"/>
                </a:cubicBezTo>
                <a:cubicBezTo>
                  <a:pt x="70088" y="0"/>
                  <a:pt x="65483" y="4605"/>
                  <a:pt x="65483" y="10285"/>
                </a:cubicBezTo>
                <a:lnTo>
                  <a:pt x="65483" y="65483"/>
                </a:lnTo>
                <a:lnTo>
                  <a:pt x="10285" y="65483"/>
                </a:lnTo>
                <a:cubicBezTo>
                  <a:pt x="4605" y="65483"/>
                  <a:pt x="0" y="70088"/>
                  <a:pt x="0" y="75768"/>
                </a:cubicBezTo>
                <a:cubicBezTo>
                  <a:pt x="0" y="81448"/>
                  <a:pt x="4605" y="86053"/>
                  <a:pt x="10285" y="86053"/>
                </a:cubicBezTo>
                <a:lnTo>
                  <a:pt x="65483" y="86053"/>
                </a:lnTo>
                <a:lnTo>
                  <a:pt x="65483" y="141251"/>
                </a:lnTo>
                <a:cubicBezTo>
                  <a:pt x="65483" y="146931"/>
                  <a:pt x="70088" y="151536"/>
                  <a:pt x="75768" y="151536"/>
                </a:cubicBezTo>
                <a:cubicBezTo>
                  <a:pt x="81448" y="151536"/>
                  <a:pt x="86053" y="146931"/>
                  <a:pt x="86053" y="141251"/>
                </a:cubicBezTo>
                <a:lnTo>
                  <a:pt x="86053" y="86053"/>
                </a:lnTo>
                <a:lnTo>
                  <a:pt x="141251" y="86053"/>
                </a:lnTo>
                <a:cubicBezTo>
                  <a:pt x="146931" y="86053"/>
                  <a:pt x="151536" y="81448"/>
                  <a:pt x="151536" y="75768"/>
                </a:cubicBezTo>
                <a:cubicBezTo>
                  <a:pt x="151536" y="70088"/>
                  <a:pt x="146931" y="65483"/>
                  <a:pt x="141251" y="65483"/>
                </a:cubicBezTo>
                <a:close/>
              </a:path>
            </a:pathLst>
          </a:custGeom>
          <a:solidFill>
            <a:srgbClr val="FFFFFF"/>
          </a:solidFill>
          <a:ln w="646" cap="flat">
            <a:noFill/>
            <a:prstDash val="solid"/>
            <a:miter/>
          </a:ln>
        </p:spPr>
        <p:txBody>
          <a:bodyPr rtlCol="0" anchor="ctr"/>
          <a:lstStyle/>
          <a:p>
            <a:endParaRPr lang="en-US">
              <a:solidFill>
                <a:srgbClr val="FFFFFF"/>
              </a:solidFill>
            </a:endParaRPr>
          </a:p>
        </p:txBody>
      </p:sp>
      <p:sp>
        <p:nvSpPr>
          <p:cNvPr id="19" name="Graphic 23">
            <a:extLst>
              <a:ext uri="{FF2B5EF4-FFF2-40B4-BE49-F238E27FC236}">
                <a16:creationId xmlns:a16="http://schemas.microsoft.com/office/drawing/2014/main" id="{3FBAD350-5664-4811-A208-657FB882D35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1245175" y="6096759"/>
            <a:ext cx="108625" cy="108625"/>
          </a:xfrm>
          <a:custGeom>
            <a:avLst/>
            <a:gdLst>
              <a:gd name="connsiteX0" fmla="*/ 54313 w 108625"/>
              <a:gd name="connsiteY0" fmla="*/ 16053 h 108625"/>
              <a:gd name="connsiteX1" fmla="*/ 92572 w 108625"/>
              <a:gd name="connsiteY1" fmla="*/ 54313 h 108625"/>
              <a:gd name="connsiteX2" fmla="*/ 54313 w 108625"/>
              <a:gd name="connsiteY2" fmla="*/ 92572 h 108625"/>
              <a:gd name="connsiteX3" fmla="*/ 16053 w 108625"/>
              <a:gd name="connsiteY3" fmla="*/ 54313 h 108625"/>
              <a:gd name="connsiteX4" fmla="*/ 54313 w 108625"/>
              <a:gd name="connsiteY4" fmla="*/ 16053 h 108625"/>
              <a:gd name="connsiteX5" fmla="*/ 54313 w 108625"/>
              <a:gd name="connsiteY5" fmla="*/ 0 h 108625"/>
              <a:gd name="connsiteX6" fmla="*/ 0 w 108625"/>
              <a:gd name="connsiteY6" fmla="*/ 54313 h 108625"/>
              <a:gd name="connsiteX7" fmla="*/ 54313 w 108625"/>
              <a:gd name="connsiteY7" fmla="*/ 108625 h 108625"/>
              <a:gd name="connsiteX8" fmla="*/ 108625 w 108625"/>
              <a:gd name="connsiteY8" fmla="*/ 54313 h 108625"/>
              <a:gd name="connsiteX9" fmla="*/ 54313 w 108625"/>
              <a:gd name="connsiteY9" fmla="*/ 0 h 1086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08625" h="108625">
                <a:moveTo>
                  <a:pt x="54313" y="16053"/>
                </a:moveTo>
                <a:cubicBezTo>
                  <a:pt x="75442" y="16053"/>
                  <a:pt x="92572" y="33182"/>
                  <a:pt x="92572" y="54313"/>
                </a:cubicBezTo>
                <a:cubicBezTo>
                  <a:pt x="92572" y="75442"/>
                  <a:pt x="75442" y="92572"/>
                  <a:pt x="54313" y="92572"/>
                </a:cubicBezTo>
                <a:cubicBezTo>
                  <a:pt x="33182" y="92572"/>
                  <a:pt x="16053" y="75442"/>
                  <a:pt x="16053" y="54313"/>
                </a:cubicBezTo>
                <a:cubicBezTo>
                  <a:pt x="16074" y="33191"/>
                  <a:pt x="33191" y="16074"/>
                  <a:pt x="54313" y="16053"/>
                </a:cubicBezTo>
                <a:moveTo>
                  <a:pt x="54313" y="0"/>
                </a:moveTo>
                <a:cubicBezTo>
                  <a:pt x="24317" y="0"/>
                  <a:pt x="0" y="24317"/>
                  <a:pt x="0" y="54313"/>
                </a:cubicBezTo>
                <a:cubicBezTo>
                  <a:pt x="0" y="84309"/>
                  <a:pt x="24317" y="108625"/>
                  <a:pt x="54313" y="108625"/>
                </a:cubicBezTo>
                <a:cubicBezTo>
                  <a:pt x="84309" y="108625"/>
                  <a:pt x="108625" y="84309"/>
                  <a:pt x="108625" y="54313"/>
                </a:cubicBezTo>
                <a:cubicBezTo>
                  <a:pt x="108625" y="24317"/>
                  <a:pt x="84309" y="0"/>
                  <a:pt x="54313" y="0"/>
                </a:cubicBezTo>
                <a:close/>
              </a:path>
            </a:pathLst>
          </a:custGeom>
          <a:solidFill>
            <a:srgbClr val="FFFFFF"/>
          </a:solidFill>
          <a:ln w="516" cap="flat">
            <a:noFill/>
            <a:prstDash val="solid"/>
            <a:miter/>
          </a:ln>
        </p:spPr>
        <p:txBody>
          <a:bodyPr rtlCol="0" anchor="ctr"/>
          <a:lstStyle/>
          <a:p>
            <a:endParaRPr lang="en-US">
              <a:solidFill>
                <a:srgbClr val="FFFFFF"/>
              </a:solidFill>
            </a:endParaRPr>
          </a:p>
        </p:txBody>
      </p:sp>
      <p:sp>
        <p:nvSpPr>
          <p:cNvPr id="21" name="Graphic 21">
            <a:extLst>
              <a:ext uri="{FF2B5EF4-FFF2-40B4-BE49-F238E27FC236}">
                <a16:creationId xmlns:a16="http://schemas.microsoft.com/office/drawing/2014/main" id="{C39ADB8F-D187-49D7-BDCF-C1B6DC72706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0554288" y="6238029"/>
            <a:ext cx="95759" cy="95759"/>
          </a:xfrm>
          <a:custGeom>
            <a:avLst/>
            <a:gdLst>
              <a:gd name="connsiteX0" fmla="*/ 95759 w 95759"/>
              <a:gd name="connsiteY0" fmla="*/ 47880 h 95759"/>
              <a:gd name="connsiteX1" fmla="*/ 47880 w 95759"/>
              <a:gd name="connsiteY1" fmla="*/ 95759 h 95759"/>
              <a:gd name="connsiteX2" fmla="*/ 0 w 95759"/>
              <a:gd name="connsiteY2" fmla="*/ 47880 h 95759"/>
              <a:gd name="connsiteX3" fmla="*/ 47880 w 95759"/>
              <a:gd name="connsiteY3" fmla="*/ 0 h 95759"/>
              <a:gd name="connsiteX4" fmla="*/ 95759 w 95759"/>
              <a:gd name="connsiteY4" fmla="*/ 47880 h 9575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5759" h="95759">
                <a:moveTo>
                  <a:pt x="95759" y="47880"/>
                </a:moveTo>
                <a:cubicBezTo>
                  <a:pt x="95759" y="74323"/>
                  <a:pt x="74323" y="95759"/>
                  <a:pt x="47880" y="95759"/>
                </a:cubicBezTo>
                <a:cubicBezTo>
                  <a:pt x="21436" y="95759"/>
                  <a:pt x="0" y="74323"/>
                  <a:pt x="0" y="47880"/>
                </a:cubicBezTo>
                <a:cubicBezTo>
                  <a:pt x="0" y="21436"/>
                  <a:pt x="21436" y="0"/>
                  <a:pt x="47880" y="0"/>
                </a:cubicBezTo>
                <a:cubicBezTo>
                  <a:pt x="74323" y="0"/>
                  <a:pt x="95759" y="21436"/>
                  <a:pt x="95759" y="47880"/>
                </a:cubicBezTo>
                <a:close/>
              </a:path>
            </a:pathLst>
          </a:custGeom>
          <a:solidFill>
            <a:srgbClr val="FFFFFF"/>
          </a:solidFill>
          <a:ln w="469" cap="flat">
            <a:noFill/>
            <a:prstDash val="solid"/>
            <a:miter/>
          </a:ln>
        </p:spPr>
        <p:txBody>
          <a:bodyPr rtlCol="0" anchor="ctr"/>
          <a:lstStyle/>
          <a:p>
            <a:endParaRPr lang="en-US">
              <a:solidFill>
                <a:srgbClr val="FFFFFF"/>
              </a:solidFill>
            </a:endParaRPr>
          </a:p>
        </p:txBody>
      </p:sp>
    </p:spTree>
    <p:extLst>
      <p:ext uri="{BB962C8B-B14F-4D97-AF65-F5344CB8AC3E}">
        <p14:creationId xmlns:p14="http://schemas.microsoft.com/office/powerpoint/2010/main" val="376050817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500"/>
                                  </p:stCondLst>
                                  <p:iterate>
                                    <p:tmPct val="10000"/>
                                  </p:iterate>
                                  <p:childTnLst>
                                    <p:set>
                                      <p:cBhvr>
                                        <p:cTn id="6" dur="1" fill="hold">
                                          <p:stCondLst>
                                            <p:cond delay="0"/>
                                          </p:stCondLst>
                                        </p:cTn>
                                        <p:tgtEl>
                                          <p:spTgt spid="2"/>
                                        </p:tgtEl>
                                        <p:attrNameLst>
                                          <p:attrName>style.visibility</p:attrName>
                                        </p:attrNameLst>
                                      </p:cBhvr>
                                      <p:to>
                                        <p:strVal val="visible"/>
                                      </p:to>
                                    </p:set>
                                    <p:animEffect transition="in" filter="fade">
                                      <p:cBhvr>
                                        <p:cTn id="7" dur="7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3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B14C2221-2B8C-494D-9442-F812DF4E879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1"/>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C56DCDC4-7D28-E962-53EF-FED5C7C77034}"/>
              </a:ext>
            </a:extLst>
          </p:cNvPr>
          <p:cNvSpPr>
            <a:spLocks noGrp="1"/>
          </p:cNvSpPr>
          <p:nvPr>
            <p:ph type="title"/>
          </p:nvPr>
        </p:nvSpPr>
        <p:spPr>
          <a:xfrm>
            <a:off x="838200" y="3513931"/>
            <a:ext cx="3143250" cy="2601119"/>
          </a:xfrm>
        </p:spPr>
        <p:txBody>
          <a:bodyPr anchor="t">
            <a:normAutofit/>
          </a:bodyPr>
          <a:lstStyle/>
          <a:p>
            <a:pPr algn="ctr"/>
            <a:r>
              <a:rPr lang="en-IN" sz="4000"/>
              <a:t>API Calls as Tools</a:t>
            </a:r>
          </a:p>
        </p:txBody>
      </p:sp>
      <p:pic>
        <p:nvPicPr>
          <p:cNvPr id="7" name="Graphic 6" descr="Laptop Secure">
            <a:extLst>
              <a:ext uri="{FF2B5EF4-FFF2-40B4-BE49-F238E27FC236}">
                <a16:creationId xmlns:a16="http://schemas.microsoft.com/office/drawing/2014/main" id="{50CCF240-A63D-A079-8DFB-D306BBBACFFC}"/>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1981200" y="2429670"/>
            <a:ext cx="914400" cy="914400"/>
          </a:xfrm>
          <a:prstGeom prst="rect">
            <a:avLst/>
          </a:prstGeom>
        </p:spPr>
      </p:pic>
      <p:sp>
        <p:nvSpPr>
          <p:cNvPr id="3" name="Content Placeholder 2">
            <a:extLst>
              <a:ext uri="{FF2B5EF4-FFF2-40B4-BE49-F238E27FC236}">
                <a16:creationId xmlns:a16="http://schemas.microsoft.com/office/drawing/2014/main" id="{EF91ECA8-078B-2586-EE25-DF2B8F146B68}"/>
              </a:ext>
            </a:extLst>
          </p:cNvPr>
          <p:cNvSpPr>
            <a:spLocks noGrp="1"/>
          </p:cNvSpPr>
          <p:nvPr>
            <p:ph idx="1"/>
          </p:nvPr>
        </p:nvSpPr>
        <p:spPr>
          <a:xfrm>
            <a:off x="4200652" y="730249"/>
            <a:ext cx="7153147" cy="5384801"/>
          </a:xfrm>
        </p:spPr>
        <p:txBody>
          <a:bodyPr anchor="ctr">
            <a:normAutofit/>
          </a:bodyPr>
          <a:lstStyle/>
          <a:p>
            <a:r>
              <a:rPr lang="en-US" sz="1700"/>
              <a:t>Agents often use </a:t>
            </a:r>
            <a:r>
              <a:rPr lang="en-US" sz="1700" b="1"/>
              <a:t>APIs to interact with external systems</a:t>
            </a:r>
            <a:r>
              <a:rPr lang="en-US" sz="1700"/>
              <a:t>.</a:t>
            </a:r>
          </a:p>
          <a:p>
            <a:r>
              <a:rPr lang="en-US" sz="1700"/>
              <a:t>An </a:t>
            </a:r>
            <a:r>
              <a:rPr lang="en-US" sz="1700" b="1"/>
              <a:t>API</a:t>
            </a:r>
            <a:r>
              <a:rPr lang="en-US" sz="1700"/>
              <a:t> is simply a way for software to </a:t>
            </a:r>
            <a:r>
              <a:rPr lang="en-US" sz="1700" b="1"/>
              <a:t>request information or perform actions</a:t>
            </a:r>
            <a:r>
              <a:rPr lang="en-US" sz="1700"/>
              <a:t>.</a:t>
            </a:r>
          </a:p>
          <a:p>
            <a:r>
              <a:rPr lang="en-US" sz="1700"/>
              <a:t>Example:</a:t>
            </a:r>
          </a:p>
          <a:p>
            <a:pPr marL="457200" lvl="1" indent="0">
              <a:buNone/>
            </a:pPr>
            <a:r>
              <a:rPr lang="en-US" sz="1700">
                <a:latin typeface="Cascadia Code" panose="020B0609020000020004" pitchFamily="49" charset="0"/>
                <a:cs typeface="Cascadia Code" panose="020B0609020000020004" pitchFamily="49" charset="0"/>
              </a:rPr>
              <a:t>Agent → API → System → Result</a:t>
            </a:r>
          </a:p>
          <a:p>
            <a:endParaRPr lang="en-US" sz="1700"/>
          </a:p>
          <a:p>
            <a:r>
              <a:rPr lang="en-US" sz="1700"/>
              <a:t>Example question:</a:t>
            </a:r>
          </a:p>
          <a:p>
            <a:pPr marL="457200" lvl="1" indent="0">
              <a:buNone/>
            </a:pPr>
            <a:r>
              <a:rPr lang="en-US" sz="1700">
                <a:latin typeface="Cascadia Code" panose="020B0609020000020004" pitchFamily="49" charset="0"/>
                <a:cs typeface="Cascadia Code" panose="020B0609020000020004" pitchFamily="49" charset="0"/>
              </a:rPr>
              <a:t>User: What is the current server status?</a:t>
            </a:r>
          </a:p>
          <a:p>
            <a:r>
              <a:rPr lang="en-US" sz="1700"/>
              <a:t>Agent may call:</a:t>
            </a:r>
          </a:p>
          <a:p>
            <a:pPr marL="457200" lvl="1" indent="0">
              <a:buNone/>
            </a:pPr>
            <a:r>
              <a:rPr lang="en-US" sz="1700">
                <a:latin typeface="Cascadia Code" panose="020B0609020000020004" pitchFamily="49" charset="0"/>
                <a:cs typeface="Cascadia Code" panose="020B0609020000020004" pitchFamily="49" charset="0"/>
              </a:rPr>
              <a:t>GET /server-status</a:t>
            </a:r>
          </a:p>
          <a:p>
            <a:r>
              <a:rPr lang="en-US" sz="1700"/>
              <a:t>Result returned:</a:t>
            </a:r>
          </a:p>
          <a:p>
            <a:pPr marL="457200" lvl="1" indent="0">
              <a:buNone/>
            </a:pPr>
            <a:r>
              <a:rPr lang="en-US" sz="1700">
                <a:latin typeface="Cascadia Code" panose="020B0609020000020004" pitchFamily="49" charset="0"/>
                <a:cs typeface="Cascadia Code" panose="020B0609020000020004" pitchFamily="49" charset="0"/>
              </a:rPr>
              <a:t>CPU: 70%</a:t>
            </a:r>
          </a:p>
          <a:p>
            <a:pPr marL="457200" lvl="1" indent="0">
              <a:buNone/>
            </a:pPr>
            <a:r>
              <a:rPr lang="en-US" sz="1700">
                <a:latin typeface="Cascadia Code" panose="020B0609020000020004" pitchFamily="49" charset="0"/>
                <a:cs typeface="Cascadia Code" panose="020B0609020000020004" pitchFamily="49" charset="0"/>
              </a:rPr>
              <a:t>Errors: 3</a:t>
            </a:r>
          </a:p>
          <a:p>
            <a:r>
              <a:rPr lang="en-US" sz="1700"/>
              <a:t>The agent then uses this information to generate an answer.</a:t>
            </a:r>
          </a:p>
          <a:p>
            <a:r>
              <a:rPr lang="en-US" sz="1700" b="1"/>
              <a:t>Simple idea</a:t>
            </a:r>
            <a:endParaRPr lang="en-US" sz="1700"/>
          </a:p>
          <a:p>
            <a:pPr marL="457200" lvl="1" indent="0">
              <a:buNone/>
            </a:pPr>
            <a:r>
              <a:rPr lang="en-US" sz="1700">
                <a:latin typeface="Cascadia Code" panose="020B0609020000020004" pitchFamily="49" charset="0"/>
                <a:cs typeface="Cascadia Code" panose="020B0609020000020004" pitchFamily="49" charset="0"/>
              </a:rPr>
              <a:t>API = a doorway to another system</a:t>
            </a:r>
          </a:p>
          <a:p>
            <a:endParaRPr lang="en-IN" sz="1700"/>
          </a:p>
        </p:txBody>
      </p:sp>
    </p:spTree>
    <p:extLst>
      <p:ext uri="{BB962C8B-B14F-4D97-AF65-F5344CB8AC3E}">
        <p14:creationId xmlns:p14="http://schemas.microsoft.com/office/powerpoint/2010/main" val="573688480"/>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B14C2221-2B8C-494D-9442-F812DF4E879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1"/>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E94FA526-FF30-91F3-2961-16C51BA65930}"/>
              </a:ext>
            </a:extLst>
          </p:cNvPr>
          <p:cNvSpPr>
            <a:spLocks noGrp="1"/>
          </p:cNvSpPr>
          <p:nvPr>
            <p:ph type="title"/>
          </p:nvPr>
        </p:nvSpPr>
        <p:spPr>
          <a:xfrm>
            <a:off x="838200" y="3513931"/>
            <a:ext cx="3143250" cy="2601119"/>
          </a:xfrm>
        </p:spPr>
        <p:txBody>
          <a:bodyPr anchor="t">
            <a:normAutofit/>
          </a:bodyPr>
          <a:lstStyle/>
          <a:p>
            <a:pPr algn="ctr"/>
            <a:r>
              <a:rPr lang="en-IN" sz="4000" dirty="0"/>
              <a:t>Internal Service Calls</a:t>
            </a:r>
          </a:p>
        </p:txBody>
      </p:sp>
      <p:pic>
        <p:nvPicPr>
          <p:cNvPr id="7" name="Graphic 6" descr="Laptop Secure">
            <a:extLst>
              <a:ext uri="{FF2B5EF4-FFF2-40B4-BE49-F238E27FC236}">
                <a16:creationId xmlns:a16="http://schemas.microsoft.com/office/drawing/2014/main" id="{F7F39ED7-657E-8776-B08A-0E001F792387}"/>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1981200" y="2429670"/>
            <a:ext cx="914400" cy="914400"/>
          </a:xfrm>
          <a:prstGeom prst="rect">
            <a:avLst/>
          </a:prstGeom>
        </p:spPr>
      </p:pic>
      <p:sp>
        <p:nvSpPr>
          <p:cNvPr id="3" name="Content Placeholder 2">
            <a:extLst>
              <a:ext uri="{FF2B5EF4-FFF2-40B4-BE49-F238E27FC236}">
                <a16:creationId xmlns:a16="http://schemas.microsoft.com/office/drawing/2014/main" id="{EFFD07C2-834E-0C46-73BB-E39A6B4734F9}"/>
              </a:ext>
            </a:extLst>
          </p:cNvPr>
          <p:cNvSpPr>
            <a:spLocks noGrp="1"/>
          </p:cNvSpPr>
          <p:nvPr>
            <p:ph idx="1"/>
          </p:nvPr>
        </p:nvSpPr>
        <p:spPr>
          <a:xfrm>
            <a:off x="4200652" y="730249"/>
            <a:ext cx="7153147" cy="5384801"/>
          </a:xfrm>
        </p:spPr>
        <p:txBody>
          <a:bodyPr anchor="ctr">
            <a:normAutofit/>
          </a:bodyPr>
          <a:lstStyle/>
          <a:p>
            <a:r>
              <a:rPr lang="en-US" sz="1700" dirty="0"/>
              <a:t>Sometimes the agent calls </a:t>
            </a:r>
            <a:r>
              <a:rPr lang="en-US" sz="1700" b="1" dirty="0"/>
              <a:t>services inside the same system</a:t>
            </a:r>
            <a:r>
              <a:rPr lang="en-US" sz="1700" dirty="0"/>
              <a:t> instead of external APIs.</a:t>
            </a:r>
          </a:p>
          <a:p>
            <a:r>
              <a:rPr lang="en-US" sz="1700" dirty="0"/>
              <a:t>These are called </a:t>
            </a:r>
            <a:r>
              <a:rPr lang="en-US" sz="1700" b="1" dirty="0"/>
              <a:t>internal services</a:t>
            </a:r>
            <a:r>
              <a:rPr lang="en-US" sz="1700" dirty="0"/>
              <a:t>.</a:t>
            </a:r>
          </a:p>
          <a:p>
            <a:endParaRPr lang="en-US" sz="1700" dirty="0"/>
          </a:p>
          <a:p>
            <a:r>
              <a:rPr lang="en-US" sz="1700" dirty="0"/>
              <a:t>Example architecture:</a:t>
            </a:r>
          </a:p>
          <a:p>
            <a:pPr marL="457200" lvl="1" indent="0">
              <a:buNone/>
            </a:pPr>
            <a:r>
              <a:rPr lang="en-US" sz="1700" dirty="0">
                <a:latin typeface="Cascadia Code" panose="020B0609020000020004" pitchFamily="49" charset="0"/>
                <a:cs typeface="Cascadia Code" panose="020B0609020000020004" pitchFamily="49" charset="0"/>
              </a:rPr>
              <a:t>Agent</a:t>
            </a:r>
            <a:br>
              <a:rPr lang="en-US" sz="1700" dirty="0">
                <a:latin typeface="Cascadia Code" panose="020B0609020000020004" pitchFamily="49" charset="0"/>
                <a:cs typeface="Cascadia Code" panose="020B0609020000020004" pitchFamily="49" charset="0"/>
              </a:rPr>
            </a:br>
            <a:r>
              <a:rPr lang="en-US" sz="1700" dirty="0">
                <a:latin typeface="Cascadia Code" panose="020B0609020000020004" pitchFamily="49" charset="0"/>
                <a:cs typeface="Cascadia Code" panose="020B0609020000020004" pitchFamily="49" charset="0"/>
              </a:rPr>
              <a:t>  ↓</a:t>
            </a:r>
            <a:br>
              <a:rPr lang="en-US" sz="1700" dirty="0">
                <a:latin typeface="Cascadia Code" panose="020B0609020000020004" pitchFamily="49" charset="0"/>
                <a:cs typeface="Cascadia Code" panose="020B0609020000020004" pitchFamily="49" charset="0"/>
              </a:rPr>
            </a:br>
            <a:r>
              <a:rPr lang="en-US" sz="1700" dirty="0">
                <a:latin typeface="Cascadia Code" panose="020B0609020000020004" pitchFamily="49" charset="0"/>
                <a:cs typeface="Cascadia Code" panose="020B0609020000020004" pitchFamily="49" charset="0"/>
              </a:rPr>
              <a:t>Internal Service</a:t>
            </a:r>
            <a:br>
              <a:rPr lang="en-US" sz="1700" dirty="0">
                <a:latin typeface="Cascadia Code" panose="020B0609020000020004" pitchFamily="49" charset="0"/>
                <a:cs typeface="Cascadia Code" panose="020B0609020000020004" pitchFamily="49" charset="0"/>
              </a:rPr>
            </a:br>
            <a:r>
              <a:rPr lang="en-US" sz="1700" dirty="0">
                <a:latin typeface="Cascadia Code" panose="020B0609020000020004" pitchFamily="49" charset="0"/>
                <a:cs typeface="Cascadia Code" panose="020B0609020000020004" pitchFamily="49" charset="0"/>
              </a:rPr>
              <a:t>  ↓</a:t>
            </a:r>
            <a:br>
              <a:rPr lang="en-US" sz="1700" dirty="0">
                <a:latin typeface="Cascadia Code" panose="020B0609020000020004" pitchFamily="49" charset="0"/>
                <a:cs typeface="Cascadia Code" panose="020B0609020000020004" pitchFamily="49" charset="0"/>
              </a:rPr>
            </a:br>
            <a:r>
              <a:rPr lang="en-US" sz="1700" dirty="0">
                <a:latin typeface="Cascadia Code" panose="020B0609020000020004" pitchFamily="49" charset="0"/>
                <a:cs typeface="Cascadia Code" panose="020B0609020000020004" pitchFamily="49" charset="0"/>
              </a:rPr>
              <a:t>Database / Logs</a:t>
            </a:r>
          </a:p>
          <a:p>
            <a:r>
              <a:rPr lang="en-US" sz="1700" dirty="0"/>
              <a:t>Example services:</a:t>
            </a:r>
          </a:p>
          <a:p>
            <a:pPr lvl="1"/>
            <a:r>
              <a:rPr lang="en-US" sz="1700" dirty="0">
                <a:latin typeface="Cascadia Code" panose="020B0609020000020004" pitchFamily="49" charset="0"/>
                <a:cs typeface="Cascadia Code" panose="020B0609020000020004" pitchFamily="49" charset="0"/>
              </a:rPr>
              <a:t>incident lookup service</a:t>
            </a:r>
          </a:p>
          <a:p>
            <a:pPr lvl="1"/>
            <a:r>
              <a:rPr lang="en-US" sz="1700" dirty="0">
                <a:latin typeface="Cascadia Code" panose="020B0609020000020004" pitchFamily="49" charset="0"/>
                <a:cs typeface="Cascadia Code" panose="020B0609020000020004" pitchFamily="49" charset="0"/>
              </a:rPr>
              <a:t>log analysis service</a:t>
            </a:r>
          </a:p>
          <a:p>
            <a:pPr lvl="1"/>
            <a:r>
              <a:rPr lang="en-US" sz="1700" dirty="0">
                <a:latin typeface="Cascadia Code" panose="020B0609020000020004" pitchFamily="49" charset="0"/>
                <a:cs typeface="Cascadia Code" panose="020B0609020000020004" pitchFamily="49" charset="0"/>
              </a:rPr>
              <a:t>monitoring service</a:t>
            </a:r>
          </a:p>
          <a:p>
            <a:r>
              <a:rPr lang="en-US" sz="1700" dirty="0"/>
              <a:t>Example:</a:t>
            </a:r>
          </a:p>
          <a:p>
            <a:pPr marL="457200" lvl="1" indent="0">
              <a:buNone/>
            </a:pPr>
            <a:r>
              <a:rPr lang="en-US" sz="1700" dirty="0">
                <a:latin typeface="Cascadia Code" panose="020B0609020000020004" pitchFamily="49" charset="0"/>
                <a:cs typeface="Cascadia Code" panose="020B0609020000020004" pitchFamily="49" charset="0"/>
              </a:rPr>
              <a:t>Agent → Log Analysis Service → Error spike detected</a:t>
            </a:r>
          </a:p>
          <a:p>
            <a:r>
              <a:rPr lang="en-US" sz="1700" dirty="0"/>
              <a:t>These services are usually </a:t>
            </a:r>
            <a:r>
              <a:rPr lang="en-US" sz="1700" b="1" dirty="0"/>
              <a:t>faster and more secure</a:t>
            </a:r>
            <a:r>
              <a:rPr lang="en-US" sz="1700" dirty="0"/>
              <a:t> than external APIs.</a:t>
            </a:r>
          </a:p>
          <a:p>
            <a:endParaRPr lang="en-IN" sz="1700" dirty="0"/>
          </a:p>
        </p:txBody>
      </p:sp>
    </p:spTree>
    <p:extLst>
      <p:ext uri="{BB962C8B-B14F-4D97-AF65-F5344CB8AC3E}">
        <p14:creationId xmlns:p14="http://schemas.microsoft.com/office/powerpoint/2010/main" val="1993439929"/>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435AA077-5001-A436-CCEF-C8F10B35EE8C}"/>
            </a:ext>
          </a:extLst>
        </p:cNvPr>
        <p:cNvGrpSpPr/>
        <p:nvPr/>
      </p:nvGrpSpPr>
      <p:grpSpPr>
        <a:xfrm>
          <a:off x="0" y="0"/>
          <a:ext cx="0" cy="0"/>
          <a:chOff x="0" y="0"/>
          <a:chExt cx="0" cy="0"/>
        </a:xfrm>
      </p:grpSpPr>
      <p:sp useBgFill="1">
        <p:nvSpPr>
          <p:cNvPr id="12" name="Rectangle 11">
            <a:extLst>
              <a:ext uri="{FF2B5EF4-FFF2-40B4-BE49-F238E27FC236}">
                <a16:creationId xmlns:a16="http://schemas.microsoft.com/office/drawing/2014/main" id="{B14C2221-2B8C-494D-9442-F812DF4E879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1"/>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4FC85030-8059-2F9F-01A5-178DB07C73E1}"/>
              </a:ext>
            </a:extLst>
          </p:cNvPr>
          <p:cNvSpPr>
            <a:spLocks noGrp="1"/>
          </p:cNvSpPr>
          <p:nvPr>
            <p:ph type="title"/>
          </p:nvPr>
        </p:nvSpPr>
        <p:spPr>
          <a:xfrm>
            <a:off x="838200" y="3513931"/>
            <a:ext cx="3143250" cy="2601119"/>
          </a:xfrm>
        </p:spPr>
        <p:txBody>
          <a:bodyPr anchor="t">
            <a:normAutofit/>
          </a:bodyPr>
          <a:lstStyle/>
          <a:p>
            <a:pPr algn="ctr"/>
            <a:r>
              <a:rPr lang="en-IN" sz="4000" dirty="0"/>
              <a:t>Data Retrieval as Tools</a:t>
            </a:r>
          </a:p>
        </p:txBody>
      </p:sp>
      <p:pic>
        <p:nvPicPr>
          <p:cNvPr id="7" name="Graphic 6" descr="Laptop Secure">
            <a:extLst>
              <a:ext uri="{FF2B5EF4-FFF2-40B4-BE49-F238E27FC236}">
                <a16:creationId xmlns:a16="http://schemas.microsoft.com/office/drawing/2014/main" id="{0CE3A935-CCAB-3F89-84F0-3105A835D529}"/>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1981200" y="2429670"/>
            <a:ext cx="914400" cy="914400"/>
          </a:xfrm>
          <a:prstGeom prst="rect">
            <a:avLst/>
          </a:prstGeom>
        </p:spPr>
      </p:pic>
      <p:sp>
        <p:nvSpPr>
          <p:cNvPr id="3" name="Content Placeholder 2">
            <a:extLst>
              <a:ext uri="{FF2B5EF4-FFF2-40B4-BE49-F238E27FC236}">
                <a16:creationId xmlns:a16="http://schemas.microsoft.com/office/drawing/2014/main" id="{D7540EBE-1A0C-60B2-0BA1-A7A8A91C1862}"/>
              </a:ext>
            </a:extLst>
          </p:cNvPr>
          <p:cNvSpPr>
            <a:spLocks noGrp="1"/>
          </p:cNvSpPr>
          <p:nvPr>
            <p:ph idx="1"/>
          </p:nvPr>
        </p:nvSpPr>
        <p:spPr>
          <a:xfrm>
            <a:off x="4200652" y="730249"/>
            <a:ext cx="7153147" cy="5384801"/>
          </a:xfrm>
        </p:spPr>
        <p:txBody>
          <a:bodyPr anchor="ctr">
            <a:normAutofit/>
          </a:bodyPr>
          <a:lstStyle/>
          <a:p>
            <a:r>
              <a:rPr lang="en-US" sz="1800" dirty="0"/>
              <a:t>Many tools are simply used to </a:t>
            </a:r>
            <a:r>
              <a:rPr lang="en-US" sz="1800" b="1" dirty="0"/>
              <a:t>retrieve data</a:t>
            </a:r>
            <a:r>
              <a:rPr lang="en-US" sz="1800" dirty="0"/>
              <a:t>.</a:t>
            </a:r>
          </a:p>
          <a:p>
            <a:r>
              <a:rPr lang="en-US" sz="1800" dirty="0"/>
              <a:t>Example question:</a:t>
            </a:r>
          </a:p>
          <a:p>
            <a:pPr marL="457200" lvl="1" indent="0">
              <a:buNone/>
            </a:pPr>
            <a:r>
              <a:rPr lang="en-US" sz="1800" dirty="0">
                <a:latin typeface="Cascadia Code" panose="020B0609020000020004" pitchFamily="49" charset="0"/>
                <a:cs typeface="Cascadia Code" panose="020B0609020000020004" pitchFamily="49" charset="0"/>
              </a:rPr>
              <a:t>Did errors increase after the login outage?</a:t>
            </a:r>
          </a:p>
          <a:p>
            <a:r>
              <a:rPr lang="en-US" sz="1800" dirty="0"/>
              <a:t>Agent may retrieve:</a:t>
            </a:r>
          </a:p>
          <a:p>
            <a:pPr marL="457200" lvl="1" indent="0">
              <a:buNone/>
            </a:pPr>
            <a:r>
              <a:rPr lang="en-US" sz="1800" dirty="0">
                <a:latin typeface="Cascadia Code" panose="020B0609020000020004" pitchFamily="49" charset="0"/>
                <a:cs typeface="Cascadia Code" panose="020B0609020000020004" pitchFamily="49" charset="0"/>
              </a:rPr>
              <a:t>SQL → incident data</a:t>
            </a:r>
            <a:br>
              <a:rPr lang="en-US" sz="1800" dirty="0">
                <a:latin typeface="Cascadia Code" panose="020B0609020000020004" pitchFamily="49" charset="0"/>
                <a:cs typeface="Cascadia Code" panose="020B0609020000020004" pitchFamily="49" charset="0"/>
              </a:rPr>
            </a:br>
            <a:r>
              <a:rPr lang="en-US" sz="1800" dirty="0">
                <a:latin typeface="Cascadia Code" panose="020B0609020000020004" pitchFamily="49" charset="0"/>
                <a:cs typeface="Cascadia Code" panose="020B0609020000020004" pitchFamily="49" charset="0"/>
              </a:rPr>
              <a:t>Logs → error count</a:t>
            </a:r>
            <a:br>
              <a:rPr lang="en-US" sz="1800" dirty="0">
                <a:latin typeface="Cascadia Code" panose="020B0609020000020004" pitchFamily="49" charset="0"/>
                <a:cs typeface="Cascadia Code" panose="020B0609020000020004" pitchFamily="49" charset="0"/>
              </a:rPr>
            </a:br>
            <a:r>
              <a:rPr lang="en-US" sz="1800" dirty="0">
                <a:latin typeface="Cascadia Code" panose="020B0609020000020004" pitchFamily="49" charset="0"/>
                <a:cs typeface="Cascadia Code" panose="020B0609020000020004" pitchFamily="49" charset="0"/>
              </a:rPr>
              <a:t>Docs → runbook</a:t>
            </a:r>
          </a:p>
          <a:p>
            <a:endParaRPr lang="en-US" sz="1800" dirty="0"/>
          </a:p>
          <a:p>
            <a:endParaRPr lang="en-US" sz="1800" dirty="0"/>
          </a:p>
          <a:p>
            <a:endParaRPr lang="en-US" sz="1800" dirty="0"/>
          </a:p>
          <a:p>
            <a:r>
              <a:rPr lang="en-US" sz="1800" dirty="0"/>
              <a:t>The agent </a:t>
            </a:r>
            <a:r>
              <a:rPr lang="en-US" sz="1800" b="1" dirty="0"/>
              <a:t>collects the data first</a:t>
            </a:r>
            <a:r>
              <a:rPr lang="en-US" sz="1800" dirty="0"/>
              <a:t>, then generates the final answer.</a:t>
            </a:r>
          </a:p>
          <a:p>
            <a:r>
              <a:rPr lang="en-US" sz="1800" dirty="0"/>
              <a:t>So, the pattern is:</a:t>
            </a:r>
          </a:p>
          <a:p>
            <a:pPr marL="457200" lvl="1" indent="0">
              <a:buNone/>
            </a:pPr>
            <a:r>
              <a:rPr lang="en-US" sz="1800" dirty="0">
                <a:latin typeface="Cascadia Code" panose="020B0609020000020004" pitchFamily="49" charset="0"/>
                <a:cs typeface="Cascadia Code" panose="020B0609020000020004" pitchFamily="49" charset="0"/>
              </a:rPr>
              <a:t>Retrieve data → Analyze → Answer</a:t>
            </a:r>
          </a:p>
          <a:p>
            <a:endParaRPr lang="en-IN" sz="1800" dirty="0"/>
          </a:p>
        </p:txBody>
      </p:sp>
      <p:graphicFrame>
        <p:nvGraphicFramePr>
          <p:cNvPr id="4" name="Table 3">
            <a:extLst>
              <a:ext uri="{FF2B5EF4-FFF2-40B4-BE49-F238E27FC236}">
                <a16:creationId xmlns:a16="http://schemas.microsoft.com/office/drawing/2014/main" id="{AABAC7E0-523A-6A75-6D4B-C13C29711E04}"/>
              </a:ext>
            </a:extLst>
          </p:cNvPr>
          <p:cNvGraphicFramePr>
            <a:graphicFrameLocks noGrp="1"/>
          </p:cNvGraphicFramePr>
          <p:nvPr>
            <p:extLst>
              <p:ext uri="{D42A27DB-BD31-4B8C-83A1-F6EECF244321}">
                <p14:modId xmlns:p14="http://schemas.microsoft.com/office/powerpoint/2010/main" val="3273592314"/>
              </p:ext>
            </p:extLst>
          </p:nvPr>
        </p:nvGraphicFramePr>
        <p:xfrm>
          <a:off x="7690104" y="2429670"/>
          <a:ext cx="3663695" cy="1646115"/>
        </p:xfrm>
        <a:graphic>
          <a:graphicData uri="http://schemas.openxmlformats.org/drawingml/2006/table">
            <a:tbl>
              <a:tblPr firstRow="1" bandRow="1">
                <a:tableStyleId>{5C22544A-7EE6-4342-B048-85BDC9FD1C3A}</a:tableStyleId>
              </a:tblPr>
              <a:tblGrid>
                <a:gridCol w="1642105">
                  <a:extLst>
                    <a:ext uri="{9D8B030D-6E8A-4147-A177-3AD203B41FA5}">
                      <a16:colId xmlns:a16="http://schemas.microsoft.com/office/drawing/2014/main" val="3137230276"/>
                    </a:ext>
                  </a:extLst>
                </a:gridCol>
                <a:gridCol w="2021590">
                  <a:extLst>
                    <a:ext uri="{9D8B030D-6E8A-4147-A177-3AD203B41FA5}">
                      <a16:colId xmlns:a16="http://schemas.microsoft.com/office/drawing/2014/main" val="833270302"/>
                    </a:ext>
                  </a:extLst>
                </a:gridCol>
              </a:tblGrid>
              <a:tr h="407905">
                <a:tc>
                  <a:txBody>
                    <a:bodyPr/>
                    <a:lstStyle/>
                    <a:p>
                      <a:r>
                        <a:rPr lang="en-US" sz="1100" b="1" cap="all" spc="60" dirty="0">
                          <a:solidFill>
                            <a:schemeClr val="bg1"/>
                          </a:solidFill>
                        </a:rPr>
                        <a:t>Tool</a:t>
                      </a:r>
                      <a:endParaRPr lang="en-IN" sz="1100" b="1" cap="all" spc="60" dirty="0">
                        <a:solidFill>
                          <a:schemeClr val="bg1"/>
                        </a:solidFill>
                      </a:endParaRPr>
                    </a:p>
                  </a:txBody>
                  <a:tcPr marL="183400" marR="183400" marT="183400" marB="183400"/>
                </a:tc>
                <a:tc>
                  <a:txBody>
                    <a:bodyPr/>
                    <a:lstStyle/>
                    <a:p>
                      <a:r>
                        <a:rPr lang="en-US" sz="1100" b="1" cap="all" spc="60" dirty="0">
                          <a:solidFill>
                            <a:schemeClr val="bg1"/>
                          </a:solidFill>
                        </a:rPr>
                        <a:t>Purpose</a:t>
                      </a:r>
                      <a:endParaRPr lang="en-IN" sz="1100" b="1" cap="all" spc="60" dirty="0">
                        <a:solidFill>
                          <a:schemeClr val="bg1"/>
                        </a:solidFill>
                      </a:endParaRPr>
                    </a:p>
                  </a:txBody>
                  <a:tcPr marL="183400" marR="183400" marT="183400" marB="183400"/>
                </a:tc>
                <a:extLst>
                  <a:ext uri="{0D108BD9-81ED-4DB2-BD59-A6C34878D82A}">
                    <a16:rowId xmlns:a16="http://schemas.microsoft.com/office/drawing/2014/main" val="3802689940"/>
                  </a:ext>
                </a:extLst>
              </a:tr>
              <a:tr h="305755">
                <a:tc>
                  <a:txBody>
                    <a:bodyPr/>
                    <a:lstStyle/>
                    <a:p>
                      <a:r>
                        <a:rPr lang="en-US" sz="1200" cap="none" spc="0" dirty="0">
                          <a:solidFill>
                            <a:schemeClr val="tx1"/>
                          </a:solidFill>
                        </a:rPr>
                        <a:t>SQL tool</a:t>
                      </a:r>
                      <a:endParaRPr lang="en-IN" sz="1200" cap="none" spc="0" dirty="0">
                        <a:solidFill>
                          <a:schemeClr val="tx1"/>
                        </a:solidFill>
                      </a:endParaRPr>
                    </a:p>
                  </a:txBody>
                  <a:tcPr marL="122267" marR="122267" marT="61133" marB="122267"/>
                </a:tc>
                <a:tc>
                  <a:txBody>
                    <a:bodyPr/>
                    <a:lstStyle/>
                    <a:p>
                      <a:r>
                        <a:rPr lang="en-IN" sz="1200" cap="none" spc="0" dirty="0">
                          <a:solidFill>
                            <a:schemeClr val="tx1"/>
                          </a:solidFill>
                        </a:rPr>
                        <a:t>Query incident database</a:t>
                      </a:r>
                    </a:p>
                  </a:txBody>
                  <a:tcPr marL="122267" marR="122267" marT="61133" marB="122267"/>
                </a:tc>
                <a:extLst>
                  <a:ext uri="{0D108BD9-81ED-4DB2-BD59-A6C34878D82A}">
                    <a16:rowId xmlns:a16="http://schemas.microsoft.com/office/drawing/2014/main" val="1142328970"/>
                  </a:ext>
                </a:extLst>
              </a:tr>
              <a:tr h="305755">
                <a:tc>
                  <a:txBody>
                    <a:bodyPr/>
                    <a:lstStyle/>
                    <a:p>
                      <a:r>
                        <a:rPr lang="en-US" sz="1200" cap="none" spc="0" dirty="0">
                          <a:solidFill>
                            <a:schemeClr val="tx1"/>
                          </a:solidFill>
                        </a:rPr>
                        <a:t>Log analyzer</a:t>
                      </a:r>
                      <a:endParaRPr lang="en-IN" sz="1200" cap="none" spc="0" dirty="0">
                        <a:solidFill>
                          <a:schemeClr val="tx1"/>
                        </a:solidFill>
                      </a:endParaRPr>
                    </a:p>
                  </a:txBody>
                  <a:tcPr marL="122267" marR="122267" marT="61133" marB="122267"/>
                </a:tc>
                <a:tc>
                  <a:txBody>
                    <a:bodyPr/>
                    <a:lstStyle/>
                    <a:p>
                      <a:r>
                        <a:rPr lang="en-IN" sz="1200" cap="none" spc="0">
                          <a:solidFill>
                            <a:schemeClr val="tx1"/>
                          </a:solidFill>
                        </a:rPr>
                        <a:t>Detect spikes in errors</a:t>
                      </a:r>
                    </a:p>
                  </a:txBody>
                  <a:tcPr marL="122267" marR="122267" marT="61133" marB="122267"/>
                </a:tc>
                <a:extLst>
                  <a:ext uri="{0D108BD9-81ED-4DB2-BD59-A6C34878D82A}">
                    <a16:rowId xmlns:a16="http://schemas.microsoft.com/office/drawing/2014/main" val="3598237533"/>
                  </a:ext>
                </a:extLst>
              </a:tr>
              <a:tr h="379115">
                <a:tc>
                  <a:txBody>
                    <a:bodyPr/>
                    <a:lstStyle/>
                    <a:p>
                      <a:r>
                        <a:rPr lang="en-US" sz="1200" cap="none" spc="0" dirty="0">
                          <a:solidFill>
                            <a:schemeClr val="tx1"/>
                          </a:solidFill>
                        </a:rPr>
                        <a:t>RAG search</a:t>
                      </a:r>
                      <a:endParaRPr lang="en-IN" sz="1200" cap="none" spc="0" dirty="0">
                        <a:solidFill>
                          <a:schemeClr val="tx1"/>
                        </a:solidFill>
                      </a:endParaRPr>
                    </a:p>
                  </a:txBody>
                  <a:tcPr marL="122267" marR="122267" marT="61133" marB="122267"/>
                </a:tc>
                <a:tc>
                  <a:txBody>
                    <a:bodyPr/>
                    <a:lstStyle/>
                    <a:p>
                      <a:r>
                        <a:rPr lang="en-IN" sz="1200" cap="none" spc="0" dirty="0">
                          <a:solidFill>
                            <a:schemeClr val="tx1"/>
                          </a:solidFill>
                        </a:rPr>
                        <a:t>Retrieve documentation</a:t>
                      </a:r>
                    </a:p>
                  </a:txBody>
                  <a:tcPr marL="122267" marR="122267" marT="61133" marB="122267"/>
                </a:tc>
                <a:extLst>
                  <a:ext uri="{0D108BD9-81ED-4DB2-BD59-A6C34878D82A}">
                    <a16:rowId xmlns:a16="http://schemas.microsoft.com/office/drawing/2014/main" val="471284253"/>
                  </a:ext>
                </a:extLst>
              </a:tr>
            </a:tbl>
          </a:graphicData>
        </a:graphic>
      </p:graphicFrame>
    </p:spTree>
    <p:extLst>
      <p:ext uri="{BB962C8B-B14F-4D97-AF65-F5344CB8AC3E}">
        <p14:creationId xmlns:p14="http://schemas.microsoft.com/office/powerpoint/2010/main" val="2641915413"/>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A39D0E7-1CED-9213-0997-1034F9F7AB7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8BEE683-6CB5-E8EE-77A7-F83259345418}"/>
              </a:ext>
            </a:extLst>
          </p:cNvPr>
          <p:cNvSpPr>
            <a:spLocks noGrp="1"/>
          </p:cNvSpPr>
          <p:nvPr>
            <p:ph type="title"/>
          </p:nvPr>
        </p:nvSpPr>
        <p:spPr>
          <a:xfrm>
            <a:off x="838200" y="3513931"/>
            <a:ext cx="3143250" cy="2601119"/>
          </a:xfrm>
        </p:spPr>
        <p:txBody>
          <a:bodyPr anchor="t">
            <a:normAutofit/>
          </a:bodyPr>
          <a:lstStyle/>
          <a:p>
            <a:pPr algn="ctr"/>
            <a:r>
              <a:rPr lang="en-US" sz="4000" dirty="0"/>
              <a:t>Retry and Fallback Logic for Tools</a:t>
            </a:r>
            <a:endParaRPr lang="en-IN" sz="4000" dirty="0"/>
          </a:p>
        </p:txBody>
      </p:sp>
      <p:pic>
        <p:nvPicPr>
          <p:cNvPr id="7" name="Graphic 6" descr="Laptop Secure">
            <a:extLst>
              <a:ext uri="{FF2B5EF4-FFF2-40B4-BE49-F238E27FC236}">
                <a16:creationId xmlns:a16="http://schemas.microsoft.com/office/drawing/2014/main" id="{BE76088E-3A66-38D4-5DB0-FF278EFECDF2}"/>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1981200" y="2429670"/>
            <a:ext cx="914400" cy="914400"/>
          </a:xfrm>
          <a:prstGeom prst="rect">
            <a:avLst/>
          </a:prstGeom>
        </p:spPr>
      </p:pic>
      <p:sp>
        <p:nvSpPr>
          <p:cNvPr id="3" name="Content Placeholder 2">
            <a:extLst>
              <a:ext uri="{FF2B5EF4-FFF2-40B4-BE49-F238E27FC236}">
                <a16:creationId xmlns:a16="http://schemas.microsoft.com/office/drawing/2014/main" id="{A9D6CEA3-C1A9-7429-5344-0DB1FCE839BD}"/>
              </a:ext>
            </a:extLst>
          </p:cNvPr>
          <p:cNvSpPr>
            <a:spLocks noGrp="1"/>
          </p:cNvSpPr>
          <p:nvPr>
            <p:ph idx="1"/>
          </p:nvPr>
        </p:nvSpPr>
        <p:spPr>
          <a:xfrm>
            <a:off x="4200652" y="730249"/>
            <a:ext cx="7153147" cy="5384801"/>
          </a:xfrm>
        </p:spPr>
        <p:txBody>
          <a:bodyPr anchor="ctr">
            <a:normAutofit/>
          </a:bodyPr>
          <a:lstStyle/>
          <a:p>
            <a:r>
              <a:rPr lang="en-US" dirty="0"/>
              <a:t>Tools do not always work perfectly.</a:t>
            </a:r>
          </a:p>
          <a:p>
            <a:r>
              <a:rPr lang="en-US" dirty="0"/>
              <a:t>Agents need </a:t>
            </a:r>
            <a:r>
              <a:rPr lang="en-US" b="1" dirty="0"/>
              <a:t>retry and fallback logic</a:t>
            </a:r>
            <a:r>
              <a:rPr lang="en-US" dirty="0"/>
              <a:t>.</a:t>
            </a:r>
          </a:p>
          <a:p>
            <a:r>
              <a:rPr lang="en-US" b="1" dirty="0"/>
              <a:t>Retry</a:t>
            </a:r>
          </a:p>
          <a:p>
            <a:pPr lvl="1"/>
            <a:r>
              <a:rPr lang="en-US" dirty="0"/>
              <a:t>If a tool fails, the agent can </a:t>
            </a:r>
            <a:r>
              <a:rPr lang="en-US" b="1" dirty="0"/>
              <a:t>try again</a:t>
            </a:r>
            <a:r>
              <a:rPr lang="en-US" dirty="0"/>
              <a:t>.</a:t>
            </a:r>
          </a:p>
          <a:p>
            <a:r>
              <a:rPr lang="en-US" b="1" dirty="0"/>
              <a:t>Fallback</a:t>
            </a:r>
          </a:p>
          <a:p>
            <a:pPr lvl="1"/>
            <a:r>
              <a:rPr lang="en-US" dirty="0"/>
              <a:t>If the tool still fails, the agent can </a:t>
            </a:r>
            <a:r>
              <a:rPr lang="en-US" b="1" dirty="0"/>
              <a:t>use another tool</a:t>
            </a:r>
            <a:r>
              <a:rPr lang="en-US" dirty="0"/>
              <a:t>.</a:t>
            </a:r>
          </a:p>
          <a:p>
            <a:endParaRPr lang="en-IN" dirty="0"/>
          </a:p>
        </p:txBody>
      </p:sp>
    </p:spTree>
    <p:extLst>
      <p:ext uri="{BB962C8B-B14F-4D97-AF65-F5344CB8AC3E}">
        <p14:creationId xmlns:p14="http://schemas.microsoft.com/office/powerpoint/2010/main" val="1738535061"/>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CB429695-DE12-6ED4-62E5-28D9D4483FEC}"/>
            </a:ext>
          </a:extLst>
        </p:cNvPr>
        <p:cNvGrpSpPr/>
        <p:nvPr/>
      </p:nvGrpSpPr>
      <p:grpSpPr>
        <a:xfrm>
          <a:off x="0" y="0"/>
          <a:ext cx="0" cy="0"/>
          <a:chOff x="0" y="0"/>
          <a:chExt cx="0" cy="0"/>
        </a:xfrm>
      </p:grpSpPr>
      <p:sp>
        <p:nvSpPr>
          <p:cNvPr id="7" name="Rectangle 6">
            <a:extLst>
              <a:ext uri="{FF2B5EF4-FFF2-40B4-BE49-F238E27FC236}">
                <a16:creationId xmlns:a16="http://schemas.microsoft.com/office/drawing/2014/main" id="{1A3C89F8-0D2F-47FF-B903-151248265F4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gradFill flip="none" rotWithShape="1">
            <a:gsLst>
              <a:gs pos="0">
                <a:schemeClr val="accent1"/>
              </a:gs>
              <a:gs pos="100000">
                <a:schemeClr val="accent2"/>
              </a:gs>
            </a:gsLst>
            <a:lin ang="81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FFFFFF"/>
              </a:solidFill>
            </a:endParaRPr>
          </a:p>
        </p:txBody>
      </p:sp>
      <p:sp>
        <p:nvSpPr>
          <p:cNvPr id="2" name="Title 1">
            <a:extLst>
              <a:ext uri="{FF2B5EF4-FFF2-40B4-BE49-F238E27FC236}">
                <a16:creationId xmlns:a16="http://schemas.microsoft.com/office/drawing/2014/main" id="{8E9D852D-3403-60FF-3236-791DD7DEE28E}"/>
              </a:ext>
            </a:extLst>
          </p:cNvPr>
          <p:cNvSpPr>
            <a:spLocks noGrp="1"/>
          </p:cNvSpPr>
          <p:nvPr>
            <p:ph type="title"/>
          </p:nvPr>
        </p:nvSpPr>
        <p:spPr>
          <a:xfrm>
            <a:off x="3880430" y="583345"/>
            <a:ext cx="7160357" cy="4164820"/>
          </a:xfrm>
        </p:spPr>
        <p:txBody>
          <a:bodyPr vert="horz" lIns="91440" tIns="45720" rIns="91440" bIns="45720" rtlCol="0" anchor="t">
            <a:normAutofit/>
          </a:bodyPr>
          <a:lstStyle/>
          <a:p>
            <a:pPr algn="r"/>
            <a:r>
              <a:rPr lang="en-US" sz="7400" b="1" kern="1200" dirty="0">
                <a:solidFill>
                  <a:srgbClr val="FFFFFF"/>
                </a:solidFill>
                <a:latin typeface="+mj-lt"/>
                <a:ea typeface="+mj-ea"/>
                <a:cs typeface="+mj-cs"/>
              </a:rPr>
              <a:t>Demo:</a:t>
            </a:r>
            <a:br>
              <a:rPr lang="en-US" sz="7400" b="1" kern="1200" dirty="0">
                <a:solidFill>
                  <a:srgbClr val="FFFFFF"/>
                </a:solidFill>
                <a:latin typeface="+mj-lt"/>
                <a:ea typeface="+mj-ea"/>
                <a:cs typeface="+mj-cs"/>
              </a:rPr>
            </a:br>
            <a:r>
              <a:rPr lang="en-US" sz="7400" b="1" kern="1200" dirty="0">
                <a:solidFill>
                  <a:srgbClr val="FFFFFF"/>
                </a:solidFill>
                <a:latin typeface="+mj-lt"/>
                <a:ea typeface="+mj-ea"/>
                <a:cs typeface="+mj-cs"/>
              </a:rPr>
              <a:t>Tool Failure &amp; Fallback Handling</a:t>
            </a:r>
          </a:p>
        </p:txBody>
      </p:sp>
      <p:sp>
        <p:nvSpPr>
          <p:cNvPr id="9" name="Graphic 13">
            <a:extLst>
              <a:ext uri="{FF2B5EF4-FFF2-40B4-BE49-F238E27FC236}">
                <a16:creationId xmlns:a16="http://schemas.microsoft.com/office/drawing/2014/main" id="{C5CB530E-515E-412C-9DF1-5F8FFBD6F38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474359" y="583345"/>
            <a:ext cx="139039" cy="139039"/>
          </a:xfrm>
          <a:custGeom>
            <a:avLst/>
            <a:gdLst>
              <a:gd name="connsiteX0" fmla="*/ 129602 w 139039"/>
              <a:gd name="connsiteY0" fmla="*/ 60082 h 139039"/>
              <a:gd name="connsiteX1" fmla="*/ 78957 w 139039"/>
              <a:gd name="connsiteY1" fmla="*/ 60082 h 139039"/>
              <a:gd name="connsiteX2" fmla="*/ 78957 w 139039"/>
              <a:gd name="connsiteY2" fmla="*/ 9437 h 139039"/>
              <a:gd name="connsiteX3" fmla="*/ 69520 w 139039"/>
              <a:gd name="connsiteY3" fmla="*/ 0 h 139039"/>
              <a:gd name="connsiteX4" fmla="*/ 60082 w 139039"/>
              <a:gd name="connsiteY4" fmla="*/ 9437 h 139039"/>
              <a:gd name="connsiteX5" fmla="*/ 60082 w 139039"/>
              <a:gd name="connsiteY5" fmla="*/ 60082 h 139039"/>
              <a:gd name="connsiteX6" fmla="*/ 9437 w 139039"/>
              <a:gd name="connsiteY6" fmla="*/ 60082 h 139039"/>
              <a:gd name="connsiteX7" fmla="*/ 0 w 139039"/>
              <a:gd name="connsiteY7" fmla="*/ 69520 h 139039"/>
              <a:gd name="connsiteX8" fmla="*/ 9437 w 139039"/>
              <a:gd name="connsiteY8" fmla="*/ 78957 h 139039"/>
              <a:gd name="connsiteX9" fmla="*/ 60082 w 139039"/>
              <a:gd name="connsiteY9" fmla="*/ 78957 h 139039"/>
              <a:gd name="connsiteX10" fmla="*/ 60082 w 139039"/>
              <a:gd name="connsiteY10" fmla="*/ 129602 h 139039"/>
              <a:gd name="connsiteX11" fmla="*/ 69520 w 139039"/>
              <a:gd name="connsiteY11" fmla="*/ 139039 h 139039"/>
              <a:gd name="connsiteX12" fmla="*/ 78957 w 139039"/>
              <a:gd name="connsiteY12" fmla="*/ 129602 h 139039"/>
              <a:gd name="connsiteX13" fmla="*/ 78957 w 139039"/>
              <a:gd name="connsiteY13" fmla="*/ 78957 h 139039"/>
              <a:gd name="connsiteX14" fmla="*/ 129602 w 139039"/>
              <a:gd name="connsiteY14" fmla="*/ 78957 h 139039"/>
              <a:gd name="connsiteX15" fmla="*/ 139039 w 139039"/>
              <a:gd name="connsiteY15" fmla="*/ 69520 h 139039"/>
              <a:gd name="connsiteX16" fmla="*/ 129602 w 139039"/>
              <a:gd name="connsiteY16" fmla="*/ 60082 h 1390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39039" h="139039">
                <a:moveTo>
                  <a:pt x="129602" y="60082"/>
                </a:moveTo>
                <a:lnTo>
                  <a:pt x="78957" y="60082"/>
                </a:lnTo>
                <a:lnTo>
                  <a:pt x="78957" y="9437"/>
                </a:lnTo>
                <a:cubicBezTo>
                  <a:pt x="78957" y="4225"/>
                  <a:pt x="74731" y="0"/>
                  <a:pt x="69520" y="0"/>
                </a:cubicBezTo>
                <a:cubicBezTo>
                  <a:pt x="64308" y="0"/>
                  <a:pt x="60082" y="4225"/>
                  <a:pt x="60082" y="9437"/>
                </a:cubicBezTo>
                <a:lnTo>
                  <a:pt x="60082" y="60082"/>
                </a:lnTo>
                <a:lnTo>
                  <a:pt x="9437" y="60082"/>
                </a:lnTo>
                <a:cubicBezTo>
                  <a:pt x="4225" y="60082"/>
                  <a:pt x="0" y="64308"/>
                  <a:pt x="0" y="69520"/>
                </a:cubicBezTo>
                <a:cubicBezTo>
                  <a:pt x="0" y="74731"/>
                  <a:pt x="4225" y="78957"/>
                  <a:pt x="9437" y="78957"/>
                </a:cubicBezTo>
                <a:lnTo>
                  <a:pt x="60082" y="78957"/>
                </a:lnTo>
                <a:lnTo>
                  <a:pt x="60082" y="129602"/>
                </a:lnTo>
                <a:cubicBezTo>
                  <a:pt x="60082" y="134814"/>
                  <a:pt x="64308" y="139039"/>
                  <a:pt x="69520" y="139039"/>
                </a:cubicBezTo>
                <a:cubicBezTo>
                  <a:pt x="74731" y="139039"/>
                  <a:pt x="78957" y="134814"/>
                  <a:pt x="78957" y="129602"/>
                </a:cubicBezTo>
                <a:lnTo>
                  <a:pt x="78957" y="78957"/>
                </a:lnTo>
                <a:lnTo>
                  <a:pt x="129602" y="78957"/>
                </a:lnTo>
                <a:cubicBezTo>
                  <a:pt x="134814" y="78957"/>
                  <a:pt x="139039" y="74731"/>
                  <a:pt x="139039" y="69520"/>
                </a:cubicBezTo>
                <a:cubicBezTo>
                  <a:pt x="139039" y="64308"/>
                  <a:pt x="134814" y="60082"/>
                  <a:pt x="129602" y="60082"/>
                </a:cubicBezTo>
                <a:close/>
              </a:path>
            </a:pathLst>
          </a:custGeom>
          <a:solidFill>
            <a:srgbClr val="FFFFFF"/>
          </a:solidFill>
          <a:ln w="603" cap="flat">
            <a:noFill/>
            <a:prstDash val="solid"/>
            <a:miter/>
          </a:ln>
        </p:spPr>
        <p:txBody>
          <a:bodyPr rtlCol="0" anchor="ctr"/>
          <a:lstStyle/>
          <a:p>
            <a:endParaRPr lang="en-US">
              <a:solidFill>
                <a:srgbClr val="FFFFFF"/>
              </a:solidFill>
            </a:endParaRPr>
          </a:p>
        </p:txBody>
      </p:sp>
      <p:sp>
        <p:nvSpPr>
          <p:cNvPr id="11" name="Graphic 12">
            <a:extLst>
              <a:ext uri="{FF2B5EF4-FFF2-40B4-BE49-F238E27FC236}">
                <a16:creationId xmlns:a16="http://schemas.microsoft.com/office/drawing/2014/main" id="{712D4376-A578-4FF1-94FC-245E7A6A489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833139" y="812640"/>
            <a:ext cx="91138" cy="91138"/>
          </a:xfrm>
          <a:custGeom>
            <a:avLst/>
            <a:gdLst>
              <a:gd name="connsiteX0" fmla="*/ 91138 w 91138"/>
              <a:gd name="connsiteY0" fmla="*/ 45569 h 91138"/>
              <a:gd name="connsiteX1" fmla="*/ 45569 w 91138"/>
              <a:gd name="connsiteY1" fmla="*/ 91138 h 91138"/>
              <a:gd name="connsiteX2" fmla="*/ 0 w 91138"/>
              <a:gd name="connsiteY2" fmla="*/ 45569 h 91138"/>
              <a:gd name="connsiteX3" fmla="*/ 45569 w 91138"/>
              <a:gd name="connsiteY3" fmla="*/ 0 h 91138"/>
              <a:gd name="connsiteX4" fmla="*/ 91138 w 91138"/>
              <a:gd name="connsiteY4" fmla="*/ 45569 h 911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1138" h="91138">
                <a:moveTo>
                  <a:pt x="91138" y="45569"/>
                </a:moveTo>
                <a:cubicBezTo>
                  <a:pt x="91138" y="70736"/>
                  <a:pt x="70736" y="91138"/>
                  <a:pt x="45569" y="91138"/>
                </a:cubicBezTo>
                <a:cubicBezTo>
                  <a:pt x="20402" y="91138"/>
                  <a:pt x="0" y="70736"/>
                  <a:pt x="0" y="45569"/>
                </a:cubicBezTo>
                <a:cubicBezTo>
                  <a:pt x="0" y="20402"/>
                  <a:pt x="20402" y="0"/>
                  <a:pt x="45569" y="0"/>
                </a:cubicBezTo>
                <a:cubicBezTo>
                  <a:pt x="70736" y="0"/>
                  <a:pt x="91138" y="20402"/>
                  <a:pt x="91138" y="45569"/>
                </a:cubicBezTo>
                <a:close/>
              </a:path>
            </a:pathLst>
          </a:custGeom>
          <a:solidFill>
            <a:srgbClr val="FFFFFF"/>
          </a:solidFill>
          <a:ln w="422" cap="flat">
            <a:noFill/>
            <a:prstDash val="solid"/>
            <a:miter/>
          </a:ln>
        </p:spPr>
        <p:txBody>
          <a:bodyPr rtlCol="0" anchor="ctr"/>
          <a:lstStyle/>
          <a:p>
            <a:endParaRPr lang="en-US">
              <a:solidFill>
                <a:srgbClr val="FFFFFF"/>
              </a:solidFill>
            </a:endParaRPr>
          </a:p>
        </p:txBody>
      </p:sp>
      <p:sp>
        <p:nvSpPr>
          <p:cNvPr id="13" name="Graphic 15">
            <a:extLst>
              <a:ext uri="{FF2B5EF4-FFF2-40B4-BE49-F238E27FC236}">
                <a16:creationId xmlns:a16="http://schemas.microsoft.com/office/drawing/2014/main" id="{AEA7509D-F04F-40CB-A0B3-EEF16499CC9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458819" y="1037066"/>
            <a:ext cx="127714" cy="127714"/>
          </a:xfrm>
          <a:custGeom>
            <a:avLst/>
            <a:gdLst>
              <a:gd name="connsiteX0" fmla="*/ 63857 w 127714"/>
              <a:gd name="connsiteY0" fmla="*/ 18874 h 127714"/>
              <a:gd name="connsiteX1" fmla="*/ 108840 w 127714"/>
              <a:gd name="connsiteY1" fmla="*/ 63857 h 127714"/>
              <a:gd name="connsiteX2" fmla="*/ 63857 w 127714"/>
              <a:gd name="connsiteY2" fmla="*/ 108840 h 127714"/>
              <a:gd name="connsiteX3" fmla="*/ 18874 w 127714"/>
              <a:gd name="connsiteY3" fmla="*/ 63857 h 127714"/>
              <a:gd name="connsiteX4" fmla="*/ 63857 w 127714"/>
              <a:gd name="connsiteY4" fmla="*/ 18874 h 127714"/>
              <a:gd name="connsiteX5" fmla="*/ 63857 w 127714"/>
              <a:gd name="connsiteY5" fmla="*/ 0 h 127714"/>
              <a:gd name="connsiteX6" fmla="*/ 0 w 127714"/>
              <a:gd name="connsiteY6" fmla="*/ 63857 h 127714"/>
              <a:gd name="connsiteX7" fmla="*/ 63857 w 127714"/>
              <a:gd name="connsiteY7" fmla="*/ 127714 h 127714"/>
              <a:gd name="connsiteX8" fmla="*/ 127714 w 127714"/>
              <a:gd name="connsiteY8" fmla="*/ 63857 h 127714"/>
              <a:gd name="connsiteX9" fmla="*/ 63857 w 127714"/>
              <a:gd name="connsiteY9" fmla="*/ 0 h 1277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27714" h="127714">
                <a:moveTo>
                  <a:pt x="63857" y="18874"/>
                </a:moveTo>
                <a:cubicBezTo>
                  <a:pt x="88700" y="18874"/>
                  <a:pt x="108840" y="39014"/>
                  <a:pt x="108840" y="63857"/>
                </a:cubicBezTo>
                <a:cubicBezTo>
                  <a:pt x="108840" y="88700"/>
                  <a:pt x="88700" y="108840"/>
                  <a:pt x="63857" y="108840"/>
                </a:cubicBezTo>
                <a:cubicBezTo>
                  <a:pt x="39014" y="108840"/>
                  <a:pt x="18874" y="88700"/>
                  <a:pt x="18874" y="63857"/>
                </a:cubicBezTo>
                <a:cubicBezTo>
                  <a:pt x="18898" y="39024"/>
                  <a:pt x="39024" y="18898"/>
                  <a:pt x="63857" y="18874"/>
                </a:cubicBezTo>
                <a:moveTo>
                  <a:pt x="63857" y="0"/>
                </a:moveTo>
                <a:cubicBezTo>
                  <a:pt x="28590" y="0"/>
                  <a:pt x="0" y="28590"/>
                  <a:pt x="0" y="63857"/>
                </a:cubicBezTo>
                <a:cubicBezTo>
                  <a:pt x="0" y="99124"/>
                  <a:pt x="28590" y="127714"/>
                  <a:pt x="63857" y="127714"/>
                </a:cubicBezTo>
                <a:cubicBezTo>
                  <a:pt x="99124" y="127714"/>
                  <a:pt x="127714" y="99124"/>
                  <a:pt x="127714" y="63857"/>
                </a:cubicBezTo>
                <a:cubicBezTo>
                  <a:pt x="127714" y="28590"/>
                  <a:pt x="99124" y="0"/>
                  <a:pt x="63857" y="0"/>
                </a:cubicBezTo>
                <a:close/>
              </a:path>
            </a:pathLst>
          </a:custGeom>
          <a:solidFill>
            <a:srgbClr val="FFFFFF"/>
          </a:solidFill>
          <a:ln w="610" cap="flat">
            <a:noFill/>
            <a:prstDash val="solid"/>
            <a:miter/>
          </a:ln>
        </p:spPr>
        <p:txBody>
          <a:bodyPr rtlCol="0" anchor="ctr"/>
          <a:lstStyle/>
          <a:p>
            <a:endParaRPr lang="en-US">
              <a:solidFill>
                <a:srgbClr val="FFFFFF"/>
              </a:solidFill>
            </a:endParaRPr>
          </a:p>
        </p:txBody>
      </p:sp>
      <p:cxnSp>
        <p:nvCxnSpPr>
          <p:cNvPr id="15" name="Straight Connector 14">
            <a:extLst>
              <a:ext uri="{FF2B5EF4-FFF2-40B4-BE49-F238E27FC236}">
                <a16:creationId xmlns:a16="http://schemas.microsoft.com/office/drawing/2014/main" id="{56020367-4FD5-4596-8E10-C5F095CD8DBF}"/>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856114" y="3503032"/>
            <a:ext cx="0" cy="3346090"/>
          </a:xfrm>
          <a:prstGeom prst="line">
            <a:avLst/>
          </a:prstGeom>
          <a:ln w="25400" cap="sq">
            <a:solidFill>
              <a:srgbClr val="FFFFFF"/>
            </a:solidFill>
            <a:bevel/>
          </a:ln>
        </p:spPr>
        <p:style>
          <a:lnRef idx="1">
            <a:schemeClr val="accent1"/>
          </a:lnRef>
          <a:fillRef idx="0">
            <a:schemeClr val="accent1"/>
          </a:fillRef>
          <a:effectRef idx="0">
            <a:schemeClr val="accent1"/>
          </a:effectRef>
          <a:fontRef idx="minor">
            <a:schemeClr val="tx1"/>
          </a:fontRef>
        </p:style>
      </p:cxnSp>
      <p:sp>
        <p:nvSpPr>
          <p:cNvPr id="17" name="Graphic 22">
            <a:extLst>
              <a:ext uri="{FF2B5EF4-FFF2-40B4-BE49-F238E27FC236}">
                <a16:creationId xmlns:a16="http://schemas.microsoft.com/office/drawing/2014/main" id="{508BEF50-7B1E-49A4-BC19-5F4F1D755E6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0836425" y="5636680"/>
            <a:ext cx="151536" cy="151536"/>
          </a:xfrm>
          <a:custGeom>
            <a:avLst/>
            <a:gdLst>
              <a:gd name="connsiteX0" fmla="*/ 141251 w 151536"/>
              <a:gd name="connsiteY0" fmla="*/ 65483 h 151536"/>
              <a:gd name="connsiteX1" fmla="*/ 86053 w 151536"/>
              <a:gd name="connsiteY1" fmla="*/ 65483 h 151536"/>
              <a:gd name="connsiteX2" fmla="*/ 86053 w 151536"/>
              <a:gd name="connsiteY2" fmla="*/ 10285 h 151536"/>
              <a:gd name="connsiteX3" fmla="*/ 75768 w 151536"/>
              <a:gd name="connsiteY3" fmla="*/ 0 h 151536"/>
              <a:gd name="connsiteX4" fmla="*/ 65483 w 151536"/>
              <a:gd name="connsiteY4" fmla="*/ 10285 h 151536"/>
              <a:gd name="connsiteX5" fmla="*/ 65483 w 151536"/>
              <a:gd name="connsiteY5" fmla="*/ 65483 h 151536"/>
              <a:gd name="connsiteX6" fmla="*/ 10285 w 151536"/>
              <a:gd name="connsiteY6" fmla="*/ 65483 h 151536"/>
              <a:gd name="connsiteX7" fmla="*/ 0 w 151536"/>
              <a:gd name="connsiteY7" fmla="*/ 75768 h 151536"/>
              <a:gd name="connsiteX8" fmla="*/ 10285 w 151536"/>
              <a:gd name="connsiteY8" fmla="*/ 86053 h 151536"/>
              <a:gd name="connsiteX9" fmla="*/ 65483 w 151536"/>
              <a:gd name="connsiteY9" fmla="*/ 86053 h 151536"/>
              <a:gd name="connsiteX10" fmla="*/ 65483 w 151536"/>
              <a:gd name="connsiteY10" fmla="*/ 141251 h 151536"/>
              <a:gd name="connsiteX11" fmla="*/ 75768 w 151536"/>
              <a:gd name="connsiteY11" fmla="*/ 151536 h 151536"/>
              <a:gd name="connsiteX12" fmla="*/ 86053 w 151536"/>
              <a:gd name="connsiteY12" fmla="*/ 141251 h 151536"/>
              <a:gd name="connsiteX13" fmla="*/ 86053 w 151536"/>
              <a:gd name="connsiteY13" fmla="*/ 86053 h 151536"/>
              <a:gd name="connsiteX14" fmla="*/ 141251 w 151536"/>
              <a:gd name="connsiteY14" fmla="*/ 86053 h 151536"/>
              <a:gd name="connsiteX15" fmla="*/ 151536 w 151536"/>
              <a:gd name="connsiteY15" fmla="*/ 75768 h 151536"/>
              <a:gd name="connsiteX16" fmla="*/ 141251 w 151536"/>
              <a:gd name="connsiteY16" fmla="*/ 65483 h 1515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51536" h="151536">
                <a:moveTo>
                  <a:pt x="141251" y="65483"/>
                </a:moveTo>
                <a:lnTo>
                  <a:pt x="86053" y="65483"/>
                </a:lnTo>
                <a:lnTo>
                  <a:pt x="86053" y="10285"/>
                </a:lnTo>
                <a:cubicBezTo>
                  <a:pt x="86053" y="4605"/>
                  <a:pt x="81448" y="0"/>
                  <a:pt x="75768" y="0"/>
                </a:cubicBezTo>
                <a:cubicBezTo>
                  <a:pt x="70088" y="0"/>
                  <a:pt x="65483" y="4605"/>
                  <a:pt x="65483" y="10285"/>
                </a:cubicBezTo>
                <a:lnTo>
                  <a:pt x="65483" y="65483"/>
                </a:lnTo>
                <a:lnTo>
                  <a:pt x="10285" y="65483"/>
                </a:lnTo>
                <a:cubicBezTo>
                  <a:pt x="4605" y="65483"/>
                  <a:pt x="0" y="70088"/>
                  <a:pt x="0" y="75768"/>
                </a:cubicBezTo>
                <a:cubicBezTo>
                  <a:pt x="0" y="81448"/>
                  <a:pt x="4605" y="86053"/>
                  <a:pt x="10285" y="86053"/>
                </a:cubicBezTo>
                <a:lnTo>
                  <a:pt x="65483" y="86053"/>
                </a:lnTo>
                <a:lnTo>
                  <a:pt x="65483" y="141251"/>
                </a:lnTo>
                <a:cubicBezTo>
                  <a:pt x="65483" y="146931"/>
                  <a:pt x="70088" y="151536"/>
                  <a:pt x="75768" y="151536"/>
                </a:cubicBezTo>
                <a:cubicBezTo>
                  <a:pt x="81448" y="151536"/>
                  <a:pt x="86053" y="146931"/>
                  <a:pt x="86053" y="141251"/>
                </a:cubicBezTo>
                <a:lnTo>
                  <a:pt x="86053" y="86053"/>
                </a:lnTo>
                <a:lnTo>
                  <a:pt x="141251" y="86053"/>
                </a:lnTo>
                <a:cubicBezTo>
                  <a:pt x="146931" y="86053"/>
                  <a:pt x="151536" y="81448"/>
                  <a:pt x="151536" y="75768"/>
                </a:cubicBezTo>
                <a:cubicBezTo>
                  <a:pt x="151536" y="70088"/>
                  <a:pt x="146931" y="65483"/>
                  <a:pt x="141251" y="65483"/>
                </a:cubicBezTo>
                <a:close/>
              </a:path>
            </a:pathLst>
          </a:custGeom>
          <a:solidFill>
            <a:srgbClr val="FFFFFF"/>
          </a:solidFill>
          <a:ln w="646" cap="flat">
            <a:noFill/>
            <a:prstDash val="solid"/>
            <a:miter/>
          </a:ln>
        </p:spPr>
        <p:txBody>
          <a:bodyPr rtlCol="0" anchor="ctr"/>
          <a:lstStyle/>
          <a:p>
            <a:endParaRPr lang="en-US">
              <a:solidFill>
                <a:srgbClr val="FFFFFF"/>
              </a:solidFill>
            </a:endParaRPr>
          </a:p>
        </p:txBody>
      </p:sp>
      <p:sp>
        <p:nvSpPr>
          <p:cNvPr id="19" name="Graphic 23">
            <a:extLst>
              <a:ext uri="{FF2B5EF4-FFF2-40B4-BE49-F238E27FC236}">
                <a16:creationId xmlns:a16="http://schemas.microsoft.com/office/drawing/2014/main" id="{3FBAD350-5664-4811-A208-657FB882D35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1245175" y="6096759"/>
            <a:ext cx="108625" cy="108625"/>
          </a:xfrm>
          <a:custGeom>
            <a:avLst/>
            <a:gdLst>
              <a:gd name="connsiteX0" fmla="*/ 54313 w 108625"/>
              <a:gd name="connsiteY0" fmla="*/ 16053 h 108625"/>
              <a:gd name="connsiteX1" fmla="*/ 92572 w 108625"/>
              <a:gd name="connsiteY1" fmla="*/ 54313 h 108625"/>
              <a:gd name="connsiteX2" fmla="*/ 54313 w 108625"/>
              <a:gd name="connsiteY2" fmla="*/ 92572 h 108625"/>
              <a:gd name="connsiteX3" fmla="*/ 16053 w 108625"/>
              <a:gd name="connsiteY3" fmla="*/ 54313 h 108625"/>
              <a:gd name="connsiteX4" fmla="*/ 54313 w 108625"/>
              <a:gd name="connsiteY4" fmla="*/ 16053 h 108625"/>
              <a:gd name="connsiteX5" fmla="*/ 54313 w 108625"/>
              <a:gd name="connsiteY5" fmla="*/ 0 h 108625"/>
              <a:gd name="connsiteX6" fmla="*/ 0 w 108625"/>
              <a:gd name="connsiteY6" fmla="*/ 54313 h 108625"/>
              <a:gd name="connsiteX7" fmla="*/ 54313 w 108625"/>
              <a:gd name="connsiteY7" fmla="*/ 108625 h 108625"/>
              <a:gd name="connsiteX8" fmla="*/ 108625 w 108625"/>
              <a:gd name="connsiteY8" fmla="*/ 54313 h 108625"/>
              <a:gd name="connsiteX9" fmla="*/ 54313 w 108625"/>
              <a:gd name="connsiteY9" fmla="*/ 0 h 1086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08625" h="108625">
                <a:moveTo>
                  <a:pt x="54313" y="16053"/>
                </a:moveTo>
                <a:cubicBezTo>
                  <a:pt x="75442" y="16053"/>
                  <a:pt x="92572" y="33182"/>
                  <a:pt x="92572" y="54313"/>
                </a:cubicBezTo>
                <a:cubicBezTo>
                  <a:pt x="92572" y="75442"/>
                  <a:pt x="75442" y="92572"/>
                  <a:pt x="54313" y="92572"/>
                </a:cubicBezTo>
                <a:cubicBezTo>
                  <a:pt x="33182" y="92572"/>
                  <a:pt x="16053" y="75442"/>
                  <a:pt x="16053" y="54313"/>
                </a:cubicBezTo>
                <a:cubicBezTo>
                  <a:pt x="16074" y="33191"/>
                  <a:pt x="33191" y="16074"/>
                  <a:pt x="54313" y="16053"/>
                </a:cubicBezTo>
                <a:moveTo>
                  <a:pt x="54313" y="0"/>
                </a:moveTo>
                <a:cubicBezTo>
                  <a:pt x="24317" y="0"/>
                  <a:pt x="0" y="24317"/>
                  <a:pt x="0" y="54313"/>
                </a:cubicBezTo>
                <a:cubicBezTo>
                  <a:pt x="0" y="84309"/>
                  <a:pt x="24317" y="108625"/>
                  <a:pt x="54313" y="108625"/>
                </a:cubicBezTo>
                <a:cubicBezTo>
                  <a:pt x="84309" y="108625"/>
                  <a:pt x="108625" y="84309"/>
                  <a:pt x="108625" y="54313"/>
                </a:cubicBezTo>
                <a:cubicBezTo>
                  <a:pt x="108625" y="24317"/>
                  <a:pt x="84309" y="0"/>
                  <a:pt x="54313" y="0"/>
                </a:cubicBezTo>
                <a:close/>
              </a:path>
            </a:pathLst>
          </a:custGeom>
          <a:solidFill>
            <a:srgbClr val="FFFFFF"/>
          </a:solidFill>
          <a:ln w="516" cap="flat">
            <a:noFill/>
            <a:prstDash val="solid"/>
            <a:miter/>
          </a:ln>
        </p:spPr>
        <p:txBody>
          <a:bodyPr rtlCol="0" anchor="ctr"/>
          <a:lstStyle/>
          <a:p>
            <a:endParaRPr lang="en-US">
              <a:solidFill>
                <a:srgbClr val="FFFFFF"/>
              </a:solidFill>
            </a:endParaRPr>
          </a:p>
        </p:txBody>
      </p:sp>
      <p:sp>
        <p:nvSpPr>
          <p:cNvPr id="21" name="Graphic 21">
            <a:extLst>
              <a:ext uri="{FF2B5EF4-FFF2-40B4-BE49-F238E27FC236}">
                <a16:creationId xmlns:a16="http://schemas.microsoft.com/office/drawing/2014/main" id="{C39ADB8F-D187-49D7-BDCF-C1B6DC72706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0554288" y="6238029"/>
            <a:ext cx="95759" cy="95759"/>
          </a:xfrm>
          <a:custGeom>
            <a:avLst/>
            <a:gdLst>
              <a:gd name="connsiteX0" fmla="*/ 95759 w 95759"/>
              <a:gd name="connsiteY0" fmla="*/ 47880 h 95759"/>
              <a:gd name="connsiteX1" fmla="*/ 47880 w 95759"/>
              <a:gd name="connsiteY1" fmla="*/ 95759 h 95759"/>
              <a:gd name="connsiteX2" fmla="*/ 0 w 95759"/>
              <a:gd name="connsiteY2" fmla="*/ 47880 h 95759"/>
              <a:gd name="connsiteX3" fmla="*/ 47880 w 95759"/>
              <a:gd name="connsiteY3" fmla="*/ 0 h 95759"/>
              <a:gd name="connsiteX4" fmla="*/ 95759 w 95759"/>
              <a:gd name="connsiteY4" fmla="*/ 47880 h 9575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5759" h="95759">
                <a:moveTo>
                  <a:pt x="95759" y="47880"/>
                </a:moveTo>
                <a:cubicBezTo>
                  <a:pt x="95759" y="74323"/>
                  <a:pt x="74323" y="95759"/>
                  <a:pt x="47880" y="95759"/>
                </a:cubicBezTo>
                <a:cubicBezTo>
                  <a:pt x="21436" y="95759"/>
                  <a:pt x="0" y="74323"/>
                  <a:pt x="0" y="47880"/>
                </a:cubicBezTo>
                <a:cubicBezTo>
                  <a:pt x="0" y="21436"/>
                  <a:pt x="21436" y="0"/>
                  <a:pt x="47880" y="0"/>
                </a:cubicBezTo>
                <a:cubicBezTo>
                  <a:pt x="74323" y="0"/>
                  <a:pt x="95759" y="21436"/>
                  <a:pt x="95759" y="47880"/>
                </a:cubicBezTo>
                <a:close/>
              </a:path>
            </a:pathLst>
          </a:custGeom>
          <a:solidFill>
            <a:srgbClr val="FFFFFF"/>
          </a:solidFill>
          <a:ln w="469" cap="flat">
            <a:noFill/>
            <a:prstDash val="solid"/>
            <a:miter/>
          </a:ln>
        </p:spPr>
        <p:txBody>
          <a:bodyPr rtlCol="0" anchor="ctr"/>
          <a:lstStyle/>
          <a:p>
            <a:endParaRPr lang="en-US">
              <a:solidFill>
                <a:srgbClr val="FFFFFF"/>
              </a:solidFill>
            </a:endParaRPr>
          </a:p>
        </p:txBody>
      </p:sp>
    </p:spTree>
    <p:extLst>
      <p:ext uri="{BB962C8B-B14F-4D97-AF65-F5344CB8AC3E}">
        <p14:creationId xmlns:p14="http://schemas.microsoft.com/office/powerpoint/2010/main" val="268633240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500"/>
                                  </p:stCondLst>
                                  <p:iterate>
                                    <p:tmPct val="10000"/>
                                  </p:iterate>
                                  <p:childTnLst>
                                    <p:set>
                                      <p:cBhvr>
                                        <p:cTn id="6" dur="1" fill="hold">
                                          <p:stCondLst>
                                            <p:cond delay="0"/>
                                          </p:stCondLst>
                                        </p:cTn>
                                        <p:tgtEl>
                                          <p:spTgt spid="2"/>
                                        </p:tgtEl>
                                        <p:attrNameLst>
                                          <p:attrName>style.visibility</p:attrName>
                                        </p:attrNameLst>
                                      </p:cBhvr>
                                      <p:to>
                                        <p:strVal val="visible"/>
                                      </p:to>
                                    </p:set>
                                    <p:animEffect transition="in" filter="fade">
                                      <p:cBhvr>
                                        <p:cTn id="7" dur="7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1454</TotalTime>
  <Words>1845</Words>
  <Application>Microsoft Office PowerPoint</Application>
  <PresentationFormat>Widescreen</PresentationFormat>
  <Paragraphs>352</Paragraphs>
  <Slides>37</Slides>
  <Notes>2</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37</vt:i4>
      </vt:variant>
    </vt:vector>
  </HeadingPairs>
  <TitlesOfParts>
    <vt:vector size="42" baseType="lpstr">
      <vt:lpstr>Aptos</vt:lpstr>
      <vt:lpstr>Aptos Display</vt:lpstr>
      <vt:lpstr>Arial</vt:lpstr>
      <vt:lpstr>Cascadia Code</vt:lpstr>
      <vt:lpstr>Office Theme</vt:lpstr>
      <vt:lpstr>Agentic Workflows</vt:lpstr>
      <vt:lpstr>Agent  vs  Agentic AI</vt:lpstr>
      <vt:lpstr>Agent vs Agentic AI</vt:lpstr>
      <vt:lpstr>What are Agents?</vt:lpstr>
      <vt:lpstr>Agent Flow</vt:lpstr>
      <vt:lpstr>Agent Flow</vt:lpstr>
      <vt:lpstr>What is Agentic AI?</vt:lpstr>
      <vt:lpstr>Agentic AI FLow</vt:lpstr>
      <vt:lpstr>Key Difference</vt:lpstr>
      <vt:lpstr>Agent vs Agentic AI Summary</vt:lpstr>
      <vt:lpstr>Agent Fundamentals</vt:lpstr>
      <vt:lpstr>What an Agent Is?</vt:lpstr>
      <vt:lpstr>Agent Components</vt:lpstr>
      <vt:lpstr>Agent Components</vt:lpstr>
      <vt:lpstr>Agent Components</vt:lpstr>
      <vt:lpstr>Chain vs Agent Decision Criteria</vt:lpstr>
      <vt:lpstr>Chain vs Agent Decision Criteria</vt:lpstr>
      <vt:lpstr>Chain vs Agent Decision Criteria</vt:lpstr>
      <vt:lpstr>When Agents Add Value vs Overcomplicate Systems</vt:lpstr>
      <vt:lpstr>When Agents Add Value vs Overcomplicate Systems</vt:lpstr>
      <vt:lpstr>When Agents Add Value vs Overcomplicate Systems</vt:lpstr>
      <vt:lpstr>When Agents Overcomplicate Systems</vt:lpstr>
      <vt:lpstr>When Agents Overcomplicate Systems</vt:lpstr>
      <vt:lpstr>Common Agent Failure Patterns</vt:lpstr>
      <vt:lpstr>Demo: Convert RAG Flow into a Simple Agent</vt:lpstr>
      <vt:lpstr>Agent Flow Design</vt:lpstr>
      <vt:lpstr>Step-by-Step Reasoning Flows</vt:lpstr>
      <vt:lpstr>Tool Selection Logic</vt:lpstr>
      <vt:lpstr>Managing Intermediate State</vt:lpstr>
      <vt:lpstr>Handling Partial Failures</vt:lpstr>
      <vt:lpstr>Demo: Build a multi-step agent workflow</vt:lpstr>
      <vt:lpstr>Tool Calling in Agents</vt:lpstr>
      <vt:lpstr>API Calls as Tools</vt:lpstr>
      <vt:lpstr>Internal Service Calls</vt:lpstr>
      <vt:lpstr>Data Retrieval as Tools</vt:lpstr>
      <vt:lpstr>Retry and Fallback Logic for Tools</vt:lpstr>
      <vt:lpstr>Demo: Tool Failure &amp; Fallback Handling</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Ajay Singala</dc:creator>
  <cp:lastModifiedBy>Ajay Singala</cp:lastModifiedBy>
  <cp:revision>42</cp:revision>
  <dcterms:created xsi:type="dcterms:W3CDTF">2026-03-04T12:28:10Z</dcterms:created>
  <dcterms:modified xsi:type="dcterms:W3CDTF">2026-06-11T06:04:31Z</dcterms:modified>
</cp:coreProperties>
</file>